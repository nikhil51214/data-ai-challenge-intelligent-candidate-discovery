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the challenge. Emphasize: we built a full production-grade system in Python — no API calls, CPU-only, 22 seconds for 100K candidates. All code in GitHub, validator passes, reasoning is grounded in profile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about the trap: naive BM25 or embedding-only systems get fooled by keyword stuffers. The real challenge is semantic understanding of career trajectory + behavioral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we understand the landscape. Each limitation maps directly to a design decision in our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stage. Emphasize the two-pass design: cheap pre-filter first, then expensive features only on likely candidates. This is how production systems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feature maps to a specific JD signal. Honeypot detection uses 3 heuristics: expert skills with 0 months usage, timeline impossibility, and inverted salary ranges.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is deliberately FAISS-ready. The TF-IDF system meets all compute constraints and produces strong results. When sentence-transformers is available, it's a one-line swap.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behavioral multiplier is key: final_score = weighted_sum × (0.5 + 0.5 × behavioral_score). This means a ghost candidate can never rank in the top 10, even with perfect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the reasoning varies by rank — rank 1 gets glowing, rank 47 gets honest concerns. This is exactly what Stage 4 manual review checks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top-10 candidates are genuine ML engineers with embeddings/retrieval/ranking experience. None are honeypots. All have shipped production ML systems. The behavioral multiplier ensures ghost candidates don't appear in top positions.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emphasizing: we built something that works NOW and is designed to improve. The architecture choices (FAISS-ready, swappable embedder, modular scoring) mean each of these upgrades is a small diff, not a rewrite.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0F6FC"/>
                </a:solidFill>
                <a:latin typeface="Calibri"/>
              </a:rPr>
              <a:t>Redrob Intelligent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238636"/>
                </a:solidFill>
                <a:latin typeface="Calibri"/>
              </a:rPr>
              <a:t>Candidate Ranking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Calibri"/>
              </a:rPr>
              <a:t>AI-powered · Explainable · Production-grade · CPU-only · 22 seconds for 100K candidates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14800"/>
            <a:ext cx="2468880" cy="1280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519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38636"/>
                </a:solidFill>
                <a:latin typeface="Calibri"/>
              </a:rPr>
              <a:t>22 sec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754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  <a:latin typeface="Calibri"/>
              </a:rPr>
              <a:t>Runtime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4114800"/>
            <a:ext cx="2468880" cy="1280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42519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38636"/>
                </a:solidFill>
                <a:latin typeface="Calibri"/>
              </a:rPr>
              <a:t>100K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754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  <a:latin typeface="Calibri"/>
              </a:rPr>
              <a:t>Candidates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114800"/>
            <a:ext cx="2468880" cy="1280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2519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38636"/>
                </a:solidFill>
                <a:latin typeface="Calibri"/>
              </a:rPr>
              <a:t>CPU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754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  <a:latin typeface="Calibri"/>
              </a:rPr>
              <a:t>Compute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4114800"/>
            <a:ext cx="2468880" cy="1280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42519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38636"/>
                </a:solidFill>
                <a:latin typeface="Calibri"/>
              </a:rPr>
              <a:t>✅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4754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  <a:latin typeface="Calibri"/>
              </a:rPr>
              <a:t>Validator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  <a:latin typeface="Calibri"/>
              </a:rPr>
              <a:t>Hackathon Submission — Redrob AI Challenge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0F6FC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B949E"/>
                </a:solidFill>
                <a:latin typeface="Calibri"/>
              </a:rPr>
              <a:t>Finding the right AI engineer in a 100K candidate pool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60000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0F6FC"/>
                </a:solidFill>
                <a:latin typeface="Calibri"/>
              </a:rPr>
              <a:t>▸  100,000 candidates — most completely irrelevant (accountants, civil engineers, etc.)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6FC"/>
                </a:solidFill>
                <a:latin typeface="Calibri"/>
              </a:rPr>
              <a:t>▸  Keyword matching fails: someone can list 'RAG, Pinecone, FAISS' as skills but be a marketing manager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6FC"/>
                </a:solidFill>
                <a:latin typeface="Calibri"/>
              </a:rPr>
              <a:t>▸  JD says '5-9 years' but means 'shipped a production ranking system at a product company'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6FC"/>
                </a:solidFill>
                <a:latin typeface="Calibri"/>
              </a:rPr>
              <a:t>▸  Ghost candidates: perfect profile, but haven't logged in for 6 months &amp; 5% response rate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6FC"/>
                </a:solidFill>
                <a:latin typeface="Calibri"/>
              </a:rPr>
              <a:t>▸  ~80 honeypots with subtly impossible profiles designed to trap naive keyword matchers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6FC"/>
                </a:solidFill>
                <a:latin typeface="Calibri"/>
              </a:rPr>
              <a:t>▸  The gap between what the JD says and what the JD MEANS is where ranking systems fail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554480"/>
            <a:ext cx="384048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737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38636"/>
                </a:solidFill>
                <a:latin typeface="Calibri"/>
              </a:rPr>
              <a:t>Key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28600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A Tier-5 candidate may not use the words 'RAG' or 'Pinecone' in their profile, but if their career history shows they built a recommendation system at a product company, they're a fit.
A candidate who has all the AI keywords but whose title is 'Marketing Manager' is not a fit, no matter how perfect their skill list looks.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0F6FC"/>
                </a:solidFill>
                <a:latin typeface="Calibri"/>
              </a:rPr>
              <a:t>Why Existing Approaches Fall Short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1247120" cy="60000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48640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3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8BFD"/>
                </a:solidFill>
                <a:latin typeface="Calibri"/>
              </a:rPr>
              <a:t>🔍  Pure Keyword / BM25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Fails on keyword stuffers. 'Expert in FAISS' with 0 months usage scores the same as a practitioner.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48640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9163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8BFD"/>
                </a:solidFill>
                <a:latin typeface="Calibri"/>
              </a:rPr>
              <a:t>🧠  Embedding-Only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Dense similarity finds 'relevant text' but ignores career trajectory, company type, and availability.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86200"/>
            <a:ext cx="548640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8BFD"/>
                </a:solidFill>
                <a:latin typeface="Calibri"/>
              </a:rPr>
              <a:t>📊  Static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2628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Hard thresholds (must have 5+ yrs Python) miss strong candidates and include gaming attempts.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886200"/>
            <a:ext cx="548640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0233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8BFD"/>
                </a:solidFill>
                <a:latin typeface="Calibri"/>
              </a:rPr>
              <a:t>👻  Ignoring Behavioral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52628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A 0.95-scoring candidate who is inactive + 5% response rate is, for hiring purposes, NOT available.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0F6FC"/>
                </a:solidFill>
                <a:latin typeface="Calibri"/>
              </a:rPr>
              <a:t>Our Solution: Multi-Signal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B949E"/>
                </a:solidFill>
                <a:latin typeface="Calibri"/>
              </a:rPr>
              <a:t>7-component weighted scorer + behavioral multiplier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600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1783080" cy="4114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1783080" cy="164592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874519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38636"/>
                </a:solidFill>
                <a:latin typeface="Calibri"/>
              </a:rPr>
              <a:t>Stage 0
Pre-filter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260604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6FC"/>
                </a:solidFill>
                <a:latin typeface="Calibri"/>
              </a:rPr>
              <a:t>Keyword scan
on raw JSONL
→ 8K candidates
in 12 sec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39" y="33832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949E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79" y="1645920"/>
            <a:ext cx="1783080" cy="4114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1645920"/>
            <a:ext cx="1783080" cy="16459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3432" y="1874519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8BFD"/>
                </a:solidFill>
                <a:latin typeface="Calibri"/>
              </a:rPr>
              <a:t>Stage 1
Feature
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260604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6FC"/>
                </a:solidFill>
                <a:latin typeface="Calibri"/>
              </a:rPr>
              <a:t>30+ features:
skills, career,
behavior, edu,
honeypot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3832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949E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645920"/>
            <a:ext cx="1783080" cy="4114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645920"/>
            <a:ext cx="1783080" cy="164592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2" y="1874519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371F7"/>
                </a:solidFill>
                <a:latin typeface="Calibri"/>
              </a:rPr>
              <a:t>Stage 2
TF-IDF
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260604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6FC"/>
                </a:solidFill>
                <a:latin typeface="Calibri"/>
              </a:rPr>
              <a:t>Bigram TF-IDF
cosine sim vs JD
→ Top-500
[FAISS-ready]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59" y="33832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949E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199" y="1645920"/>
            <a:ext cx="1783080" cy="4114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199" y="1645920"/>
            <a:ext cx="1783080" cy="164592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1" y="1874519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3B341"/>
                </a:solidFill>
                <a:latin typeface="Calibri"/>
              </a:rPr>
              <a:t>Stage 3
Multi-Signal
Scoring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1" y="260604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6FC"/>
                </a:solidFill>
                <a:latin typeface="Calibri"/>
              </a:rPr>
              <a:t>7 weighted
components
→ composite
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9" y="33832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949E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645920"/>
            <a:ext cx="1783080" cy="4114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645920"/>
            <a:ext cx="1783080" cy="164592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1874519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78166"/>
                </a:solidFill>
                <a:latin typeface="Calibri"/>
              </a:rPr>
              <a:t>Stage 4
Rule-Based
Re-Ranking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260604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6FC"/>
                </a:solidFill>
                <a:latin typeface="Calibri"/>
              </a:rPr>
              <a:t>JD-specific
boosts &amp; penalties
→ Top-100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33832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949E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1645920"/>
            <a:ext cx="1783080" cy="4114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04120" y="1645920"/>
            <a:ext cx="1783080" cy="164592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77272" y="1874519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38636"/>
                </a:solidFill>
                <a:latin typeface="Calibri"/>
              </a:rPr>
              <a:t>Stage 5
Explain-
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77272" y="260604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6FC"/>
                </a:solidFill>
                <a:latin typeface="Calibri"/>
              </a:rPr>
              <a:t>Fact-grounded
1-2 sentence
reasoning per
candidate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38636"/>
                </a:solidFill>
                <a:latin typeface="Calibri"/>
              </a:rPr>
              <a:t>⚡  Total: 22 seconds on CPU · No network · No GPU · 100K candidates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0F6FC"/>
                </a:solidFill>
                <a:latin typeface="Calibri"/>
              </a:rPr>
              <a:t>Candidate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B949E"/>
                </a:solidFill>
                <a:latin typeface="Calibri"/>
              </a:rPr>
              <a:t>30+ features extracted per candidate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600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0F6FC"/>
                </a:solidFill>
                <a:latin typeface="Calibri"/>
              </a:rPr>
              <a:t>▸  ✦  Skill proficiency × endorsements × duration_months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0F6FC"/>
                </a:solidFill>
                <a:latin typeface="Calibri"/>
              </a:rPr>
              <a:t>▸  ✦  Target skill hit count (vs 40+ JD keywords)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0F6FC"/>
                </a:solidFill>
                <a:latin typeface="Calibri"/>
              </a:rPr>
              <a:t>▸  ✦  Career ML fraction (% of career in ML/AI roles)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0F6FC"/>
                </a:solidFill>
                <a:latin typeface="Calibri"/>
              </a:rPr>
              <a:t>▸  ✦  Shipped ranking / retrieval / recommendation system?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0F6FC"/>
                </a:solidFill>
                <a:latin typeface="Calibri"/>
              </a:rPr>
              <a:t>▸  ✦  Product-company vs consulting fraction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0F6FC"/>
                </a:solidFill>
                <a:latin typeface="Calibri"/>
              </a:rPr>
              <a:t>▸  ✦  Title progression score (junior → senior trajectory)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0F6FC"/>
                </a:solidFill>
                <a:latin typeface="Calibri"/>
              </a:rPr>
              <a:t>▸  ✦  Job-hopping detection (jobs in last 3 years)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0F6FC"/>
                </a:solidFill>
                <a:latin typeface="Calibri"/>
              </a:rPr>
              <a:t>▸  ✦  Last active days (ghost candidate detection)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0F6FC"/>
                </a:solidFill>
                <a:latin typeface="Calibri"/>
              </a:rPr>
              <a:t>▸  ✦  Recruiter response rate &amp; avg response time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0F6FC"/>
                </a:solidFill>
                <a:latin typeface="Calibri"/>
              </a:rPr>
              <a:t>▸  ✦  Interview completion rate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0F6FC"/>
                </a:solidFill>
                <a:latin typeface="Calibri"/>
              </a:rPr>
              <a:t>▸  ✦  GitHub activity score (0-100)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0F6FC"/>
                </a:solidFill>
                <a:latin typeface="Calibri"/>
              </a:rPr>
              <a:t>▸  ✦  Notice period fit (sub-30d preferred)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0F6FC"/>
                </a:solidFill>
                <a:latin typeface="Calibri"/>
              </a:rPr>
              <a:t>▸  ✦  Education tier (IIT/IISc=1 → tier4)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0F6FC"/>
                </a:solidFill>
                <a:latin typeface="Calibri"/>
              </a:rPr>
              <a:t>▸  ✦  Honeypot detection (3 heuristics)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0F6FC"/>
                </a:solidFill>
                <a:latin typeface="Calibri"/>
              </a:rPr>
              <a:t>Semantic Search &amp;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B949E"/>
                </a:solidFill>
                <a:latin typeface="Calibri"/>
              </a:rPr>
              <a:t>TF-IDF now · FAISS + Sentence-Transformers drop-in 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600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30352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38636"/>
                </a:solidFill>
                <a:latin typeface="Calibri"/>
              </a:rPr>
              <a:t>Current: TF-IDF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0F6FC"/>
                </a:solidFill>
                <a:latin typeface="Calibri"/>
              </a:rPr>
              <a:t>▸  Bigram TF-IDF (vocab ~20K) with sublinear TF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0F6FC"/>
                </a:solidFill>
                <a:latin typeface="Calibri"/>
              </a:rPr>
              <a:t>▸  JD text blob: 300+ word signal-rich query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0F6FC"/>
                </a:solidFill>
                <a:latin typeface="Calibri"/>
              </a:rPr>
              <a:t>▸  Cosine similarity on sparse matrix — O(N·V)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0F6FC"/>
                </a:solidFill>
                <a:latin typeface="Calibri"/>
              </a:rPr>
              <a:t>▸  Top-500 retrieved in milliseconds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0F6FC"/>
                </a:solidFill>
                <a:latin typeface="Calibri"/>
              </a:rPr>
              <a:t>▸  8,000-doc corpus fits in &lt;500 MB 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39496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8BFD"/>
                </a:solidFill>
                <a:latin typeface="Calibri"/>
              </a:rPr>
              <a:t>Upgrade: FAISS + Sentence Transformers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0F6FC"/>
                </a:solidFill>
                <a:latin typeface="Calibri"/>
              </a:rPr>
              <a:t>▸  BAAI/bge-small-en-v1.5  →  dense 384-dim vectors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0F6FC"/>
                </a:solidFill>
                <a:latin typeface="Calibri"/>
              </a:rPr>
              <a:t>▸  FAISS IVFFlat index  →  sub-linear ANN search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0F6FC"/>
                </a:solidFill>
                <a:latin typeface="Calibri"/>
              </a:rPr>
              <a:t>▸  Cross-encoder re-ranker (ms-marco-MiniLM-L-6-v2)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0F6FC"/>
                </a:solidFill>
                <a:latin typeface="Calibri"/>
              </a:rPr>
              <a:t>▸  One-line swap in src/retrieval.py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0F6FC"/>
                </a:solidFill>
                <a:latin typeface="Calibri"/>
              </a:rPr>
              <a:t>▸  Same API surface — zero pipeline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8B949E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42519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Calibri"/>
              </a:rPr>
              <a:t>drop-in
upgrade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0F6FC"/>
                </a:solidFill>
                <a:latin typeface="Calibri"/>
              </a:rPr>
              <a:t>Multi-Signal Scoring &amp; Re-Ranking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B949E"/>
                </a:solidFill>
                <a:latin typeface="Calibri"/>
              </a:rPr>
              <a:t>7 components · behavioral multiplier · JD-specific filters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600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64207"/>
            <a:ext cx="2468879" cy="384048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99232" y="16276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38636"/>
                </a:solidFill>
                <a:latin typeface="Calibri"/>
              </a:rPr>
              <a:t>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27632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  <a:latin typeface="Calibri"/>
              </a:rPr>
              <a:t>Skill Match  —  TF-IDF sim + skill coverage + proficiency weight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1645919" cy="38404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76272" y="229514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8BFD"/>
                </a:solidFill>
                <a:latin typeface="Calibri"/>
              </a:rPr>
              <a:t>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95144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  <a:latin typeface="Calibri"/>
              </a:rPr>
              <a:t>Experience  —  YOE (5-9 sweet spot) + product fraction + production 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99232"/>
            <a:ext cx="1645919" cy="384048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76272" y="296265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371F7"/>
                </a:solidFill>
                <a:latin typeface="Calibri"/>
              </a:rP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962656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  <a:latin typeface="Calibri"/>
              </a:rPr>
              <a:t>Domain  —  Shipped ranking/retrieval? ML title? ML career %?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66744"/>
            <a:ext cx="822959" cy="384048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36301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3B341"/>
                </a:solidFill>
                <a:latin typeface="Calibri"/>
              </a:rPr>
              <a:t>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30168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  <a:latin typeface="Calibri"/>
              </a:rPr>
              <a:t>Career Growth  —  Title progression + tenure + anti-job-hopping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34256"/>
            <a:ext cx="822959" cy="384048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53312" y="42976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8166"/>
                </a:solidFill>
                <a:latin typeface="Calibri"/>
              </a:rPr>
              <a:t>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9768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  <a:latin typeface="Calibri"/>
              </a:rPr>
              <a:t>Behavioral  —  Activity · response rate · interview rate · GitHub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01768"/>
            <a:ext cx="411479" cy="384048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49651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6FC"/>
                </a:solidFill>
                <a:latin typeface="Calibri"/>
              </a:rPr>
              <a:t>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965192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  <a:latin typeface="Calibri"/>
              </a:rPr>
              <a:t>Location  —  Target cities or willing to relocate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669280"/>
            <a:ext cx="411479" cy="384048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563270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  <a:latin typeface="Calibri"/>
              </a:rPr>
              <a:t>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632704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  <a:latin typeface="Calibri"/>
              </a:rPr>
              <a:t>Education  —  Tier 1-4 institution + CS/STEM field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1554480"/>
            <a:ext cx="283464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371F7"/>
                </a:solidFill>
                <a:latin typeface="Calibri"/>
              </a:rPr>
              <a:t>Re-Ranker Filters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194560"/>
            <a:ext cx="2560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0F6FC"/>
                </a:solidFill>
                <a:latin typeface="Calibri"/>
              </a:rPr>
              <a:t>▸  Shipped ranking → ×1.08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0F6FC"/>
                </a:solidFill>
                <a:latin typeface="Calibri"/>
              </a:rPr>
              <a:t>▸  Product co. fraction → ×1.05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0F6FC"/>
                </a:solidFill>
                <a:latin typeface="Calibri"/>
              </a:rPr>
              <a:t>▸  Hard req. ML skill → ×1.10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0F6FC"/>
                </a:solidFill>
                <a:latin typeface="Calibri"/>
              </a:rPr>
              <a:t>▸  Consulting-only → ×0.40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0F6FC"/>
                </a:solidFill>
                <a:latin typeface="Calibri"/>
              </a:rPr>
              <a:t>▸  Inactive 6+ months → ×0.50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0F6FC"/>
                </a:solidFill>
                <a:latin typeface="Calibri"/>
              </a:rPr>
              <a:t>▸  Bad title → ×0.25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0F6FC"/>
                </a:solidFill>
                <a:latin typeface="Calibri"/>
              </a:rPr>
              <a:t>▸  Honeypot → excluded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0F6FC"/>
                </a:solidFill>
                <a:latin typeface="Calibri"/>
              </a:rPr>
              <a:t>Explainability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B949E"/>
                </a:solidFill>
                <a:latin typeface="Calibri"/>
              </a:rPr>
              <a:t>Fact-grounded, honest, varied — meets Stage 4 manual review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600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0F6FC"/>
                </a:solidFill>
                <a:latin typeface="Calibri"/>
              </a:rPr>
              <a:t>▸  References specific facts: title, YOE, company, named skills, signal values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6FC"/>
                </a:solidFill>
                <a:latin typeface="Calibri"/>
              </a:rPr>
              <a:t>▸  Connects to JD requirements (not generic praise)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6FC"/>
                </a:solidFill>
                <a:latin typeface="Calibri"/>
              </a:rPr>
              <a:t>▸  Honest concerns acknowledged: notice period, inactivity, consulting background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6FC"/>
                </a:solidFill>
                <a:latin typeface="Calibri"/>
              </a:rPr>
              <a:t>▸  No hallucination: only claims present in the candidate's actual profile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6FC"/>
                </a:solidFill>
                <a:latin typeface="Calibri"/>
              </a:rPr>
              <a:t>▸  Substantive variation: different phrasing per candidate, rank-appropriate 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29000"/>
            <a:ext cx="11247120" cy="93268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4930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8636"/>
                </a:solidFill>
                <a:latin typeface="Calibri"/>
              </a:rPr>
              <a:t>#1 score=1.00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493008"/>
            <a:ext cx="9509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C"/>
                </a:solidFill>
                <a:latin typeface="Calibri"/>
              </a:rPr>
              <a:t>Strong fit — Senior NLP Engineer with 7.8 years at Niramai; relevant skills: embeddings, faiss, feature engineering; shipped ranking/retrieval to production. Tier-1 institution adds confidence in technical depth.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453128"/>
            <a:ext cx="11247120" cy="93268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51713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8BFD"/>
                </a:solidFill>
                <a:latin typeface="Calibri"/>
              </a:rPr>
              <a:t>#5 score=0.99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517136"/>
            <a:ext cx="9509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C"/>
                </a:solidFill>
                <a:latin typeface="Calibri"/>
              </a:rPr>
              <a:t>Top pick — Applied ML Engineer with 6 years at Freshworks; relevant skills: faiss, kubeflow, mlops, opensearch; shipped recommendation system to production. Caveat: notice period 90d may delay start.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477256"/>
            <a:ext cx="11247120" cy="93268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5412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B341"/>
                </a:solidFill>
                <a:latin typeface="Calibri"/>
              </a:rPr>
              <a:t>#47 score=0.68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541264"/>
            <a:ext cx="9509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C"/>
                </a:solidFill>
                <a:latin typeface="Calibri"/>
              </a:rPr>
              <a:t>Moderate fit — ML Engineer with 5.1 years; relevant skills: pytorch, nlp. Concern: consulting-heavy background (72% of career in IT services); notice period 120d may delay start.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0F6FC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B949E"/>
                </a:solidFill>
                <a:latin typeface="Calibri"/>
              </a:rPr>
              <a:t>Top-10 candidates are all genuine ML engineers with production AI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600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65176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6420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38636"/>
                </a:solidFill>
                <a:latin typeface="Calibri"/>
              </a:rPr>
              <a:t>22 sec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1284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  <a:latin typeface="Calibri"/>
              </a:rPr>
              <a:t>Runtime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554480"/>
            <a:ext cx="265176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66420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88BFD"/>
                </a:solidFill>
                <a:latin typeface="Calibri"/>
              </a:rPr>
              <a:t>100K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21284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  <a:latin typeface="Calibri"/>
              </a:rPr>
              <a:t>Candidates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265176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6420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78166"/>
                </a:solidFill>
                <a:latin typeface="Calibri"/>
              </a:rPr>
              <a:t>473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1284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  <a:latin typeface="Calibri"/>
              </a:rPr>
              <a:t>Honeypots
Detected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554480"/>
            <a:ext cx="265176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66420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38636"/>
                </a:solidFill>
                <a:latin typeface="Calibri"/>
              </a:rPr>
              <a:t>✅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21284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  <a:latin typeface="Calibri"/>
              </a:rPr>
              <a:t>Submission
Validator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46120"/>
            <a:ext cx="11247120" cy="36576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26440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  <a:latin typeface="Calibri"/>
              </a:rPr>
              <a:t>#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644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  <a:latin typeface="Calibri"/>
              </a:rPr>
              <a:t>Candidate 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2644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  <a:latin typeface="Calibri"/>
              </a:rPr>
              <a:t>Title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2644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  <a:latin typeface="Calibri"/>
              </a:rPr>
              <a:t>Company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26440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  <a:latin typeface="Calibri"/>
              </a:rPr>
              <a:t>YOE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3264408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  <a:latin typeface="Calibri"/>
              </a:rPr>
              <a:t>Education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326440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  <a:latin typeface="Calibri"/>
              </a:rPr>
              <a:t>Score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639312"/>
            <a:ext cx="11247120" cy="49377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712463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712463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8BFD"/>
                </a:solidFill>
                <a:latin typeface="Calibri"/>
              </a:rPr>
              <a:t>CAND_0011687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3712463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Senior NLP Engineer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712463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Niramai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712463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7.8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59" y="3712463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IIT Tier-1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3712463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38636"/>
                </a:solidFill>
                <a:latin typeface="Calibri"/>
              </a:rPr>
              <a:t>1.0000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22452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2245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8BFD"/>
                </a:solidFill>
                <a:latin typeface="Calibri"/>
              </a:rPr>
              <a:t>CAND_0061655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22452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ML Engineer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42245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Krutrim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42245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4.6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59" y="4224528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Tier-2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422452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38636"/>
                </a:solidFill>
                <a:latin typeface="Calibri"/>
              </a:rPr>
              <a:t>1.0000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663440"/>
            <a:ext cx="11247120" cy="49377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73659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47365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8BFD"/>
                </a:solidFill>
                <a:latin typeface="Calibri"/>
              </a:rPr>
              <a:t>CAND_0077337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31720" y="47365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Staff ML Engineer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47365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Paytm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9320" y="473659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7.0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59" y="4736592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IIT Tier-1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473659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38636"/>
                </a:solidFill>
                <a:latin typeface="Calibri"/>
              </a:rPr>
              <a:t>1.0000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248656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52486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8BFD"/>
                </a:solidFill>
                <a:latin typeface="Calibri"/>
              </a:rPr>
              <a:t>CAND_0081846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31720" y="524865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Lead AI Engineer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80" y="52486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Razorpay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89320" y="524865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6.7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37959" y="5248656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IIT Tier-1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18120" y="524865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38636"/>
                </a:solidFill>
                <a:latin typeface="Calibri"/>
              </a:rPr>
              <a:t>1.0000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687568"/>
            <a:ext cx="11247120" cy="49377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576072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" y="57607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8BFD"/>
                </a:solidFill>
                <a:latin typeface="Calibri"/>
              </a:rPr>
              <a:t>CAND_0050876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31720" y="57607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Applied ML Engineer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26280" y="57607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Freshworks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89320" y="57607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6.0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37959" y="5760720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Tier-2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18120" y="57607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38636"/>
                </a:solidFill>
                <a:latin typeface="Calibri"/>
              </a:rPr>
              <a:t>0.9992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0F6FC"/>
                </a:solidFill>
                <a:latin typeface="Calibri"/>
              </a:rPr>
              <a:t>Future Work &amp; Production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1247120" cy="60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3657600" cy="2240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6420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8BFD"/>
                </a:solidFill>
                <a:latin typeface="Calibri"/>
              </a:rPr>
              <a:t>🧠  Dense Embeddings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Replace TF-IDF with BAAI/bge-small-en-v1.5 sentence transformers for true semantic matching. One-line swap in src/retrieval.py — architecture already supports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54480"/>
            <a:ext cx="3657600" cy="2240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66420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371F7"/>
                </a:solidFill>
                <a:latin typeface="Calibri"/>
              </a:rPr>
              <a:t>⚡  Cross-Encoder Re-ranker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14884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Use cross-encoder/ms-marco-MiniLM-L-6-v2 on top-200 candidates. Produces (JD, candidate) pair scores — 10× better than bi-encoder for re-ranking.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554480"/>
            <a:ext cx="3657600" cy="2240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66420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3B341"/>
                </a:solidFill>
                <a:latin typeface="Calibri"/>
              </a:rPr>
              <a:t>📈  Online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14884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Collect recruiter click / response signals to fine-tune scoring weights via LambdaRank or ListNet. Close the offline-online gap.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977639"/>
            <a:ext cx="3657600" cy="2240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0873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8166"/>
                </a:solidFill>
                <a:latin typeface="Calibri"/>
              </a:rPr>
              <a:t>🤖  Local LLM Re-ranking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7200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Use Mistral-7B or Llama-3-8B (quantized, CPU) on top-50 candidates for rich contextual reasoning — still within compute budget.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977639"/>
            <a:ext cx="3657600" cy="2240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40873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38636"/>
                </a:solidFill>
                <a:latin typeface="Calibri"/>
              </a:rPr>
              <a:t>🔬  A/B Evaluation Harness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57200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Build recruiter-engagement A/B test framework. Track NDCG@10 vs actual interview-booked rate to validate offline metrics.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977639"/>
            <a:ext cx="3657600" cy="2240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40873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6FC"/>
                </a:solidFill>
                <a:latin typeface="Calibri"/>
              </a:rPr>
              <a:t>🕸  Graph Signals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57200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6FC"/>
                </a:solidFill>
                <a:latin typeface="Calibri"/>
              </a:rPr>
              <a:t>Build candidate similarity graph to detect behavioral twins and cold-start candidates from social/professional network signals.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  <a:latin typeface="Calibri"/>
              </a:rPr>
              <a:t>The system is production-ready today. These improvements further close the gap between offline ranking quality and real-world recruiter outcomes.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