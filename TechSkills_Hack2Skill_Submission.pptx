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r>
              <a:t>Open with confidence: 'We built a production-grade AI candidate ranking system that processes 100,000 candidates in 22 seconds on CPU alone — no GPU, no external API calls.' Mention the team name TechSkills and that every number on screen comes from actual system runs. Set the stage: the problem is not finding candidates, it's finding the RIGHT candidates in a noisy pool full of keyword stuffers and ghost profiles.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(Problem)</a:t>
            </a:r>
          </a:p>
          <a:p>
            <a:r>
              <a:t>Key insight to drive home: 'The hard part isn't finding candidates who mention FAISS — it's distinguishing practitioners who built production retrieval systems from people who took a weekend tutorial and added every keyword to their LinkedIn.' Mention the three traps from the hackathon dataset: keyword stuffers, ghost candidates, and honeypots with impossible timelines. Our system handles all three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(Solution)</a:t>
            </a:r>
          </a:p>
          <a:p>
            <a:r>
              <a:t>Lead with the key differentiator: 'We don't just match keywords — we understand career trajectory. A candidate at a consulting firm for their entire career, even with the right skills listed, scores differently from someone who shipped a production ranking system at Freshworks or Razorpay.' Emphasize that the behavioral multiplier means a ghost candidate cannot appear in the top-10 regardless of skill scores.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(Signals)</a:t>
            </a:r>
          </a:p>
          <a:p>
            <a:r>
              <a:t>Emphasize signal quality over quantity. Key insight: 'Skill endorsements without duration are worthless — our system multiplies proficiency × endorsements × months_used. Someone with FAISS expert + 45 endorsements + 36 months ranks far above someone who listed it with 0 months.' For behavioral: 'A candidate inactive for 180+ days gets a 0.50 multiplier on their final score — they're simply not reachable.'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(Retrieval &amp; Scoring)</a:t>
            </a:r>
          </a:p>
          <a:p>
            <a:r>
              <a:t>Walk through the formula: 'The behavioral multiplier is the key innovation. It means final score = weighted_skills_experience × (0.5 + 0.5 × how available you are). A ghost candidate with a perfect skill score of 1.0 gets at most 0.65 final score '— and falls below active candidates.' Highlight the re-ranker: shipping a real system gives ×1.08 boost, consulting-only career gets ×0.40 penalty.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(Explainability)</a:t>
            </a:r>
          </a:p>
          <a:p>
            <a:r>
              <a:t>Stage 4 of the hackathon evaluation is manual review of reasoning. Stress: 'We built explainability as a core requirement, not an afterthought. Each reasoning string references specific facts from the profile — you can cross-check every claim against the source candidate_id in the JSON.' Also highlight the variation: rank-1 gets glowing reasoning, rank-47 honestly says consulting-heavy and 120d notice. Judges check for this rank-consistency.')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(Workflow)</a:t>
            </a:r>
          </a:p>
          <a:p>
            <a:r>
              <a:t>Walk through each step briskly — 15 seconds each. Key emphasis points: Step 3: 'This pre-filter is how Netflix, Spotify, and Amazon do first-stage retrieval — cheap and fast before any expensive ML.' Step 7: 'The re-ranker embeds the judgement calls from the JD — consulting-only career is explicitly warned against in the job posting, so we penalise it by 60%.' Step 8: 'The validator is the official Redrob tool from the hackathon bundle — green.'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(Architecture)</a:t>
            </a:r>
          </a:p>
          <a:p>
            <a:r>
              <a:t>Stress the clean separation of concerns: 'Each src/ module has a single responsibility and clear API — data_loader feeds prefilter, prefilter feeds candidate_parser, which feeds both retrieval and scoring. Swapping FAISS in means changing two lines in retrieval.py — nothing else touches.' Also: 'The output layer writes both a submission-spec-compliant CSV and a detailed JSON for Stage 4 manual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(Results)</a:t>
            </a:r>
          </a:p>
          <a:p>
            <a:r>
              <a:t>Lead with the headline: '100% of our top-100 candidates shipped a ranking or retrieval system to production — that's not a coincidence, that's the re-ranker doing its job.' On behavioral scores being lower: 'Notice period and activity signals drag behavioral down — that's correct behaviour. We don't want to hide it.' On the self-evaluation metrics: 'These are proxy metrics using our own score as a relevance grade. The true NDCG will be computed by judges on hidden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(Evaluation)</a:t>
            </a:r>
          </a:p>
          <a:p>
            <a:r>
              <a:t>Be transparent: 'Our self-evaluation uses our own scores as a proxy — those show 1.0 because we're binning our own output. The real NDCG will be computed on the hidden ground truth. What we can show is that our top-100 selection is coherent: all candidates are ML engineers with production experience, scores are monotone, the validator passes, and the reasoning is fact-grounded.' Mention: NDCG@10 gets 50% weight — which means getting the top-10 exactly right matters most. Our top-10 are all genuine search/retrieval/ML engineers at product companies.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11 (Tech Stack)</a:t>
            </a:r>
          </a:p>
          <a:p>
            <a:r>
              <a:t>Key message: 'We deliberately chose technologies that meet the compute constraints — no PyTorch model inference during ranking, no API calls, CPU-only. Scikit-Learn's TF-IDF is fast enough to index 8,000 documents in 5.2 seconds on 4 GB RAM.' On FAISS/Sentence-Transformers: 'These are implemented and ready — they're listed because the code exists. A one-line change in retrieval.py activates dense embeddings.' On python-pptx: 'Even this deck was built programmatically from actual project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12 (Deliverables)</a:t>
            </a:r>
          </a:p>
          <a:p>
            <a:r>
              <a:t>Rapid-fire through deliverables — judges want to see completeness. Then achievements: 'We're 13× faster than the budget. All honeypots excluded. Every top-100 candidate has shipped a production system.' Close future scope: 'The architecture is designed for these upgrades — they're not wishes, the code is already there. FAISS is implemented, sentence-transformers is implemented. It's one config flag to activate either.'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13 (Close)</a:t>
            </a:r>
          </a:p>
          <a:p>
            <a:r>
              <a:t>Confident close: 'We set out to build a system that understands the gap between what a JD says and what it means. We think we achieved that — 100% of our top-100 candidates shipped production ML systems. No honeypots. No ghost candidates. Every decision explained. Ready to review any candidate in our output right now.' Invite questions. Offer to walk through the code live if judges want to see Stage 3 reproduction.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389120" cy="6858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347472"/>
            <a:ext cx="3840480" cy="65836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457200"/>
            <a:ext cx="3657600" cy="384048"/>
          </a:xfrm>
          <a:prstGeom prst="rect">
            <a:avLst/>
          </a:prstGeom>
          <a:noFill/>
        </p:spPr>
        <p:txBody>
          <a:bodyPr wrap="square">
            <a:spAutoFit/>
          </a:bodyPr>
          <a:lstStyle/>
          <a:p>
            <a:pPr algn="ctr"/>
            <a:r>
              <a:rPr sz="1000" b="1" i="0">
                <a:solidFill>
                  <a:srgbClr val="02C39A"/>
                </a:solidFill>
                <a:latin typeface="Calibri"/>
              </a:rPr>
              <a:t>HACK2SKILL  ·  AI CHALLENGE 2025</a:t>
            </a:r>
          </a:p>
        </p:txBody>
      </p:sp>
      <p:sp>
        <p:nvSpPr>
          <p:cNvPr id="5" name="TextBox 4"/>
          <p:cNvSpPr txBox="1"/>
          <p:nvPr/>
        </p:nvSpPr>
        <p:spPr>
          <a:xfrm>
            <a:off x="320040" y="1234440"/>
            <a:ext cx="3749039" cy="685800"/>
          </a:xfrm>
          <a:prstGeom prst="rect">
            <a:avLst/>
          </a:prstGeom>
          <a:noFill/>
        </p:spPr>
        <p:txBody>
          <a:bodyPr wrap="square">
            <a:spAutoFit/>
          </a:bodyPr>
          <a:lstStyle/>
          <a:p>
            <a:pPr algn="ctr"/>
            <a:r>
              <a:rPr sz="4000" b="1" i="0">
                <a:solidFill>
                  <a:srgbClr val="F0C040"/>
                </a:solidFill>
                <a:latin typeface="Cambria"/>
              </a:rPr>
              <a:t>TechSkills</a:t>
            </a:r>
          </a:p>
        </p:txBody>
      </p:sp>
      <p:sp>
        <p:nvSpPr>
          <p:cNvPr id="6" name="TextBox 5"/>
          <p:cNvSpPr txBox="1"/>
          <p:nvPr/>
        </p:nvSpPr>
        <p:spPr>
          <a:xfrm>
            <a:off x="320040" y="1901952"/>
            <a:ext cx="3749039" cy="640080"/>
          </a:xfrm>
          <a:prstGeom prst="rect">
            <a:avLst/>
          </a:prstGeom>
          <a:noFill/>
        </p:spPr>
        <p:txBody>
          <a:bodyPr wrap="square">
            <a:spAutoFit/>
          </a:bodyPr>
          <a:lstStyle/>
          <a:p>
            <a:pPr algn="ctr"/>
            <a:r>
              <a:rPr sz="1300" b="0" i="0">
                <a:solidFill>
                  <a:srgbClr val="CADCFC"/>
                </a:solidFill>
                <a:latin typeface="Calibri"/>
              </a:rPr>
              <a:t>Nikhil Pratap Singh
Team Leader</a:t>
            </a:r>
          </a:p>
        </p:txBody>
      </p:sp>
      <p:sp>
        <p:nvSpPr>
          <p:cNvPr id="7" name="Rectangle 6"/>
          <p:cNvSpPr/>
          <p:nvPr/>
        </p:nvSpPr>
        <p:spPr>
          <a:xfrm>
            <a:off x="320040" y="2606040"/>
            <a:ext cx="3749039" cy="228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2724912"/>
            <a:ext cx="3749039" cy="320040"/>
          </a:xfrm>
          <a:prstGeom prst="rect">
            <a:avLst/>
          </a:prstGeom>
          <a:noFill/>
        </p:spPr>
        <p:txBody>
          <a:bodyPr wrap="square">
            <a:spAutoFit/>
          </a:bodyPr>
          <a:lstStyle/>
          <a:p>
            <a:pPr algn="ctr"/>
            <a:r>
              <a:rPr sz="1000" b="0" i="0">
                <a:solidFill>
                  <a:srgbClr val="8BA8C4"/>
                </a:solidFill>
                <a:latin typeface="Calibri"/>
              </a:rPr>
              <a:t>Submitted to</a:t>
            </a:r>
          </a:p>
        </p:txBody>
      </p:sp>
      <p:sp>
        <p:nvSpPr>
          <p:cNvPr id="9" name="TextBox 8"/>
          <p:cNvSpPr txBox="1"/>
          <p:nvPr/>
        </p:nvSpPr>
        <p:spPr>
          <a:xfrm>
            <a:off x="320040" y="3017520"/>
            <a:ext cx="3749039" cy="475488"/>
          </a:xfrm>
          <a:prstGeom prst="rect">
            <a:avLst/>
          </a:prstGeom>
          <a:noFill/>
        </p:spPr>
        <p:txBody>
          <a:bodyPr wrap="square">
            <a:spAutoFit/>
          </a:bodyPr>
          <a:lstStyle/>
          <a:p>
            <a:pPr algn="ctr"/>
            <a:r>
              <a:rPr sz="1400" b="1" i="0">
                <a:solidFill>
                  <a:srgbClr val="FFFFFF"/>
                </a:solidFill>
                <a:latin typeface="Calibri"/>
              </a:rPr>
              <a:t>Redrob AI Hackathon</a:t>
            </a:r>
          </a:p>
        </p:txBody>
      </p:sp>
      <p:sp>
        <p:nvSpPr>
          <p:cNvPr id="10" name="Rounded Rectangle 9"/>
          <p:cNvSpPr/>
          <p:nvPr/>
        </p:nvSpPr>
        <p:spPr>
          <a:xfrm>
            <a:off x="320040" y="3931920"/>
            <a:ext cx="178308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4023359"/>
            <a:ext cx="1645920" cy="566928"/>
          </a:xfrm>
          <a:prstGeom prst="rect">
            <a:avLst/>
          </a:prstGeom>
          <a:noFill/>
        </p:spPr>
        <p:txBody>
          <a:bodyPr wrap="square">
            <a:spAutoFit/>
          </a:bodyPr>
          <a:lstStyle/>
          <a:p>
            <a:pPr algn="ctr"/>
            <a:r>
              <a:rPr sz="2600" b="1" i="0">
                <a:solidFill>
                  <a:srgbClr val="F0C040"/>
                </a:solidFill>
                <a:latin typeface="Calibri"/>
              </a:rPr>
              <a:t>22 sec</a:t>
            </a:r>
          </a:p>
        </p:txBody>
      </p:sp>
      <p:sp>
        <p:nvSpPr>
          <p:cNvPr id="12" name="TextBox 11"/>
          <p:cNvSpPr txBox="1"/>
          <p:nvPr/>
        </p:nvSpPr>
        <p:spPr>
          <a:xfrm>
            <a:off x="393192" y="4590288"/>
            <a:ext cx="1645920" cy="438912"/>
          </a:xfrm>
          <a:prstGeom prst="rect">
            <a:avLst/>
          </a:prstGeom>
          <a:noFill/>
        </p:spPr>
        <p:txBody>
          <a:bodyPr wrap="square">
            <a:spAutoFit/>
          </a:bodyPr>
          <a:lstStyle/>
          <a:p>
            <a:pPr algn="ctr"/>
            <a:r>
              <a:rPr sz="950" b="0" i="0">
                <a:solidFill>
                  <a:srgbClr val="8BA8C4"/>
                </a:solidFill>
                <a:latin typeface="Calibri"/>
              </a:rPr>
              <a:t>Total Runtime</a:t>
            </a:r>
          </a:p>
        </p:txBody>
      </p:sp>
      <p:sp>
        <p:nvSpPr>
          <p:cNvPr id="13" name="Rounded Rectangle 12"/>
          <p:cNvSpPr/>
          <p:nvPr/>
        </p:nvSpPr>
        <p:spPr>
          <a:xfrm>
            <a:off x="2194560" y="3931920"/>
            <a:ext cx="178308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7712" y="4023359"/>
            <a:ext cx="1645920" cy="566928"/>
          </a:xfrm>
          <a:prstGeom prst="rect">
            <a:avLst/>
          </a:prstGeom>
          <a:noFill/>
        </p:spPr>
        <p:txBody>
          <a:bodyPr wrap="square">
            <a:spAutoFit/>
          </a:bodyPr>
          <a:lstStyle/>
          <a:p>
            <a:pPr algn="ctr"/>
            <a:r>
              <a:rPr sz="2600" b="1" i="0">
                <a:solidFill>
                  <a:srgbClr val="02C39A"/>
                </a:solidFill>
                <a:latin typeface="Calibri"/>
              </a:rPr>
              <a:t>100K</a:t>
            </a:r>
          </a:p>
        </p:txBody>
      </p:sp>
      <p:sp>
        <p:nvSpPr>
          <p:cNvPr id="15" name="TextBox 14"/>
          <p:cNvSpPr txBox="1"/>
          <p:nvPr/>
        </p:nvSpPr>
        <p:spPr>
          <a:xfrm>
            <a:off x="2267712" y="4590288"/>
            <a:ext cx="1645920" cy="438912"/>
          </a:xfrm>
          <a:prstGeom prst="rect">
            <a:avLst/>
          </a:prstGeom>
          <a:noFill/>
        </p:spPr>
        <p:txBody>
          <a:bodyPr wrap="square">
            <a:spAutoFit/>
          </a:bodyPr>
          <a:lstStyle/>
          <a:p>
            <a:pPr algn="ctr"/>
            <a:r>
              <a:rPr sz="950" b="0" i="0">
                <a:solidFill>
                  <a:srgbClr val="8BA8C4"/>
                </a:solidFill>
                <a:latin typeface="Calibri"/>
              </a:rPr>
              <a:t>Candidates</a:t>
            </a:r>
          </a:p>
        </p:txBody>
      </p:sp>
      <p:sp>
        <p:nvSpPr>
          <p:cNvPr id="16" name="Rounded Rectangle 15"/>
          <p:cNvSpPr/>
          <p:nvPr/>
        </p:nvSpPr>
        <p:spPr>
          <a:xfrm>
            <a:off x="320040" y="5230368"/>
            <a:ext cx="178308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5321807"/>
            <a:ext cx="1645920" cy="566928"/>
          </a:xfrm>
          <a:prstGeom prst="rect">
            <a:avLst/>
          </a:prstGeom>
          <a:noFill/>
        </p:spPr>
        <p:txBody>
          <a:bodyPr wrap="square">
            <a:spAutoFit/>
          </a:bodyPr>
          <a:lstStyle/>
          <a:p>
            <a:pPr algn="ctr"/>
            <a:r>
              <a:rPr sz="2600" b="1" i="0">
                <a:solidFill>
                  <a:srgbClr val="CADCFC"/>
                </a:solidFill>
                <a:latin typeface="Calibri"/>
              </a:rPr>
              <a:t>100</a:t>
            </a:r>
          </a:p>
        </p:txBody>
      </p:sp>
      <p:sp>
        <p:nvSpPr>
          <p:cNvPr id="18" name="TextBox 17"/>
          <p:cNvSpPr txBox="1"/>
          <p:nvPr/>
        </p:nvSpPr>
        <p:spPr>
          <a:xfrm>
            <a:off x="393192" y="5888736"/>
            <a:ext cx="1645920" cy="438912"/>
          </a:xfrm>
          <a:prstGeom prst="rect">
            <a:avLst/>
          </a:prstGeom>
          <a:noFill/>
        </p:spPr>
        <p:txBody>
          <a:bodyPr wrap="square">
            <a:spAutoFit/>
          </a:bodyPr>
          <a:lstStyle/>
          <a:p>
            <a:pPr algn="ctr"/>
            <a:r>
              <a:rPr sz="950" b="0" i="0">
                <a:solidFill>
                  <a:srgbClr val="8BA8C4"/>
                </a:solidFill>
                <a:latin typeface="Calibri"/>
              </a:rPr>
              <a:t>Top Ranked</a:t>
            </a:r>
          </a:p>
        </p:txBody>
      </p:sp>
      <p:sp>
        <p:nvSpPr>
          <p:cNvPr id="19" name="Rounded Rectangle 18"/>
          <p:cNvSpPr/>
          <p:nvPr/>
        </p:nvSpPr>
        <p:spPr>
          <a:xfrm>
            <a:off x="2194560" y="5230368"/>
            <a:ext cx="178308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67712" y="5321807"/>
            <a:ext cx="1645920" cy="566928"/>
          </a:xfrm>
          <a:prstGeom prst="rect">
            <a:avLst/>
          </a:prstGeom>
          <a:noFill/>
        </p:spPr>
        <p:txBody>
          <a:bodyPr wrap="square">
            <a:spAutoFit/>
          </a:bodyPr>
          <a:lstStyle/>
          <a:p>
            <a:pPr algn="ctr"/>
            <a:r>
              <a:rPr sz="2600" b="1" i="0">
                <a:solidFill>
                  <a:srgbClr val="F96167"/>
                </a:solidFill>
                <a:latin typeface="Calibri"/>
              </a:rPr>
              <a:t>0</a:t>
            </a:r>
          </a:p>
        </p:txBody>
      </p:sp>
      <p:sp>
        <p:nvSpPr>
          <p:cNvPr id="21" name="TextBox 20"/>
          <p:cNvSpPr txBox="1"/>
          <p:nvPr/>
        </p:nvSpPr>
        <p:spPr>
          <a:xfrm>
            <a:off x="2267712" y="5888736"/>
            <a:ext cx="1645920" cy="438912"/>
          </a:xfrm>
          <a:prstGeom prst="rect">
            <a:avLst/>
          </a:prstGeom>
          <a:noFill/>
        </p:spPr>
        <p:txBody>
          <a:bodyPr wrap="square">
            <a:spAutoFit/>
          </a:bodyPr>
          <a:lstStyle/>
          <a:p>
            <a:pPr algn="ctr"/>
            <a:r>
              <a:rPr sz="950" b="0" i="0">
                <a:solidFill>
                  <a:srgbClr val="8BA8C4"/>
                </a:solidFill>
                <a:latin typeface="Calibri"/>
              </a:rPr>
              <a:t>Honeypots
in Top-100</a:t>
            </a:r>
          </a:p>
        </p:txBody>
      </p:sp>
      <p:sp>
        <p:nvSpPr>
          <p:cNvPr id="22" name="TextBox 21"/>
          <p:cNvSpPr txBox="1"/>
          <p:nvPr/>
        </p:nvSpPr>
        <p:spPr>
          <a:xfrm>
            <a:off x="4754880" y="822960"/>
            <a:ext cx="7132320" cy="868680"/>
          </a:xfrm>
          <a:prstGeom prst="rect">
            <a:avLst/>
          </a:prstGeom>
          <a:noFill/>
        </p:spPr>
        <p:txBody>
          <a:bodyPr wrap="square">
            <a:spAutoFit/>
          </a:bodyPr>
          <a:lstStyle/>
          <a:p>
            <a:pPr algn="l"/>
            <a:r>
              <a:rPr sz="4400" b="1" i="0">
                <a:solidFill>
                  <a:srgbClr val="FFFFFF"/>
                </a:solidFill>
                <a:latin typeface="Cambria"/>
              </a:rPr>
              <a:t>Redrob Intelligent</a:t>
            </a:r>
          </a:p>
        </p:txBody>
      </p:sp>
      <p:sp>
        <p:nvSpPr>
          <p:cNvPr id="23" name="TextBox 22"/>
          <p:cNvSpPr txBox="1"/>
          <p:nvPr/>
        </p:nvSpPr>
        <p:spPr>
          <a:xfrm>
            <a:off x="4754880" y="1627632"/>
            <a:ext cx="7132320" cy="749808"/>
          </a:xfrm>
          <a:prstGeom prst="rect">
            <a:avLst/>
          </a:prstGeom>
          <a:noFill/>
        </p:spPr>
        <p:txBody>
          <a:bodyPr wrap="square">
            <a:spAutoFit/>
          </a:bodyPr>
          <a:lstStyle/>
          <a:p>
            <a:pPr algn="l"/>
            <a:r>
              <a:rPr sz="3600" b="1" i="0">
                <a:solidFill>
                  <a:srgbClr val="CADCFC"/>
                </a:solidFill>
                <a:latin typeface="Cambria"/>
              </a:rPr>
              <a:t>Candidate Ranking System</a:t>
            </a:r>
          </a:p>
        </p:txBody>
      </p:sp>
      <p:sp>
        <p:nvSpPr>
          <p:cNvPr id="24" name="Rectangle 23"/>
          <p:cNvSpPr/>
          <p:nvPr/>
        </p:nvSpPr>
        <p:spPr>
          <a:xfrm>
            <a:off x="4754880" y="2487168"/>
            <a:ext cx="7132320" cy="22860"/>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2633472"/>
            <a:ext cx="7132320" cy="1188720"/>
          </a:xfrm>
          <a:prstGeom prst="rect">
            <a:avLst/>
          </a:prstGeom>
          <a:noFill/>
        </p:spPr>
        <p:txBody>
          <a:bodyPr wrap="square">
            <a:spAutoFit/>
          </a:bodyPr>
          <a:lstStyle/>
          <a:p>
            <a:pPr algn="l"/>
            <a:r>
              <a:rPr sz="1450" b="0" i="0">
                <a:solidFill>
                  <a:srgbClr val="F0F4F8"/>
                </a:solidFill>
                <a:latin typeface="Calibri"/>
              </a:rPr>
              <a:t>An AI-powered, multi-signal candidate ranking engine that understands the gap between what a Job Description says and what it actually means — ranking 100,000 candidates in 22 seconds, with no GPU, no API calls, and full explainability for every decision.</a:t>
            </a:r>
          </a:p>
        </p:txBody>
      </p:sp>
      <p:sp>
        <p:nvSpPr>
          <p:cNvPr id="26" name="Rounded Rectangle 25"/>
          <p:cNvSpPr/>
          <p:nvPr/>
        </p:nvSpPr>
        <p:spPr>
          <a:xfrm>
            <a:off x="4754880" y="4096512"/>
            <a:ext cx="1627632" cy="82296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4608" y="4160520"/>
            <a:ext cx="411480" cy="365760"/>
          </a:xfrm>
          <a:prstGeom prst="rect">
            <a:avLst/>
          </a:prstGeom>
          <a:noFill/>
        </p:spPr>
        <p:txBody>
          <a:bodyPr wrap="square">
            <a:spAutoFit/>
          </a:bodyPr>
          <a:lstStyle/>
          <a:p>
            <a:pPr algn="ctr"/>
            <a:r>
              <a:rPr sz="1800" b="0" i="0">
                <a:solidFill>
                  <a:srgbClr val="FFFFFF"/>
                </a:solidFill>
                <a:latin typeface="Calibri"/>
              </a:rPr>
              <a:t>🧠</a:t>
            </a:r>
          </a:p>
        </p:txBody>
      </p:sp>
      <p:sp>
        <p:nvSpPr>
          <p:cNvPr id="28" name="TextBox 27"/>
          <p:cNvSpPr txBox="1"/>
          <p:nvPr/>
        </p:nvSpPr>
        <p:spPr>
          <a:xfrm>
            <a:off x="5303520" y="4206240"/>
            <a:ext cx="1005840" cy="658368"/>
          </a:xfrm>
          <a:prstGeom prst="rect">
            <a:avLst/>
          </a:prstGeom>
          <a:noFill/>
        </p:spPr>
        <p:txBody>
          <a:bodyPr wrap="square">
            <a:spAutoFit/>
          </a:bodyPr>
          <a:lstStyle/>
          <a:p>
            <a:pPr algn="l"/>
            <a:r>
              <a:rPr sz="1000" b="0" i="0">
                <a:solidFill>
                  <a:srgbClr val="F0F4F8"/>
                </a:solidFill>
                <a:latin typeface="Calibri"/>
              </a:rPr>
              <a:t>Semantic Understanding</a:t>
            </a:r>
          </a:p>
        </p:txBody>
      </p:sp>
      <p:sp>
        <p:nvSpPr>
          <p:cNvPr id="29" name="Rounded Rectangle 28"/>
          <p:cNvSpPr/>
          <p:nvPr/>
        </p:nvSpPr>
        <p:spPr>
          <a:xfrm>
            <a:off x="6510528" y="4096512"/>
            <a:ext cx="1627632" cy="82296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0256" y="4160520"/>
            <a:ext cx="411480" cy="365760"/>
          </a:xfrm>
          <a:prstGeom prst="rect">
            <a:avLst/>
          </a:prstGeom>
          <a:noFill/>
        </p:spPr>
        <p:txBody>
          <a:bodyPr wrap="square">
            <a:spAutoFit/>
          </a:bodyPr>
          <a:lstStyle/>
          <a:p>
            <a:pPr algn="ctr"/>
            <a:r>
              <a:rPr sz="1800" b="0" i="0">
                <a:solidFill>
                  <a:srgbClr val="FFFFFF"/>
                </a:solidFill>
                <a:latin typeface="Calibri"/>
              </a:rPr>
              <a:t>⚡</a:t>
            </a:r>
          </a:p>
        </p:txBody>
      </p:sp>
      <p:sp>
        <p:nvSpPr>
          <p:cNvPr id="31" name="TextBox 30"/>
          <p:cNvSpPr txBox="1"/>
          <p:nvPr/>
        </p:nvSpPr>
        <p:spPr>
          <a:xfrm>
            <a:off x="7059168" y="4206240"/>
            <a:ext cx="1005840" cy="658368"/>
          </a:xfrm>
          <a:prstGeom prst="rect">
            <a:avLst/>
          </a:prstGeom>
          <a:noFill/>
        </p:spPr>
        <p:txBody>
          <a:bodyPr wrap="square">
            <a:spAutoFit/>
          </a:bodyPr>
          <a:lstStyle/>
          <a:p>
            <a:pPr algn="l"/>
            <a:r>
              <a:rPr sz="1000" b="0" i="0">
                <a:solidFill>
                  <a:srgbClr val="F0F4F8"/>
                </a:solidFill>
                <a:latin typeface="Calibri"/>
              </a:rPr>
              <a:t>22-Second Runtime</a:t>
            </a:r>
          </a:p>
        </p:txBody>
      </p:sp>
      <p:sp>
        <p:nvSpPr>
          <p:cNvPr id="32" name="Rounded Rectangle 31"/>
          <p:cNvSpPr/>
          <p:nvPr/>
        </p:nvSpPr>
        <p:spPr>
          <a:xfrm>
            <a:off x="8266175" y="4096512"/>
            <a:ext cx="1627632" cy="82296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5903" y="4160520"/>
            <a:ext cx="411480" cy="365760"/>
          </a:xfrm>
          <a:prstGeom prst="rect">
            <a:avLst/>
          </a:prstGeom>
          <a:noFill/>
        </p:spPr>
        <p:txBody>
          <a:bodyPr wrap="square">
            <a:spAutoFit/>
          </a:bodyPr>
          <a:lstStyle/>
          <a:p>
            <a:pPr algn="ctr"/>
            <a:r>
              <a:rPr sz="1800" b="0" i="0">
                <a:solidFill>
                  <a:srgbClr val="FFFFFF"/>
                </a:solidFill>
                <a:latin typeface="Calibri"/>
              </a:rPr>
              <a:t>🔍</a:t>
            </a:r>
          </a:p>
        </p:txBody>
      </p:sp>
      <p:sp>
        <p:nvSpPr>
          <p:cNvPr id="34" name="TextBox 33"/>
          <p:cNvSpPr txBox="1"/>
          <p:nvPr/>
        </p:nvSpPr>
        <p:spPr>
          <a:xfrm>
            <a:off x="8814815" y="4206240"/>
            <a:ext cx="1005840" cy="658368"/>
          </a:xfrm>
          <a:prstGeom prst="rect">
            <a:avLst/>
          </a:prstGeom>
          <a:noFill/>
        </p:spPr>
        <p:txBody>
          <a:bodyPr wrap="square">
            <a:spAutoFit/>
          </a:bodyPr>
          <a:lstStyle/>
          <a:p>
            <a:pPr algn="l"/>
            <a:r>
              <a:rPr sz="1000" b="0" i="0">
                <a:solidFill>
                  <a:srgbClr val="F0F4F8"/>
                </a:solidFill>
                <a:latin typeface="Calibri"/>
              </a:rPr>
              <a:t>Explainable AI</a:t>
            </a:r>
          </a:p>
        </p:txBody>
      </p:sp>
      <p:sp>
        <p:nvSpPr>
          <p:cNvPr id="35" name="Rounded Rectangle 34"/>
          <p:cNvSpPr/>
          <p:nvPr/>
        </p:nvSpPr>
        <p:spPr>
          <a:xfrm>
            <a:off x="10021824" y="4096512"/>
            <a:ext cx="1627632" cy="82296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31552" y="4160520"/>
            <a:ext cx="411480" cy="365760"/>
          </a:xfrm>
          <a:prstGeom prst="rect">
            <a:avLst/>
          </a:prstGeom>
          <a:noFill/>
        </p:spPr>
        <p:txBody>
          <a:bodyPr wrap="square">
            <a:spAutoFit/>
          </a:bodyPr>
          <a:lstStyle/>
          <a:p>
            <a:pPr algn="ctr"/>
            <a:r>
              <a:rPr sz="1800" b="0" i="0">
                <a:solidFill>
                  <a:srgbClr val="FFFFFF"/>
                </a:solidFill>
                <a:latin typeface="Calibri"/>
              </a:rPr>
              <a:t>🛡</a:t>
            </a:r>
          </a:p>
        </p:txBody>
      </p:sp>
      <p:sp>
        <p:nvSpPr>
          <p:cNvPr id="37" name="TextBox 36"/>
          <p:cNvSpPr txBox="1"/>
          <p:nvPr/>
        </p:nvSpPr>
        <p:spPr>
          <a:xfrm>
            <a:off x="10570464" y="4206240"/>
            <a:ext cx="1005840" cy="658368"/>
          </a:xfrm>
          <a:prstGeom prst="rect">
            <a:avLst/>
          </a:prstGeom>
          <a:noFill/>
        </p:spPr>
        <p:txBody>
          <a:bodyPr wrap="square">
            <a:spAutoFit/>
          </a:bodyPr>
          <a:lstStyle/>
          <a:p>
            <a:pPr algn="l"/>
            <a:r>
              <a:rPr sz="1000" b="0" i="0">
                <a:solidFill>
                  <a:srgbClr val="F0F4F8"/>
                </a:solidFill>
                <a:latin typeface="Calibri"/>
              </a:rPr>
              <a:t>Honeypot Defense</a:t>
            </a:r>
          </a:p>
        </p:txBody>
      </p:sp>
      <p:sp>
        <p:nvSpPr>
          <p:cNvPr id="38" name="TextBox 37"/>
          <p:cNvSpPr txBox="1"/>
          <p:nvPr/>
        </p:nvSpPr>
        <p:spPr>
          <a:xfrm>
            <a:off x="4754880" y="5138928"/>
            <a:ext cx="7132320" cy="384048"/>
          </a:xfrm>
          <a:prstGeom prst="rect">
            <a:avLst/>
          </a:prstGeom>
          <a:noFill/>
        </p:spPr>
        <p:txBody>
          <a:bodyPr wrap="square">
            <a:spAutoFit/>
          </a:bodyPr>
          <a:lstStyle/>
          <a:p>
            <a:pPr algn="l"/>
            <a:r>
              <a:rPr sz="1100" b="0" i="1">
                <a:solidFill>
                  <a:srgbClr val="8BA8C4"/>
                </a:solidFill>
                <a:latin typeface="Calibri"/>
              </a:rPr>
              <a:t>Python · Scikit-Learn · TF-IDF · FAISS-Ready · 2,300+ lines of production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Problem Statement</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Why traditional candidate matching systems fail at scale</a:t>
            </a:r>
          </a:p>
        </p:txBody>
      </p:sp>
      <p:sp>
        <p:nvSpPr>
          <p:cNvPr id="4" name="Rounded Rectangle 3"/>
          <p:cNvSpPr/>
          <p:nvPr/>
        </p:nvSpPr>
        <p:spPr>
          <a:xfrm>
            <a:off x="411480" y="1389888"/>
            <a:ext cx="6949440" cy="516636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36192"/>
            <a:ext cx="6583680" cy="475488"/>
          </a:xfrm>
          <a:prstGeom prst="rect">
            <a:avLst/>
          </a:prstGeom>
          <a:noFill/>
        </p:spPr>
        <p:txBody>
          <a:bodyPr wrap="square">
            <a:spAutoFit/>
          </a:bodyPr>
          <a:lstStyle/>
          <a:p>
            <a:pPr algn="l"/>
            <a:r>
              <a:rPr sz="1700" b="1" i="0">
                <a:solidFill>
                  <a:srgbClr val="F0C040"/>
                </a:solidFill>
                <a:latin typeface="Calibri"/>
              </a:rPr>
              <a:t>The Core Challenge</a:t>
            </a:r>
          </a:p>
        </p:txBody>
      </p:sp>
      <p:sp>
        <p:nvSpPr>
          <p:cNvPr id="6" name="TextBox 5"/>
          <p:cNvSpPr txBox="1"/>
          <p:nvPr/>
        </p:nvSpPr>
        <p:spPr>
          <a:xfrm>
            <a:off x="594360" y="1993392"/>
            <a:ext cx="6583680" cy="804672"/>
          </a:xfrm>
          <a:prstGeom prst="rect">
            <a:avLst/>
          </a:prstGeom>
          <a:noFill/>
        </p:spPr>
        <p:txBody>
          <a:bodyPr wrap="square">
            <a:spAutoFit/>
          </a:bodyPr>
          <a:lstStyle/>
          <a:p>
            <a:pPr algn="l"/>
            <a:r>
              <a:rPr sz="1350" b="0" i="0">
                <a:solidFill>
                  <a:srgbClr val="F0F4F8"/>
                </a:solidFill>
                <a:latin typeface="Calibri"/>
              </a:rPr>
              <a:t>Given a pool of 100,000 candidates and a Senior AI Engineer job description, identify the true top-100 fits — not those who merely contain the right keywords.</a:t>
            </a:r>
          </a:p>
        </p:txBody>
      </p:sp>
      <p:sp>
        <p:nvSpPr>
          <p:cNvPr id="7" name="Oval 6"/>
          <p:cNvSpPr/>
          <p:nvPr/>
        </p:nvSpPr>
        <p:spPr>
          <a:xfrm>
            <a:off x="521208" y="2898648"/>
            <a:ext cx="365760" cy="36576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907792"/>
            <a:ext cx="347472" cy="365760"/>
          </a:xfrm>
          <a:prstGeom prst="rect">
            <a:avLst/>
          </a:prstGeom>
          <a:noFill/>
        </p:spPr>
        <p:txBody>
          <a:bodyPr wrap="square">
            <a:spAutoFit/>
          </a:bodyPr>
          <a:lstStyle/>
          <a:p>
            <a:pPr algn="l"/>
            <a:r>
              <a:rPr sz="1600" b="0" i="0">
                <a:solidFill>
                  <a:srgbClr val="FFFFFF"/>
                </a:solidFill>
                <a:latin typeface="Calibri"/>
              </a:rPr>
              <a:t>🔤</a:t>
            </a:r>
          </a:p>
        </p:txBody>
      </p:sp>
      <p:sp>
        <p:nvSpPr>
          <p:cNvPr id="9" name="TextBox 8"/>
          <p:cNvSpPr txBox="1"/>
          <p:nvPr/>
        </p:nvSpPr>
        <p:spPr>
          <a:xfrm>
            <a:off x="914400" y="2907792"/>
            <a:ext cx="2194560" cy="320040"/>
          </a:xfrm>
          <a:prstGeom prst="rect">
            <a:avLst/>
          </a:prstGeom>
          <a:noFill/>
        </p:spPr>
        <p:txBody>
          <a:bodyPr wrap="square">
            <a:spAutoFit/>
          </a:bodyPr>
          <a:lstStyle/>
          <a:p>
            <a:pPr algn="l"/>
            <a:r>
              <a:rPr sz="1250" b="1" i="0">
                <a:solidFill>
                  <a:srgbClr val="CADCFC"/>
                </a:solidFill>
                <a:latin typeface="Calibri"/>
              </a:rPr>
              <a:t>Keyword Stuffing</a:t>
            </a:r>
          </a:p>
        </p:txBody>
      </p:sp>
      <p:sp>
        <p:nvSpPr>
          <p:cNvPr id="10" name="TextBox 9"/>
          <p:cNvSpPr txBox="1"/>
          <p:nvPr/>
        </p:nvSpPr>
        <p:spPr>
          <a:xfrm>
            <a:off x="914400" y="3218688"/>
            <a:ext cx="6263640" cy="475488"/>
          </a:xfrm>
          <a:prstGeom prst="rect">
            <a:avLst/>
          </a:prstGeom>
          <a:noFill/>
        </p:spPr>
        <p:txBody>
          <a:bodyPr wrap="square">
            <a:spAutoFit/>
          </a:bodyPr>
          <a:lstStyle/>
          <a:p>
            <a:pPr algn="l"/>
            <a:r>
              <a:rPr sz="1100" b="0" i="0">
                <a:solidFill>
                  <a:srgbClr val="F0F4F8"/>
                </a:solidFill>
                <a:latin typeface="Calibri"/>
              </a:rPr>
              <a:t>Candidates list 'FAISS, RAG, Pinecone' as skills with 0 months of actual usage. BM25 and naive embedding systems reward them equally with genuine experts.</a:t>
            </a:r>
          </a:p>
        </p:txBody>
      </p:sp>
      <p:sp>
        <p:nvSpPr>
          <p:cNvPr id="11" name="Oval 10"/>
          <p:cNvSpPr/>
          <p:nvPr/>
        </p:nvSpPr>
        <p:spPr>
          <a:xfrm>
            <a:off x="521208" y="3831336"/>
            <a:ext cx="365760" cy="36576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840480"/>
            <a:ext cx="347472" cy="365760"/>
          </a:xfrm>
          <a:prstGeom prst="rect">
            <a:avLst/>
          </a:prstGeom>
          <a:noFill/>
        </p:spPr>
        <p:txBody>
          <a:bodyPr wrap="square">
            <a:spAutoFit/>
          </a:bodyPr>
          <a:lstStyle/>
          <a:p>
            <a:pPr algn="l"/>
            <a:r>
              <a:rPr sz="1600" b="0" i="0">
                <a:solidFill>
                  <a:srgbClr val="FFFFFF"/>
                </a:solidFill>
                <a:latin typeface="Calibri"/>
              </a:rPr>
              <a:t>👻</a:t>
            </a:r>
          </a:p>
        </p:txBody>
      </p:sp>
      <p:sp>
        <p:nvSpPr>
          <p:cNvPr id="13" name="TextBox 12"/>
          <p:cNvSpPr txBox="1"/>
          <p:nvPr/>
        </p:nvSpPr>
        <p:spPr>
          <a:xfrm>
            <a:off x="914400" y="3840480"/>
            <a:ext cx="2194560" cy="320040"/>
          </a:xfrm>
          <a:prstGeom prst="rect">
            <a:avLst/>
          </a:prstGeom>
          <a:noFill/>
        </p:spPr>
        <p:txBody>
          <a:bodyPr wrap="square">
            <a:spAutoFit/>
          </a:bodyPr>
          <a:lstStyle/>
          <a:p>
            <a:pPr algn="l"/>
            <a:r>
              <a:rPr sz="1250" b="1" i="0">
                <a:solidFill>
                  <a:srgbClr val="CADCFC"/>
                </a:solidFill>
                <a:latin typeface="Calibri"/>
              </a:rPr>
              <a:t>Ghost Candidates</a:t>
            </a:r>
          </a:p>
        </p:txBody>
      </p:sp>
      <p:sp>
        <p:nvSpPr>
          <p:cNvPr id="14" name="TextBox 13"/>
          <p:cNvSpPr txBox="1"/>
          <p:nvPr/>
        </p:nvSpPr>
        <p:spPr>
          <a:xfrm>
            <a:off x="914400" y="4151376"/>
            <a:ext cx="6263640" cy="475488"/>
          </a:xfrm>
          <a:prstGeom prst="rect">
            <a:avLst/>
          </a:prstGeom>
          <a:noFill/>
        </p:spPr>
        <p:txBody>
          <a:bodyPr wrap="square">
            <a:spAutoFit/>
          </a:bodyPr>
          <a:lstStyle/>
          <a:p>
            <a:pPr algn="l"/>
            <a:r>
              <a:rPr sz="1100" b="0" i="0">
                <a:solidFill>
                  <a:srgbClr val="F0F4F8"/>
                </a:solidFill>
                <a:latin typeface="Calibri"/>
              </a:rPr>
              <a:t>Perfect-on-paper profiles inactive for 6+ months with 5% recruiter response rates are, for hiring purposes, not actually available.</a:t>
            </a:r>
          </a:p>
        </p:txBody>
      </p:sp>
      <p:sp>
        <p:nvSpPr>
          <p:cNvPr id="15" name="Oval 14"/>
          <p:cNvSpPr/>
          <p:nvPr/>
        </p:nvSpPr>
        <p:spPr>
          <a:xfrm>
            <a:off x="521208" y="4764024"/>
            <a:ext cx="365760" cy="36576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773168"/>
            <a:ext cx="347472" cy="365760"/>
          </a:xfrm>
          <a:prstGeom prst="rect">
            <a:avLst/>
          </a:prstGeom>
          <a:noFill/>
        </p:spPr>
        <p:txBody>
          <a:bodyPr wrap="square">
            <a:spAutoFit/>
          </a:bodyPr>
          <a:lstStyle/>
          <a:p>
            <a:pPr algn="l"/>
            <a:r>
              <a:rPr sz="1600" b="0" i="0">
                <a:solidFill>
                  <a:srgbClr val="FFFFFF"/>
                </a:solidFill>
                <a:latin typeface="Calibri"/>
              </a:rPr>
              <a:t>🍯</a:t>
            </a:r>
          </a:p>
        </p:txBody>
      </p:sp>
      <p:sp>
        <p:nvSpPr>
          <p:cNvPr id="17" name="TextBox 16"/>
          <p:cNvSpPr txBox="1"/>
          <p:nvPr/>
        </p:nvSpPr>
        <p:spPr>
          <a:xfrm>
            <a:off x="914400" y="4773168"/>
            <a:ext cx="2194560" cy="320040"/>
          </a:xfrm>
          <a:prstGeom prst="rect">
            <a:avLst/>
          </a:prstGeom>
          <a:noFill/>
        </p:spPr>
        <p:txBody>
          <a:bodyPr wrap="square">
            <a:spAutoFit/>
          </a:bodyPr>
          <a:lstStyle/>
          <a:p>
            <a:pPr algn="l"/>
            <a:r>
              <a:rPr sz="1250" b="1" i="0">
                <a:solidFill>
                  <a:srgbClr val="CADCFC"/>
                </a:solidFill>
                <a:latin typeface="Calibri"/>
              </a:rPr>
              <a:t>Honeypot Traps</a:t>
            </a:r>
          </a:p>
        </p:txBody>
      </p:sp>
      <p:sp>
        <p:nvSpPr>
          <p:cNvPr id="18" name="TextBox 17"/>
          <p:cNvSpPr txBox="1"/>
          <p:nvPr/>
        </p:nvSpPr>
        <p:spPr>
          <a:xfrm>
            <a:off x="914400" y="5084064"/>
            <a:ext cx="6263640" cy="475488"/>
          </a:xfrm>
          <a:prstGeom prst="rect">
            <a:avLst/>
          </a:prstGeom>
          <a:noFill/>
        </p:spPr>
        <p:txBody>
          <a:bodyPr wrap="square">
            <a:spAutoFit/>
          </a:bodyPr>
          <a:lstStyle/>
          <a:p>
            <a:pPr algn="l"/>
            <a:r>
              <a:rPr sz="1100" b="0" i="0">
                <a:solidFill>
                  <a:srgbClr val="F0F4F8"/>
                </a:solidFill>
                <a:latin typeface="Calibri"/>
              </a:rPr>
              <a:t>~80 candidates in the pool have subtly impossible profiles: 8 years at a company founded 3 years ago, or expert skills with 0 months of usage.</a:t>
            </a:r>
          </a:p>
        </p:txBody>
      </p:sp>
      <p:sp>
        <p:nvSpPr>
          <p:cNvPr id="19" name="Oval 18"/>
          <p:cNvSpPr/>
          <p:nvPr/>
        </p:nvSpPr>
        <p:spPr>
          <a:xfrm>
            <a:off x="521208" y="5696712"/>
            <a:ext cx="365760" cy="36576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705855"/>
            <a:ext cx="347472" cy="365760"/>
          </a:xfrm>
          <a:prstGeom prst="rect">
            <a:avLst/>
          </a:prstGeom>
          <a:noFill/>
        </p:spPr>
        <p:txBody>
          <a:bodyPr wrap="square">
            <a:spAutoFit/>
          </a:bodyPr>
          <a:lstStyle/>
          <a:p>
            <a:pPr algn="l"/>
            <a:r>
              <a:rPr sz="1600" b="0" i="0">
                <a:solidFill>
                  <a:srgbClr val="FFFFFF"/>
                </a:solidFill>
                <a:latin typeface="Calibri"/>
              </a:rPr>
              <a:t>📋</a:t>
            </a:r>
          </a:p>
        </p:txBody>
      </p:sp>
      <p:sp>
        <p:nvSpPr>
          <p:cNvPr id="21" name="TextBox 20"/>
          <p:cNvSpPr txBox="1"/>
          <p:nvPr/>
        </p:nvSpPr>
        <p:spPr>
          <a:xfrm>
            <a:off x="914400" y="5705855"/>
            <a:ext cx="2194560" cy="320040"/>
          </a:xfrm>
          <a:prstGeom prst="rect">
            <a:avLst/>
          </a:prstGeom>
          <a:noFill/>
        </p:spPr>
        <p:txBody>
          <a:bodyPr wrap="square">
            <a:spAutoFit/>
          </a:bodyPr>
          <a:lstStyle/>
          <a:p>
            <a:pPr algn="l"/>
            <a:r>
              <a:rPr sz="1250" b="1" i="0">
                <a:solidFill>
                  <a:srgbClr val="CADCFC"/>
                </a:solidFill>
                <a:latin typeface="Calibri"/>
              </a:rPr>
              <a:t>Context Gap</a:t>
            </a:r>
          </a:p>
        </p:txBody>
      </p:sp>
      <p:sp>
        <p:nvSpPr>
          <p:cNvPr id="22" name="TextBox 21"/>
          <p:cNvSpPr txBox="1"/>
          <p:nvPr/>
        </p:nvSpPr>
        <p:spPr>
          <a:xfrm>
            <a:off x="914400" y="6016752"/>
            <a:ext cx="6263640" cy="475488"/>
          </a:xfrm>
          <a:prstGeom prst="rect">
            <a:avLst/>
          </a:prstGeom>
          <a:noFill/>
        </p:spPr>
        <p:txBody>
          <a:bodyPr wrap="square">
            <a:spAutoFit/>
          </a:bodyPr>
          <a:lstStyle/>
          <a:p>
            <a:pPr algn="l"/>
            <a:r>
              <a:rPr sz="1100" b="0" i="0">
                <a:solidFill>
                  <a:srgbClr val="F0F4F8"/>
                </a:solidFill>
                <a:latin typeface="Calibri"/>
              </a:rPr>
              <a:t>The JD says '5-9 years' but means 'shipped a production ranking system at a product company'. No keyword matcher understands this semantic intent.</a:t>
            </a:r>
          </a:p>
        </p:txBody>
      </p:sp>
      <p:sp>
        <p:nvSpPr>
          <p:cNvPr id="23" name="Rounded Rectangle 22"/>
          <p:cNvSpPr/>
          <p:nvPr/>
        </p:nvSpPr>
        <p:spPr>
          <a:xfrm>
            <a:off x="7635240" y="1389888"/>
            <a:ext cx="420624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1463040"/>
            <a:ext cx="4023360" cy="566928"/>
          </a:xfrm>
          <a:prstGeom prst="rect">
            <a:avLst/>
          </a:prstGeom>
          <a:noFill/>
        </p:spPr>
        <p:txBody>
          <a:bodyPr wrap="square">
            <a:spAutoFit/>
          </a:bodyPr>
          <a:lstStyle/>
          <a:p>
            <a:pPr algn="ctr"/>
            <a:r>
              <a:rPr sz="2800" b="1" i="0">
                <a:solidFill>
                  <a:srgbClr val="F0C040"/>
                </a:solidFill>
                <a:latin typeface="Calibri"/>
              </a:rPr>
              <a:t>100,000</a:t>
            </a:r>
          </a:p>
        </p:txBody>
      </p:sp>
      <p:sp>
        <p:nvSpPr>
          <p:cNvPr id="25" name="TextBox 24"/>
          <p:cNvSpPr txBox="1"/>
          <p:nvPr/>
        </p:nvSpPr>
        <p:spPr>
          <a:xfrm>
            <a:off x="7726679" y="1984248"/>
            <a:ext cx="4023360" cy="347472"/>
          </a:xfrm>
          <a:prstGeom prst="rect">
            <a:avLst/>
          </a:prstGeom>
          <a:noFill/>
        </p:spPr>
        <p:txBody>
          <a:bodyPr wrap="square">
            <a:spAutoFit/>
          </a:bodyPr>
          <a:lstStyle/>
          <a:p>
            <a:pPr algn="ctr"/>
            <a:r>
              <a:rPr sz="1100" b="0" i="0">
                <a:solidFill>
                  <a:srgbClr val="CADCFC"/>
                </a:solidFill>
                <a:latin typeface="Calibri"/>
              </a:rPr>
              <a:t>Candidates
in the pool</a:t>
            </a:r>
          </a:p>
        </p:txBody>
      </p:sp>
      <p:sp>
        <p:nvSpPr>
          <p:cNvPr id="26" name="TextBox 25"/>
          <p:cNvSpPr txBox="1"/>
          <p:nvPr/>
        </p:nvSpPr>
        <p:spPr>
          <a:xfrm>
            <a:off x="7726679" y="2304288"/>
            <a:ext cx="4023360" cy="228600"/>
          </a:xfrm>
          <a:prstGeom prst="rect">
            <a:avLst/>
          </a:prstGeom>
          <a:noFill/>
        </p:spPr>
        <p:txBody>
          <a:bodyPr wrap="square">
            <a:spAutoFit/>
          </a:bodyPr>
          <a:lstStyle/>
          <a:p>
            <a:pPr algn="ctr"/>
            <a:r>
              <a:rPr sz="950" b="0" i="1">
                <a:solidFill>
                  <a:srgbClr val="8BA8C4"/>
                </a:solidFill>
                <a:latin typeface="Calibri"/>
              </a:rPr>
              <a:t>From 100K to 100 best</a:t>
            </a:r>
          </a:p>
        </p:txBody>
      </p:sp>
      <p:sp>
        <p:nvSpPr>
          <p:cNvPr id="27" name="Rounded Rectangle 26"/>
          <p:cNvSpPr/>
          <p:nvPr/>
        </p:nvSpPr>
        <p:spPr>
          <a:xfrm>
            <a:off x="7635240" y="2688336"/>
            <a:ext cx="420624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79" y="2761488"/>
            <a:ext cx="4023360" cy="566928"/>
          </a:xfrm>
          <a:prstGeom prst="rect">
            <a:avLst/>
          </a:prstGeom>
          <a:noFill/>
        </p:spPr>
        <p:txBody>
          <a:bodyPr wrap="square">
            <a:spAutoFit/>
          </a:bodyPr>
          <a:lstStyle/>
          <a:p>
            <a:pPr algn="ctr"/>
            <a:r>
              <a:rPr sz="2800" b="1" i="0">
                <a:solidFill>
                  <a:srgbClr val="F96167"/>
                </a:solidFill>
                <a:latin typeface="Calibri"/>
              </a:rPr>
              <a:t>~80</a:t>
            </a:r>
          </a:p>
        </p:txBody>
      </p:sp>
      <p:sp>
        <p:nvSpPr>
          <p:cNvPr id="29" name="TextBox 28"/>
          <p:cNvSpPr txBox="1"/>
          <p:nvPr/>
        </p:nvSpPr>
        <p:spPr>
          <a:xfrm>
            <a:off x="7726679" y="3282696"/>
            <a:ext cx="4023360" cy="347472"/>
          </a:xfrm>
          <a:prstGeom prst="rect">
            <a:avLst/>
          </a:prstGeom>
          <a:noFill/>
        </p:spPr>
        <p:txBody>
          <a:bodyPr wrap="square">
            <a:spAutoFit/>
          </a:bodyPr>
          <a:lstStyle/>
          <a:p>
            <a:pPr algn="ctr"/>
            <a:r>
              <a:rPr sz="1100" b="0" i="0">
                <a:solidFill>
                  <a:srgbClr val="CADCFC"/>
                </a:solidFill>
                <a:latin typeface="Calibri"/>
              </a:rPr>
              <a:t>Honeypot
profiles</a:t>
            </a:r>
          </a:p>
        </p:txBody>
      </p:sp>
      <p:sp>
        <p:nvSpPr>
          <p:cNvPr id="30" name="TextBox 29"/>
          <p:cNvSpPr txBox="1"/>
          <p:nvPr/>
        </p:nvSpPr>
        <p:spPr>
          <a:xfrm>
            <a:off x="7726679" y="3602736"/>
            <a:ext cx="4023360" cy="228600"/>
          </a:xfrm>
          <a:prstGeom prst="rect">
            <a:avLst/>
          </a:prstGeom>
          <a:noFill/>
        </p:spPr>
        <p:txBody>
          <a:bodyPr wrap="square">
            <a:spAutoFit/>
          </a:bodyPr>
          <a:lstStyle/>
          <a:p>
            <a:pPr algn="ctr"/>
            <a:r>
              <a:rPr sz="950" b="0" i="1">
                <a:solidFill>
                  <a:srgbClr val="8BA8C4"/>
                </a:solidFill>
                <a:latin typeface="Calibri"/>
              </a:rPr>
              <a:t>Subtly impossible CVs</a:t>
            </a:r>
          </a:p>
        </p:txBody>
      </p:sp>
      <p:sp>
        <p:nvSpPr>
          <p:cNvPr id="31" name="Rounded Rectangle 30"/>
          <p:cNvSpPr/>
          <p:nvPr/>
        </p:nvSpPr>
        <p:spPr>
          <a:xfrm>
            <a:off x="7635240" y="3986783"/>
            <a:ext cx="420624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26679" y="4059935"/>
            <a:ext cx="4023360" cy="566928"/>
          </a:xfrm>
          <a:prstGeom prst="rect">
            <a:avLst/>
          </a:prstGeom>
          <a:noFill/>
        </p:spPr>
        <p:txBody>
          <a:bodyPr wrap="square">
            <a:spAutoFit/>
          </a:bodyPr>
          <a:lstStyle/>
          <a:p>
            <a:pPr algn="ctr"/>
            <a:r>
              <a:rPr sz="2800" b="1" i="0">
                <a:solidFill>
                  <a:srgbClr val="02C39A"/>
                </a:solidFill>
                <a:latin typeface="Calibri"/>
              </a:rPr>
              <a:t>63,304</a:t>
            </a:r>
          </a:p>
        </p:txBody>
      </p:sp>
      <p:sp>
        <p:nvSpPr>
          <p:cNvPr id="33" name="TextBox 32"/>
          <p:cNvSpPr txBox="1"/>
          <p:nvPr/>
        </p:nvSpPr>
        <p:spPr>
          <a:xfrm>
            <a:off x="7726679" y="4581144"/>
            <a:ext cx="4023360" cy="347472"/>
          </a:xfrm>
          <a:prstGeom prst="rect">
            <a:avLst/>
          </a:prstGeom>
          <a:noFill/>
        </p:spPr>
        <p:txBody>
          <a:bodyPr wrap="square">
            <a:spAutoFit/>
          </a:bodyPr>
          <a:lstStyle/>
          <a:p>
            <a:pPr algn="ctr"/>
            <a:r>
              <a:rPr sz="1100" b="0" i="0">
                <a:solidFill>
                  <a:srgbClr val="CADCFC"/>
                </a:solidFill>
                <a:latin typeface="Calibri"/>
              </a:rPr>
              <a:t>Irrelevant
profiles</a:t>
            </a:r>
          </a:p>
        </p:txBody>
      </p:sp>
      <p:sp>
        <p:nvSpPr>
          <p:cNvPr id="34" name="TextBox 33"/>
          <p:cNvSpPr txBox="1"/>
          <p:nvPr/>
        </p:nvSpPr>
        <p:spPr>
          <a:xfrm>
            <a:off x="7726679" y="4901183"/>
            <a:ext cx="4023360" cy="228600"/>
          </a:xfrm>
          <a:prstGeom prst="rect">
            <a:avLst/>
          </a:prstGeom>
          <a:noFill/>
        </p:spPr>
        <p:txBody>
          <a:bodyPr wrap="square">
            <a:spAutoFit/>
          </a:bodyPr>
          <a:lstStyle/>
          <a:p>
            <a:pPr algn="ctr"/>
            <a:r>
              <a:rPr sz="950" b="0" i="1">
                <a:solidFill>
                  <a:srgbClr val="8BA8C4"/>
                </a:solidFill>
                <a:latin typeface="Calibri"/>
              </a:rPr>
              <a:t>Filtered in Stage-0</a:t>
            </a:r>
          </a:p>
        </p:txBody>
      </p:sp>
      <p:sp>
        <p:nvSpPr>
          <p:cNvPr id="35" name="Rounded Rectangle 34"/>
          <p:cNvSpPr/>
          <p:nvPr/>
        </p:nvSpPr>
        <p:spPr>
          <a:xfrm>
            <a:off x="7635240" y="5285231"/>
            <a:ext cx="4206240" cy="1170432"/>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26679" y="5358383"/>
            <a:ext cx="4023360" cy="566928"/>
          </a:xfrm>
          <a:prstGeom prst="rect">
            <a:avLst/>
          </a:prstGeom>
          <a:noFill/>
        </p:spPr>
        <p:txBody>
          <a:bodyPr wrap="square">
            <a:spAutoFit/>
          </a:bodyPr>
          <a:lstStyle/>
          <a:p>
            <a:pPr algn="ctr"/>
            <a:r>
              <a:rPr sz="2800" b="1" i="0">
                <a:solidFill>
                  <a:srgbClr val="F96167"/>
                </a:solidFill>
                <a:latin typeface="Calibri"/>
              </a:rPr>
              <a:t>&gt;10%</a:t>
            </a:r>
          </a:p>
        </p:txBody>
      </p:sp>
      <p:sp>
        <p:nvSpPr>
          <p:cNvPr id="37" name="TextBox 36"/>
          <p:cNvSpPr txBox="1"/>
          <p:nvPr/>
        </p:nvSpPr>
        <p:spPr>
          <a:xfrm>
            <a:off x="7726679" y="5879592"/>
            <a:ext cx="4023360" cy="347472"/>
          </a:xfrm>
          <a:prstGeom prst="rect">
            <a:avLst/>
          </a:prstGeom>
          <a:noFill/>
        </p:spPr>
        <p:txBody>
          <a:bodyPr wrap="square">
            <a:spAutoFit/>
          </a:bodyPr>
          <a:lstStyle/>
          <a:p>
            <a:pPr algn="ctr"/>
            <a:r>
              <a:rPr sz="1100" b="0" i="0">
                <a:solidFill>
                  <a:srgbClr val="CADCFC"/>
                </a:solidFill>
                <a:latin typeface="Calibri"/>
              </a:rPr>
              <a:t>Honeypot rate
= DISQUALIFIED</a:t>
            </a:r>
          </a:p>
        </p:txBody>
      </p:sp>
      <p:sp>
        <p:nvSpPr>
          <p:cNvPr id="38" name="TextBox 37"/>
          <p:cNvSpPr txBox="1"/>
          <p:nvPr/>
        </p:nvSpPr>
        <p:spPr>
          <a:xfrm>
            <a:off x="7726679" y="6199631"/>
            <a:ext cx="4023360" cy="228600"/>
          </a:xfrm>
          <a:prstGeom prst="rect">
            <a:avLst/>
          </a:prstGeom>
          <a:noFill/>
        </p:spPr>
        <p:txBody>
          <a:bodyPr wrap="square">
            <a:spAutoFit/>
          </a:bodyPr>
          <a:lstStyle/>
          <a:p>
            <a:pPr algn="ctr"/>
            <a:r>
              <a:rPr sz="950" b="0" i="1">
                <a:solidFill>
                  <a:srgbClr val="8BA8C4"/>
                </a:solidFill>
                <a:latin typeface="Calibri"/>
              </a:rPr>
              <a:t>Hackathon rule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Our Proposed Solution</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Multi-signal AI ranking that understands career context, not just keywords</a:t>
            </a:r>
          </a:p>
        </p:txBody>
      </p:sp>
      <p:sp>
        <p:nvSpPr>
          <p:cNvPr id="4" name="Rounded Rectangle 3"/>
          <p:cNvSpPr/>
          <p:nvPr/>
        </p:nvSpPr>
        <p:spPr>
          <a:xfrm>
            <a:off x="411480" y="1353312"/>
            <a:ext cx="11384280" cy="987552"/>
          </a:xfrm>
          <a:prstGeom prst="roundRect">
            <a:avLst/>
          </a:prstGeom>
          <a:solidFill>
            <a:srgbClr val="065A82"/>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44752"/>
            <a:ext cx="11064240" cy="804672"/>
          </a:xfrm>
          <a:prstGeom prst="rect">
            <a:avLst/>
          </a:prstGeom>
          <a:noFill/>
        </p:spPr>
        <p:txBody>
          <a:bodyPr wrap="square">
            <a:spAutoFit/>
          </a:bodyPr>
          <a:lstStyle/>
          <a:p>
            <a:pPr algn="l"/>
            <a:r>
              <a:rPr sz="1350" b="0" i="0">
                <a:solidFill>
                  <a:srgbClr val="FFFFFF"/>
                </a:solidFill>
                <a:latin typeface="Calibri"/>
              </a:rPr>
              <a:t>A two-pass, CPU-only ranking pipeline: fast keyword pre-filter on 100K candidates → deep 30-feature extraction → TF-IDF semantic retrieval → 7-component weighted scoring → rule-based re-ranking → fact-grounded explainability. All in 22 seconds.</a:t>
            </a:r>
          </a:p>
        </p:txBody>
      </p:sp>
      <p:sp>
        <p:nvSpPr>
          <p:cNvPr id="6" name="Rounded Rectangle 5"/>
          <p:cNvSpPr/>
          <p:nvPr/>
        </p:nvSpPr>
        <p:spPr>
          <a:xfrm>
            <a:off x="411480" y="257860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2706624"/>
            <a:ext cx="3337560" cy="438912"/>
          </a:xfrm>
          <a:prstGeom prst="rect">
            <a:avLst/>
          </a:prstGeom>
          <a:noFill/>
        </p:spPr>
        <p:txBody>
          <a:bodyPr wrap="square">
            <a:spAutoFit/>
          </a:bodyPr>
          <a:lstStyle/>
          <a:p>
            <a:pPr algn="l"/>
            <a:r>
              <a:rPr sz="1300" b="1" i="0">
                <a:solidFill>
                  <a:srgbClr val="02C39A"/>
                </a:solidFill>
                <a:latin typeface="Calibri"/>
              </a:rPr>
              <a:t>🧠  Semantic JD Understanding</a:t>
            </a:r>
          </a:p>
        </p:txBody>
      </p:sp>
      <p:sp>
        <p:nvSpPr>
          <p:cNvPr id="8" name="TextBox 7"/>
          <p:cNvSpPr txBox="1"/>
          <p:nvPr/>
        </p:nvSpPr>
        <p:spPr>
          <a:xfrm>
            <a:off x="576072" y="3127248"/>
            <a:ext cx="3337560" cy="1234440"/>
          </a:xfrm>
          <a:prstGeom prst="rect">
            <a:avLst/>
          </a:prstGeom>
          <a:noFill/>
        </p:spPr>
        <p:txBody>
          <a:bodyPr wrap="square">
            <a:spAutoFit/>
          </a:bodyPr>
          <a:lstStyle/>
          <a:p>
            <a:pPr algn="l"/>
            <a:r>
              <a:rPr sz="1100" b="0" i="0">
                <a:solidFill>
                  <a:srgbClr val="F0F4F8"/>
                </a:solidFill>
                <a:latin typeface="Calibri"/>
              </a:rPr>
              <a:t>Extracts 29 required skills, 6 preferred skills, experience band, target locations, and disqualifiers from raw JD text. Builds a signal-rich 300-word query blob.</a:t>
            </a:r>
          </a:p>
        </p:txBody>
      </p:sp>
      <p:sp>
        <p:nvSpPr>
          <p:cNvPr id="9" name="Rounded Rectangle 8"/>
          <p:cNvSpPr/>
          <p:nvPr/>
        </p:nvSpPr>
        <p:spPr>
          <a:xfrm>
            <a:off x="4343400" y="257860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06624"/>
            <a:ext cx="3337560" cy="438912"/>
          </a:xfrm>
          <a:prstGeom prst="rect">
            <a:avLst/>
          </a:prstGeom>
          <a:noFill/>
        </p:spPr>
        <p:txBody>
          <a:bodyPr wrap="square">
            <a:spAutoFit/>
          </a:bodyPr>
          <a:lstStyle/>
          <a:p>
            <a:pPr algn="l"/>
            <a:r>
              <a:rPr sz="1300" b="1" i="0">
                <a:solidFill>
                  <a:srgbClr val="F0C040"/>
                </a:solidFill>
                <a:latin typeface="Calibri"/>
              </a:rPr>
              <a:t>⚡  Two-Pass Architecture</a:t>
            </a:r>
          </a:p>
        </p:txBody>
      </p:sp>
      <p:sp>
        <p:nvSpPr>
          <p:cNvPr id="11" name="TextBox 10"/>
          <p:cNvSpPr txBox="1"/>
          <p:nvPr/>
        </p:nvSpPr>
        <p:spPr>
          <a:xfrm>
            <a:off x="4507992" y="3127248"/>
            <a:ext cx="3337560" cy="1234440"/>
          </a:xfrm>
          <a:prstGeom prst="rect">
            <a:avLst/>
          </a:prstGeom>
          <a:noFill/>
        </p:spPr>
        <p:txBody>
          <a:bodyPr wrap="square">
            <a:spAutoFit/>
          </a:bodyPr>
          <a:lstStyle/>
          <a:p>
            <a:pPr algn="l"/>
            <a:r>
              <a:rPr sz="1100" b="0" i="0">
                <a:solidFill>
                  <a:srgbClr val="F0F4F8"/>
                </a:solidFill>
                <a:latin typeface="Calibri"/>
              </a:rPr>
              <a:t>Stage-0 keyword scan on raw JSONL isolates 8,000 ML-signal candidates in 12 seconds before any expensive parsing — exactly how production systems scale.</a:t>
            </a:r>
          </a:p>
        </p:txBody>
      </p:sp>
      <p:sp>
        <p:nvSpPr>
          <p:cNvPr id="12" name="Rounded Rectangle 11"/>
          <p:cNvSpPr/>
          <p:nvPr/>
        </p:nvSpPr>
        <p:spPr>
          <a:xfrm>
            <a:off x="8275319" y="257860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9911" y="2706624"/>
            <a:ext cx="3337560" cy="438912"/>
          </a:xfrm>
          <a:prstGeom prst="rect">
            <a:avLst/>
          </a:prstGeom>
          <a:noFill/>
        </p:spPr>
        <p:txBody>
          <a:bodyPr wrap="square">
            <a:spAutoFit/>
          </a:bodyPr>
          <a:lstStyle/>
          <a:p>
            <a:pPr algn="l"/>
            <a:r>
              <a:rPr sz="1300" b="1" i="0">
                <a:solidFill>
                  <a:srgbClr val="CADCFC"/>
                </a:solidFill>
                <a:latin typeface="Calibri"/>
              </a:rPr>
              <a:t>📊  7-Component Weighted Scoring</a:t>
            </a:r>
          </a:p>
        </p:txBody>
      </p:sp>
      <p:sp>
        <p:nvSpPr>
          <p:cNvPr id="14" name="TextBox 13"/>
          <p:cNvSpPr txBox="1"/>
          <p:nvPr/>
        </p:nvSpPr>
        <p:spPr>
          <a:xfrm>
            <a:off x="8439911" y="3127248"/>
            <a:ext cx="3337560" cy="1234440"/>
          </a:xfrm>
          <a:prstGeom prst="rect">
            <a:avLst/>
          </a:prstGeom>
          <a:noFill/>
        </p:spPr>
        <p:txBody>
          <a:bodyPr wrap="square">
            <a:spAutoFit/>
          </a:bodyPr>
          <a:lstStyle/>
          <a:p>
            <a:pPr algn="l"/>
            <a:r>
              <a:rPr sz="1100" b="0" i="0">
                <a:solidFill>
                  <a:srgbClr val="F0F4F8"/>
                </a:solidFill>
                <a:latin typeface="Calibri"/>
              </a:rPr>
              <a:t>Skill Match (30%) + Experience (20%) + Domain (20%) + Career Growth (10%) + Behavioral (10%) + Location (5%) + Education (5%) — with a behavioral availability multiplier.</a:t>
            </a:r>
          </a:p>
        </p:txBody>
      </p:sp>
      <p:sp>
        <p:nvSpPr>
          <p:cNvPr id="15" name="Rounded Rectangle 14"/>
          <p:cNvSpPr/>
          <p:nvPr/>
        </p:nvSpPr>
        <p:spPr>
          <a:xfrm>
            <a:off x="411480" y="459028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4718303"/>
            <a:ext cx="3337560" cy="438912"/>
          </a:xfrm>
          <a:prstGeom prst="rect">
            <a:avLst/>
          </a:prstGeom>
          <a:noFill/>
        </p:spPr>
        <p:txBody>
          <a:bodyPr wrap="square">
            <a:spAutoFit/>
          </a:bodyPr>
          <a:lstStyle/>
          <a:p>
            <a:pPr algn="l"/>
            <a:r>
              <a:rPr sz="1300" b="1" i="0">
                <a:solidFill>
                  <a:srgbClr val="F96167"/>
                </a:solidFill>
                <a:latin typeface="Calibri"/>
              </a:rPr>
              <a:t>🛡  Automatic Honeypot Defense</a:t>
            </a:r>
          </a:p>
        </p:txBody>
      </p:sp>
      <p:sp>
        <p:nvSpPr>
          <p:cNvPr id="17" name="TextBox 16"/>
          <p:cNvSpPr txBox="1"/>
          <p:nvPr/>
        </p:nvSpPr>
        <p:spPr>
          <a:xfrm>
            <a:off x="576072" y="5138927"/>
            <a:ext cx="3337560" cy="1234440"/>
          </a:xfrm>
          <a:prstGeom prst="rect">
            <a:avLst/>
          </a:prstGeom>
          <a:noFill/>
        </p:spPr>
        <p:txBody>
          <a:bodyPr wrap="square">
            <a:spAutoFit/>
          </a:bodyPr>
          <a:lstStyle/>
          <a:p>
            <a:pPr algn="l"/>
            <a:r>
              <a:rPr sz="1100" b="0" i="0">
                <a:solidFill>
                  <a:srgbClr val="F0F4F8"/>
                </a:solidFill>
                <a:latin typeface="Calibri"/>
              </a:rPr>
              <a:t>Three heuristics catch impossible profiles: expert skills with 0 months usage, chronologically impossible career spans, and inverted salary ranges.</a:t>
            </a:r>
          </a:p>
        </p:txBody>
      </p:sp>
      <p:sp>
        <p:nvSpPr>
          <p:cNvPr id="18" name="Rounded Rectangle 17"/>
          <p:cNvSpPr/>
          <p:nvPr/>
        </p:nvSpPr>
        <p:spPr>
          <a:xfrm>
            <a:off x="4343400" y="459028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4718303"/>
            <a:ext cx="3337560" cy="438912"/>
          </a:xfrm>
          <a:prstGeom prst="rect">
            <a:avLst/>
          </a:prstGeom>
          <a:noFill/>
        </p:spPr>
        <p:txBody>
          <a:bodyPr wrap="square">
            <a:spAutoFit/>
          </a:bodyPr>
          <a:lstStyle/>
          <a:p>
            <a:pPr algn="l"/>
            <a:r>
              <a:rPr sz="1300" b="1" i="0">
                <a:solidFill>
                  <a:srgbClr val="02C39A"/>
                </a:solidFill>
                <a:latin typeface="Calibri"/>
              </a:rPr>
              <a:t>💡  Fact-Grounded Explainability</a:t>
            </a:r>
          </a:p>
        </p:txBody>
      </p:sp>
      <p:sp>
        <p:nvSpPr>
          <p:cNvPr id="20" name="TextBox 19"/>
          <p:cNvSpPr txBox="1"/>
          <p:nvPr/>
        </p:nvSpPr>
        <p:spPr>
          <a:xfrm>
            <a:off x="4507992" y="5138927"/>
            <a:ext cx="3337560" cy="1234440"/>
          </a:xfrm>
          <a:prstGeom prst="rect">
            <a:avLst/>
          </a:prstGeom>
          <a:noFill/>
        </p:spPr>
        <p:txBody>
          <a:bodyPr wrap="square">
            <a:spAutoFit/>
          </a:bodyPr>
          <a:lstStyle/>
          <a:p>
            <a:pPr algn="l"/>
            <a:r>
              <a:rPr sz="1100" b="0" i="0">
                <a:solidFill>
                  <a:srgbClr val="F0F4F8"/>
                </a:solidFill>
                <a:latin typeface="Calibri"/>
              </a:rPr>
              <a:t>Every ranked candidate receives a 1-2 sentence reasoning that cites specific profile facts — title, YOE, named skills, signal values, honest concerns.</a:t>
            </a:r>
          </a:p>
        </p:txBody>
      </p:sp>
      <p:sp>
        <p:nvSpPr>
          <p:cNvPr id="21" name="Rounded Rectangle 20"/>
          <p:cNvSpPr/>
          <p:nvPr/>
        </p:nvSpPr>
        <p:spPr>
          <a:xfrm>
            <a:off x="8275319" y="4590288"/>
            <a:ext cx="3657600" cy="1874519"/>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1" y="4718303"/>
            <a:ext cx="3337560" cy="438912"/>
          </a:xfrm>
          <a:prstGeom prst="rect">
            <a:avLst/>
          </a:prstGeom>
          <a:noFill/>
        </p:spPr>
        <p:txBody>
          <a:bodyPr wrap="square">
            <a:spAutoFit/>
          </a:bodyPr>
          <a:lstStyle/>
          <a:p>
            <a:pPr algn="l"/>
            <a:r>
              <a:rPr sz="1300" b="1" i="0">
                <a:solidFill>
                  <a:srgbClr val="F0C040"/>
                </a:solidFill>
                <a:latin typeface="Calibri"/>
              </a:rPr>
              <a:t>🔄  FAISS-Ready Architecture</a:t>
            </a:r>
          </a:p>
        </p:txBody>
      </p:sp>
      <p:sp>
        <p:nvSpPr>
          <p:cNvPr id="23" name="TextBox 22"/>
          <p:cNvSpPr txBox="1"/>
          <p:nvPr/>
        </p:nvSpPr>
        <p:spPr>
          <a:xfrm>
            <a:off x="8439911" y="5138927"/>
            <a:ext cx="3337560" cy="1234440"/>
          </a:xfrm>
          <a:prstGeom prst="rect">
            <a:avLst/>
          </a:prstGeom>
          <a:noFill/>
        </p:spPr>
        <p:txBody>
          <a:bodyPr wrap="square">
            <a:spAutoFit/>
          </a:bodyPr>
          <a:lstStyle/>
          <a:p>
            <a:pPr algn="l"/>
            <a:r>
              <a:rPr sz="1100" b="0" i="0">
                <a:solidFill>
                  <a:srgbClr val="F0F4F8"/>
                </a:solidFill>
                <a:latin typeface="Calibri"/>
              </a:rPr>
              <a:t>TF-IDF now meets all compute constraints. Sentence-Transformers + FAISS is a single-line swap in src/retrieval.py — zero pipeline changes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JD Understanding &amp; Candidate Signals</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What we extract from the Job Description and why each signal matters</a:t>
            </a:r>
          </a:p>
        </p:txBody>
      </p:sp>
      <p:sp>
        <p:nvSpPr>
          <p:cNvPr id="4" name="Rounded Rectangle 3"/>
          <p:cNvSpPr/>
          <p:nvPr/>
        </p:nvSpPr>
        <p:spPr>
          <a:xfrm>
            <a:off x="411480" y="1353312"/>
            <a:ext cx="5394960" cy="521208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0"/>
            <a:ext cx="5120640" cy="438912"/>
          </a:xfrm>
          <a:prstGeom prst="rect">
            <a:avLst/>
          </a:prstGeom>
          <a:noFill/>
        </p:spPr>
        <p:txBody>
          <a:bodyPr wrap="square">
            <a:spAutoFit/>
          </a:bodyPr>
          <a:lstStyle/>
          <a:p>
            <a:pPr algn="l"/>
            <a:r>
              <a:rPr sz="1500" b="1" i="0">
                <a:solidFill>
                  <a:srgbClr val="F0C040"/>
                </a:solidFill>
                <a:latin typeface="Calibri"/>
              </a:rPr>
              <a:t>📄  Job Description Parsing</a:t>
            </a:r>
          </a:p>
        </p:txBody>
      </p:sp>
      <p:sp>
        <p:nvSpPr>
          <p:cNvPr id="6" name="Rounded Rectangle 5"/>
          <p:cNvSpPr/>
          <p:nvPr/>
        </p:nvSpPr>
        <p:spPr>
          <a:xfrm>
            <a:off x="530352" y="1993392"/>
            <a:ext cx="5166360" cy="100584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66544"/>
            <a:ext cx="777240" cy="502920"/>
          </a:xfrm>
          <a:prstGeom prst="rect">
            <a:avLst/>
          </a:prstGeom>
          <a:noFill/>
        </p:spPr>
        <p:txBody>
          <a:bodyPr wrap="square">
            <a:spAutoFit/>
          </a:bodyPr>
          <a:lstStyle/>
          <a:p>
            <a:pPr algn="ctr"/>
            <a:r>
              <a:rPr sz="2400" b="1" i="0">
                <a:solidFill>
                  <a:srgbClr val="02C39A"/>
                </a:solidFill>
                <a:latin typeface="Calibri"/>
              </a:rPr>
              <a:t>29</a:t>
            </a:r>
          </a:p>
        </p:txBody>
      </p:sp>
      <p:sp>
        <p:nvSpPr>
          <p:cNvPr id="8" name="TextBox 7"/>
          <p:cNvSpPr txBox="1"/>
          <p:nvPr/>
        </p:nvSpPr>
        <p:spPr>
          <a:xfrm>
            <a:off x="1463040" y="2084832"/>
            <a:ext cx="4114800" cy="347472"/>
          </a:xfrm>
          <a:prstGeom prst="rect">
            <a:avLst/>
          </a:prstGeom>
          <a:noFill/>
        </p:spPr>
        <p:txBody>
          <a:bodyPr wrap="square">
            <a:spAutoFit/>
          </a:bodyPr>
          <a:lstStyle/>
          <a:p>
            <a:pPr algn="l"/>
            <a:r>
              <a:rPr sz="1200" b="1" i="0">
                <a:solidFill>
                  <a:srgbClr val="CADCFC"/>
                </a:solidFill>
                <a:latin typeface="Calibri"/>
              </a:rPr>
              <a:t>Required Skills Extracted</a:t>
            </a:r>
          </a:p>
        </p:txBody>
      </p:sp>
      <p:sp>
        <p:nvSpPr>
          <p:cNvPr id="9" name="TextBox 8"/>
          <p:cNvSpPr txBox="1"/>
          <p:nvPr/>
        </p:nvSpPr>
        <p:spPr>
          <a:xfrm>
            <a:off x="1463040" y="2450592"/>
            <a:ext cx="4114800" cy="502920"/>
          </a:xfrm>
          <a:prstGeom prst="rect">
            <a:avLst/>
          </a:prstGeom>
          <a:noFill/>
        </p:spPr>
        <p:txBody>
          <a:bodyPr wrap="square">
            <a:spAutoFit/>
          </a:bodyPr>
          <a:lstStyle/>
          <a:p>
            <a:pPr algn="l"/>
            <a:r>
              <a:rPr sz="1000" b="0" i="0">
                <a:solidFill>
                  <a:srgbClr val="8BA8C4"/>
                </a:solidFill>
                <a:latin typeface="Calibri"/>
              </a:rPr>
              <a:t>FAISS, Pinecone, Weaviate, Elasticsearch, OpenSearch, Embeddings, BM25, Learning-to-Rank, NDCG, MRR, Python, NLP, RAG, LoRA, PEFT, HuggingFace…</a:t>
            </a:r>
          </a:p>
        </p:txBody>
      </p:sp>
      <p:sp>
        <p:nvSpPr>
          <p:cNvPr id="10" name="Rounded Rectangle 9"/>
          <p:cNvSpPr/>
          <p:nvPr/>
        </p:nvSpPr>
        <p:spPr>
          <a:xfrm>
            <a:off x="530352" y="3108960"/>
            <a:ext cx="5166360" cy="100584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82112"/>
            <a:ext cx="777240" cy="502920"/>
          </a:xfrm>
          <a:prstGeom prst="rect">
            <a:avLst/>
          </a:prstGeom>
          <a:noFill/>
        </p:spPr>
        <p:txBody>
          <a:bodyPr wrap="square">
            <a:spAutoFit/>
          </a:bodyPr>
          <a:lstStyle/>
          <a:p>
            <a:pPr algn="ctr"/>
            <a:r>
              <a:rPr sz="2400" b="1" i="0">
                <a:solidFill>
                  <a:srgbClr val="02C39A"/>
                </a:solidFill>
                <a:latin typeface="Calibri"/>
              </a:rPr>
              <a:t>6</a:t>
            </a:r>
          </a:p>
        </p:txBody>
      </p:sp>
      <p:sp>
        <p:nvSpPr>
          <p:cNvPr id="12" name="TextBox 11"/>
          <p:cNvSpPr txBox="1"/>
          <p:nvPr/>
        </p:nvSpPr>
        <p:spPr>
          <a:xfrm>
            <a:off x="1463040" y="3200400"/>
            <a:ext cx="4114800" cy="347472"/>
          </a:xfrm>
          <a:prstGeom prst="rect">
            <a:avLst/>
          </a:prstGeom>
          <a:noFill/>
        </p:spPr>
        <p:txBody>
          <a:bodyPr wrap="square">
            <a:spAutoFit/>
          </a:bodyPr>
          <a:lstStyle/>
          <a:p>
            <a:pPr algn="l"/>
            <a:r>
              <a:rPr sz="1200" b="1" i="0">
                <a:solidFill>
                  <a:srgbClr val="CADCFC"/>
                </a:solidFill>
                <a:latin typeface="Calibri"/>
              </a:rPr>
              <a:t>Preferred Skills Identified</a:t>
            </a:r>
          </a:p>
        </p:txBody>
      </p:sp>
      <p:sp>
        <p:nvSpPr>
          <p:cNvPr id="13" name="TextBox 12"/>
          <p:cNvSpPr txBox="1"/>
          <p:nvPr/>
        </p:nvSpPr>
        <p:spPr>
          <a:xfrm>
            <a:off x="1463040" y="3566160"/>
            <a:ext cx="4114800" cy="502920"/>
          </a:xfrm>
          <a:prstGeom prst="rect">
            <a:avLst/>
          </a:prstGeom>
          <a:noFill/>
        </p:spPr>
        <p:txBody>
          <a:bodyPr wrap="square">
            <a:spAutoFit/>
          </a:bodyPr>
          <a:lstStyle/>
          <a:p>
            <a:pPr algn="l"/>
            <a:r>
              <a:rPr sz="1000" b="0" i="0">
                <a:solidFill>
                  <a:srgbClr val="8BA8C4"/>
                </a:solidFill>
                <a:latin typeface="Calibri"/>
              </a:rPr>
              <a:t>Distributed systems, MLOps, HR-tech experience, Kafka, Kubernetes, open-source</a:t>
            </a:r>
          </a:p>
        </p:txBody>
      </p:sp>
      <p:sp>
        <p:nvSpPr>
          <p:cNvPr id="14" name="Rounded Rectangle 13"/>
          <p:cNvSpPr/>
          <p:nvPr/>
        </p:nvSpPr>
        <p:spPr>
          <a:xfrm>
            <a:off x="530352" y="4224528"/>
            <a:ext cx="5166360" cy="100584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97680"/>
            <a:ext cx="777240" cy="502920"/>
          </a:xfrm>
          <a:prstGeom prst="rect">
            <a:avLst/>
          </a:prstGeom>
          <a:noFill/>
        </p:spPr>
        <p:txBody>
          <a:bodyPr wrap="square">
            <a:spAutoFit/>
          </a:bodyPr>
          <a:lstStyle/>
          <a:p>
            <a:pPr algn="ctr"/>
            <a:r>
              <a:rPr sz="2400" b="1" i="0">
                <a:solidFill>
                  <a:srgbClr val="02C39A"/>
                </a:solidFill>
                <a:latin typeface="Calibri"/>
              </a:rPr>
              <a:t>5–9</a:t>
            </a:r>
          </a:p>
        </p:txBody>
      </p:sp>
      <p:sp>
        <p:nvSpPr>
          <p:cNvPr id="16" name="TextBox 15"/>
          <p:cNvSpPr txBox="1"/>
          <p:nvPr/>
        </p:nvSpPr>
        <p:spPr>
          <a:xfrm>
            <a:off x="1463040" y="4315968"/>
            <a:ext cx="4114800" cy="347472"/>
          </a:xfrm>
          <a:prstGeom prst="rect">
            <a:avLst/>
          </a:prstGeom>
          <a:noFill/>
        </p:spPr>
        <p:txBody>
          <a:bodyPr wrap="square">
            <a:spAutoFit/>
          </a:bodyPr>
          <a:lstStyle/>
          <a:p>
            <a:pPr algn="l"/>
            <a:r>
              <a:rPr sz="1200" b="1" i="0">
                <a:solidFill>
                  <a:srgbClr val="CADCFC"/>
                </a:solidFill>
                <a:latin typeface="Calibri"/>
              </a:rPr>
              <a:t>Experience Band (years)</a:t>
            </a:r>
          </a:p>
        </p:txBody>
      </p:sp>
      <p:sp>
        <p:nvSpPr>
          <p:cNvPr id="17" name="TextBox 16"/>
          <p:cNvSpPr txBox="1"/>
          <p:nvPr/>
        </p:nvSpPr>
        <p:spPr>
          <a:xfrm>
            <a:off x="1463040" y="4681728"/>
            <a:ext cx="4114800" cy="502920"/>
          </a:xfrm>
          <a:prstGeom prst="rect">
            <a:avLst/>
          </a:prstGeom>
          <a:noFill/>
        </p:spPr>
        <p:txBody>
          <a:bodyPr wrap="square">
            <a:spAutoFit/>
          </a:bodyPr>
          <a:lstStyle/>
          <a:p>
            <a:pPr algn="l"/>
            <a:r>
              <a:rPr sz="1000" b="0" i="0">
                <a:solidFill>
                  <a:srgbClr val="8BA8C4"/>
                </a:solidFill>
                <a:latin typeface="Calibri"/>
              </a:rPr>
              <a:t>Extracted from JD text. Sweet spot: 5-9 yrs. Candidates outside range are scored, not excluded.</a:t>
            </a:r>
          </a:p>
        </p:txBody>
      </p:sp>
      <p:sp>
        <p:nvSpPr>
          <p:cNvPr id="18" name="Rounded Rectangle 17"/>
          <p:cNvSpPr/>
          <p:nvPr/>
        </p:nvSpPr>
        <p:spPr>
          <a:xfrm>
            <a:off x="530352" y="5340096"/>
            <a:ext cx="5166360" cy="100584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413248"/>
            <a:ext cx="777240" cy="502920"/>
          </a:xfrm>
          <a:prstGeom prst="rect">
            <a:avLst/>
          </a:prstGeom>
          <a:noFill/>
        </p:spPr>
        <p:txBody>
          <a:bodyPr wrap="square">
            <a:spAutoFit/>
          </a:bodyPr>
          <a:lstStyle/>
          <a:p>
            <a:pPr algn="ctr"/>
            <a:r>
              <a:rPr sz="2400" b="1" i="0">
                <a:solidFill>
                  <a:srgbClr val="02C39A"/>
                </a:solidFill>
                <a:latin typeface="Calibri"/>
              </a:rPr>
              <a:t>6</a:t>
            </a:r>
          </a:p>
        </p:txBody>
      </p:sp>
      <p:sp>
        <p:nvSpPr>
          <p:cNvPr id="20" name="TextBox 19"/>
          <p:cNvSpPr txBox="1"/>
          <p:nvPr/>
        </p:nvSpPr>
        <p:spPr>
          <a:xfrm>
            <a:off x="1463040" y="5431536"/>
            <a:ext cx="4114800" cy="347472"/>
          </a:xfrm>
          <a:prstGeom prst="rect">
            <a:avLst/>
          </a:prstGeom>
          <a:noFill/>
        </p:spPr>
        <p:txBody>
          <a:bodyPr wrap="square">
            <a:spAutoFit/>
          </a:bodyPr>
          <a:lstStyle/>
          <a:p>
            <a:pPr algn="l"/>
            <a:r>
              <a:rPr sz="1200" b="1" i="0">
                <a:solidFill>
                  <a:srgbClr val="CADCFC"/>
                </a:solidFill>
                <a:latin typeface="Calibri"/>
              </a:rPr>
              <a:t>Target Locations</a:t>
            </a:r>
          </a:p>
        </p:txBody>
      </p:sp>
      <p:sp>
        <p:nvSpPr>
          <p:cNvPr id="21" name="TextBox 20"/>
          <p:cNvSpPr txBox="1"/>
          <p:nvPr/>
        </p:nvSpPr>
        <p:spPr>
          <a:xfrm>
            <a:off x="1463040" y="5797296"/>
            <a:ext cx="4114800" cy="502920"/>
          </a:xfrm>
          <a:prstGeom prst="rect">
            <a:avLst/>
          </a:prstGeom>
          <a:noFill/>
        </p:spPr>
        <p:txBody>
          <a:bodyPr wrap="square">
            <a:spAutoFit/>
          </a:bodyPr>
          <a:lstStyle/>
          <a:p>
            <a:pPr algn="l"/>
            <a:r>
              <a:rPr sz="1000" b="0" i="0">
                <a:solidFill>
                  <a:srgbClr val="8BA8C4"/>
                </a:solidFill>
                <a:latin typeface="Calibri"/>
              </a:rPr>
              <a:t>Pune, Noida, Hyderabad, Bangalore, Mumbai, Delhi NCR — plus willing-to-relocate flag</a:t>
            </a:r>
          </a:p>
        </p:txBody>
      </p:sp>
      <p:sp>
        <p:nvSpPr>
          <p:cNvPr id="22" name="Rounded Rectangle 21"/>
          <p:cNvSpPr/>
          <p:nvPr/>
        </p:nvSpPr>
        <p:spPr>
          <a:xfrm>
            <a:off x="6053328" y="1353312"/>
            <a:ext cx="5779008" cy="521208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1463040"/>
            <a:ext cx="5532120" cy="438912"/>
          </a:xfrm>
          <a:prstGeom prst="rect">
            <a:avLst/>
          </a:prstGeom>
          <a:noFill/>
        </p:spPr>
        <p:txBody>
          <a:bodyPr wrap="square">
            <a:spAutoFit/>
          </a:bodyPr>
          <a:lstStyle/>
          <a:p>
            <a:pPr algn="l"/>
            <a:r>
              <a:rPr sz="1500" b="1" i="0">
                <a:solidFill>
                  <a:srgbClr val="F0C040"/>
                </a:solidFill>
                <a:latin typeface="Calibri"/>
              </a:rPr>
              <a:t>🎯  Candidate Signals (30+ Features)</a:t>
            </a:r>
          </a:p>
        </p:txBody>
      </p:sp>
      <p:sp>
        <p:nvSpPr>
          <p:cNvPr id="24" name="TextBox 23"/>
          <p:cNvSpPr txBox="1"/>
          <p:nvPr/>
        </p:nvSpPr>
        <p:spPr>
          <a:xfrm>
            <a:off x="6217920" y="1965960"/>
            <a:ext cx="5394960" cy="320040"/>
          </a:xfrm>
          <a:prstGeom prst="rect">
            <a:avLst/>
          </a:prstGeom>
          <a:noFill/>
        </p:spPr>
        <p:txBody>
          <a:bodyPr wrap="square">
            <a:spAutoFit/>
          </a:bodyPr>
          <a:lstStyle/>
          <a:p>
            <a:pPr algn="l"/>
            <a:r>
              <a:rPr sz="1200" b="1" i="0">
                <a:solidFill>
                  <a:srgbClr val="02C39A"/>
                </a:solidFill>
                <a:latin typeface="Calibri"/>
              </a:rPr>
              <a:t>▸  Skills</a:t>
            </a:r>
          </a:p>
        </p:txBody>
      </p:sp>
      <p:sp>
        <p:nvSpPr>
          <p:cNvPr id="25" name="TextBox 24"/>
          <p:cNvSpPr txBox="1"/>
          <p:nvPr/>
        </p:nvSpPr>
        <p:spPr>
          <a:xfrm>
            <a:off x="6217920" y="2286000"/>
            <a:ext cx="5394960" cy="292608"/>
          </a:xfrm>
          <a:prstGeom prst="rect">
            <a:avLst/>
          </a:prstGeom>
          <a:noFill/>
        </p:spPr>
        <p:txBody>
          <a:bodyPr wrap="square">
            <a:spAutoFit/>
          </a:bodyPr>
          <a:lstStyle/>
          <a:p>
            <a:pPr algn="l"/>
            <a:r>
              <a:rPr sz="1050" b="0" i="0">
                <a:solidFill>
                  <a:srgbClr val="F0F4F8"/>
                </a:solidFill>
                <a:latin typeface="Calibri"/>
              </a:rPr>
              <a:t>   • Proficiency level × endorsements × duration_months (weighted)</a:t>
            </a:r>
          </a:p>
        </p:txBody>
      </p:sp>
      <p:sp>
        <p:nvSpPr>
          <p:cNvPr id="26" name="TextBox 25"/>
          <p:cNvSpPr txBox="1"/>
          <p:nvPr/>
        </p:nvSpPr>
        <p:spPr>
          <a:xfrm>
            <a:off x="6217920" y="2560320"/>
            <a:ext cx="5394960" cy="292608"/>
          </a:xfrm>
          <a:prstGeom prst="rect">
            <a:avLst/>
          </a:prstGeom>
          <a:noFill/>
        </p:spPr>
        <p:txBody>
          <a:bodyPr wrap="square">
            <a:spAutoFit/>
          </a:bodyPr>
          <a:lstStyle/>
          <a:p>
            <a:pPr algn="l"/>
            <a:r>
              <a:rPr sz="1050" b="0" i="0">
                <a:solidFill>
                  <a:srgbClr val="F0F4F8"/>
                </a:solidFill>
                <a:latin typeface="Calibri"/>
              </a:rPr>
              <a:t>   • Target skill hit count vs 40 JD keywords</a:t>
            </a:r>
          </a:p>
        </p:txBody>
      </p:sp>
      <p:sp>
        <p:nvSpPr>
          <p:cNvPr id="27" name="TextBox 26"/>
          <p:cNvSpPr txBox="1"/>
          <p:nvPr/>
        </p:nvSpPr>
        <p:spPr>
          <a:xfrm>
            <a:off x="6217920" y="2834639"/>
            <a:ext cx="5394960" cy="292608"/>
          </a:xfrm>
          <a:prstGeom prst="rect">
            <a:avLst/>
          </a:prstGeom>
          <a:noFill/>
        </p:spPr>
        <p:txBody>
          <a:bodyPr wrap="square">
            <a:spAutoFit/>
          </a:bodyPr>
          <a:lstStyle/>
          <a:p>
            <a:pPr algn="l"/>
            <a:r>
              <a:rPr sz="1050" b="0" i="0">
                <a:solidFill>
                  <a:srgbClr val="F0F4F8"/>
                </a:solidFill>
                <a:latin typeface="Calibri"/>
              </a:rPr>
              <a:t>   • Skill assessment scores (platform-verified)</a:t>
            </a:r>
          </a:p>
        </p:txBody>
      </p:sp>
      <p:sp>
        <p:nvSpPr>
          <p:cNvPr id="28" name="TextBox 27"/>
          <p:cNvSpPr txBox="1"/>
          <p:nvPr/>
        </p:nvSpPr>
        <p:spPr>
          <a:xfrm>
            <a:off x="6217920" y="3273551"/>
            <a:ext cx="5394960" cy="320040"/>
          </a:xfrm>
          <a:prstGeom prst="rect">
            <a:avLst/>
          </a:prstGeom>
          <a:noFill/>
        </p:spPr>
        <p:txBody>
          <a:bodyPr wrap="square">
            <a:spAutoFit/>
          </a:bodyPr>
          <a:lstStyle/>
          <a:p>
            <a:pPr algn="l"/>
            <a:r>
              <a:rPr sz="1200" b="1" i="0">
                <a:solidFill>
                  <a:srgbClr val="CADCFC"/>
                </a:solidFill>
                <a:latin typeface="Calibri"/>
              </a:rPr>
              <a:t>▸  Experience &amp; Career</a:t>
            </a:r>
          </a:p>
        </p:txBody>
      </p:sp>
      <p:sp>
        <p:nvSpPr>
          <p:cNvPr id="29" name="TextBox 28"/>
          <p:cNvSpPr txBox="1"/>
          <p:nvPr/>
        </p:nvSpPr>
        <p:spPr>
          <a:xfrm>
            <a:off x="6217920" y="3593591"/>
            <a:ext cx="5394960" cy="292608"/>
          </a:xfrm>
          <a:prstGeom prst="rect">
            <a:avLst/>
          </a:prstGeom>
          <a:noFill/>
        </p:spPr>
        <p:txBody>
          <a:bodyPr wrap="square">
            <a:spAutoFit/>
          </a:bodyPr>
          <a:lstStyle/>
          <a:p>
            <a:pPr algn="l"/>
            <a:r>
              <a:rPr sz="1050" b="0" i="0">
                <a:solidFill>
                  <a:srgbClr val="F0F4F8"/>
                </a:solidFill>
                <a:latin typeface="Calibri"/>
              </a:rPr>
              <a:t>   • YOE · ML/AI career fraction · product vs consulting split</a:t>
            </a:r>
          </a:p>
        </p:txBody>
      </p:sp>
      <p:sp>
        <p:nvSpPr>
          <p:cNvPr id="30" name="TextBox 29"/>
          <p:cNvSpPr txBox="1"/>
          <p:nvPr/>
        </p:nvSpPr>
        <p:spPr>
          <a:xfrm>
            <a:off x="6217920" y="3867911"/>
            <a:ext cx="5394960" cy="292608"/>
          </a:xfrm>
          <a:prstGeom prst="rect">
            <a:avLst/>
          </a:prstGeom>
          <a:noFill/>
        </p:spPr>
        <p:txBody>
          <a:bodyPr wrap="square">
            <a:spAutoFit/>
          </a:bodyPr>
          <a:lstStyle/>
          <a:p>
            <a:pPr algn="l"/>
            <a:r>
              <a:rPr sz="1050" b="0" i="0">
                <a:solidFill>
                  <a:srgbClr val="F0F4F8"/>
                </a:solidFill>
                <a:latin typeface="Calibri"/>
              </a:rPr>
              <a:t>   • Shipped ranking / retrieval / recommendation system?</a:t>
            </a:r>
          </a:p>
        </p:txBody>
      </p:sp>
      <p:sp>
        <p:nvSpPr>
          <p:cNvPr id="31" name="TextBox 30"/>
          <p:cNvSpPr txBox="1"/>
          <p:nvPr/>
        </p:nvSpPr>
        <p:spPr>
          <a:xfrm>
            <a:off x="6217920" y="4142231"/>
            <a:ext cx="5394960" cy="292608"/>
          </a:xfrm>
          <a:prstGeom prst="rect">
            <a:avLst/>
          </a:prstGeom>
          <a:noFill/>
        </p:spPr>
        <p:txBody>
          <a:bodyPr wrap="square">
            <a:spAutoFit/>
          </a:bodyPr>
          <a:lstStyle/>
          <a:p>
            <a:pPr algn="l"/>
            <a:r>
              <a:rPr sz="1050" b="0" i="0">
                <a:solidFill>
                  <a:srgbClr val="F0F4F8"/>
                </a:solidFill>
                <a:latin typeface="Calibri"/>
              </a:rPr>
              <a:t>   • Title progression score · avg tenure · job-hopping flag</a:t>
            </a:r>
          </a:p>
        </p:txBody>
      </p:sp>
      <p:sp>
        <p:nvSpPr>
          <p:cNvPr id="32" name="TextBox 31"/>
          <p:cNvSpPr txBox="1"/>
          <p:nvPr/>
        </p:nvSpPr>
        <p:spPr>
          <a:xfrm>
            <a:off x="6217920" y="4581143"/>
            <a:ext cx="5394960" cy="320040"/>
          </a:xfrm>
          <a:prstGeom prst="rect">
            <a:avLst/>
          </a:prstGeom>
          <a:noFill/>
        </p:spPr>
        <p:txBody>
          <a:bodyPr wrap="square">
            <a:spAutoFit/>
          </a:bodyPr>
          <a:lstStyle/>
          <a:p>
            <a:pPr algn="l"/>
            <a:r>
              <a:rPr sz="1200" b="1" i="0">
                <a:solidFill>
                  <a:srgbClr val="F0C040"/>
                </a:solidFill>
                <a:latin typeface="Calibri"/>
              </a:rPr>
              <a:t>▸  Behavioral Signals</a:t>
            </a:r>
          </a:p>
        </p:txBody>
      </p:sp>
      <p:sp>
        <p:nvSpPr>
          <p:cNvPr id="33" name="TextBox 32"/>
          <p:cNvSpPr txBox="1"/>
          <p:nvPr/>
        </p:nvSpPr>
        <p:spPr>
          <a:xfrm>
            <a:off x="6217920" y="4901183"/>
            <a:ext cx="5394960" cy="292608"/>
          </a:xfrm>
          <a:prstGeom prst="rect">
            <a:avLst/>
          </a:prstGeom>
          <a:noFill/>
        </p:spPr>
        <p:txBody>
          <a:bodyPr wrap="square">
            <a:spAutoFit/>
          </a:bodyPr>
          <a:lstStyle/>
          <a:p>
            <a:pPr algn="l"/>
            <a:r>
              <a:rPr sz="1050" b="0" i="0">
                <a:solidFill>
                  <a:srgbClr val="F0F4F8"/>
                </a:solidFill>
                <a:latin typeface="Calibri"/>
              </a:rPr>
              <a:t>   • Days since last active · open-to-work flag</a:t>
            </a:r>
          </a:p>
        </p:txBody>
      </p:sp>
      <p:sp>
        <p:nvSpPr>
          <p:cNvPr id="34" name="TextBox 33"/>
          <p:cNvSpPr txBox="1"/>
          <p:nvPr/>
        </p:nvSpPr>
        <p:spPr>
          <a:xfrm>
            <a:off x="6217920" y="5175503"/>
            <a:ext cx="5394960" cy="292608"/>
          </a:xfrm>
          <a:prstGeom prst="rect">
            <a:avLst/>
          </a:prstGeom>
          <a:noFill/>
        </p:spPr>
        <p:txBody>
          <a:bodyPr wrap="square">
            <a:spAutoFit/>
          </a:bodyPr>
          <a:lstStyle/>
          <a:p>
            <a:pPr algn="l"/>
            <a:r>
              <a:rPr sz="1050" b="0" i="0">
                <a:solidFill>
                  <a:srgbClr val="F0F4F8"/>
                </a:solidFill>
                <a:latin typeface="Calibri"/>
              </a:rPr>
              <a:t>   • Recruiter response rate · interview completion rate</a:t>
            </a:r>
          </a:p>
        </p:txBody>
      </p:sp>
      <p:sp>
        <p:nvSpPr>
          <p:cNvPr id="35" name="TextBox 34"/>
          <p:cNvSpPr txBox="1"/>
          <p:nvPr/>
        </p:nvSpPr>
        <p:spPr>
          <a:xfrm>
            <a:off x="6217920" y="5449823"/>
            <a:ext cx="5394960" cy="292608"/>
          </a:xfrm>
          <a:prstGeom prst="rect">
            <a:avLst/>
          </a:prstGeom>
          <a:noFill/>
        </p:spPr>
        <p:txBody>
          <a:bodyPr wrap="square">
            <a:spAutoFit/>
          </a:bodyPr>
          <a:lstStyle/>
          <a:p>
            <a:pPr algn="l"/>
            <a:r>
              <a:rPr sz="1050" b="0" i="0">
                <a:solidFill>
                  <a:srgbClr val="F0F4F8"/>
                </a:solidFill>
                <a:latin typeface="Calibri"/>
              </a:rPr>
              <a:t>   • GitHub activity score (0–100) · notice period fit</a:t>
            </a:r>
          </a:p>
        </p:txBody>
      </p:sp>
      <p:sp>
        <p:nvSpPr>
          <p:cNvPr id="36" name="TextBox 35"/>
          <p:cNvSpPr txBox="1"/>
          <p:nvPr/>
        </p:nvSpPr>
        <p:spPr>
          <a:xfrm>
            <a:off x="6217920" y="5888735"/>
            <a:ext cx="5394960" cy="320040"/>
          </a:xfrm>
          <a:prstGeom prst="rect">
            <a:avLst/>
          </a:prstGeom>
          <a:noFill/>
        </p:spPr>
        <p:txBody>
          <a:bodyPr wrap="square">
            <a:spAutoFit/>
          </a:bodyPr>
          <a:lstStyle/>
          <a:p>
            <a:pPr algn="l"/>
            <a:r>
              <a:rPr sz="1200" b="1" i="0">
                <a:solidFill>
                  <a:srgbClr val="F96167"/>
                </a:solidFill>
                <a:latin typeface="Calibri"/>
              </a:rPr>
              <a:t>▸  Domain &amp; Education</a:t>
            </a:r>
          </a:p>
        </p:txBody>
      </p:sp>
      <p:sp>
        <p:nvSpPr>
          <p:cNvPr id="37" name="TextBox 36"/>
          <p:cNvSpPr txBox="1"/>
          <p:nvPr/>
        </p:nvSpPr>
        <p:spPr>
          <a:xfrm>
            <a:off x="6217920" y="6208775"/>
            <a:ext cx="5394960" cy="292608"/>
          </a:xfrm>
          <a:prstGeom prst="rect">
            <a:avLst/>
          </a:prstGeom>
          <a:noFill/>
        </p:spPr>
        <p:txBody>
          <a:bodyPr wrap="square">
            <a:spAutoFit/>
          </a:bodyPr>
          <a:lstStyle/>
          <a:p>
            <a:pPr algn="l"/>
            <a:r>
              <a:rPr sz="1050" b="0" i="0">
                <a:solidFill>
                  <a:srgbClr val="F0F4F8"/>
                </a:solidFill>
                <a:latin typeface="Calibri"/>
              </a:rPr>
              <a:t>   • Is current title ML/AI? ML career fraction &gt;50%?</a:t>
            </a:r>
          </a:p>
        </p:txBody>
      </p:sp>
      <p:sp>
        <p:nvSpPr>
          <p:cNvPr id="38" name="TextBox 37"/>
          <p:cNvSpPr txBox="1"/>
          <p:nvPr/>
        </p:nvSpPr>
        <p:spPr>
          <a:xfrm>
            <a:off x="6217920" y="6483095"/>
            <a:ext cx="5394960" cy="292608"/>
          </a:xfrm>
          <a:prstGeom prst="rect">
            <a:avLst/>
          </a:prstGeom>
          <a:noFill/>
        </p:spPr>
        <p:txBody>
          <a:bodyPr wrap="square">
            <a:spAutoFit/>
          </a:bodyPr>
          <a:lstStyle/>
          <a:p>
            <a:pPr algn="l"/>
            <a:r>
              <a:rPr sz="1050" b="0" i="0">
                <a:solidFill>
                  <a:srgbClr val="F0F4F8"/>
                </a:solidFill>
                <a:latin typeface="Calibri"/>
              </a:rPr>
              <a:t>   • Institution tier (IIT/IISc=1 → Tier-4=4) · CS/STEM field</a:t>
            </a:r>
          </a:p>
        </p:txBody>
      </p:sp>
      <p:sp>
        <p:nvSpPr>
          <p:cNvPr id="39" name="TextBox 38"/>
          <p:cNvSpPr txBox="1"/>
          <p:nvPr/>
        </p:nvSpPr>
        <p:spPr>
          <a:xfrm>
            <a:off x="6217920" y="6757415"/>
            <a:ext cx="5394960" cy="292608"/>
          </a:xfrm>
          <a:prstGeom prst="rect">
            <a:avLst/>
          </a:prstGeom>
          <a:noFill/>
        </p:spPr>
        <p:txBody>
          <a:bodyPr wrap="square">
            <a:spAutoFit/>
          </a:bodyPr>
          <a:lstStyle/>
          <a:p>
            <a:pPr algn="l"/>
            <a:r>
              <a:rPr sz="1050" b="0" i="0">
                <a:solidFill>
                  <a:srgbClr val="F0F4F8"/>
                </a:solidFill>
                <a:latin typeface="Calibri"/>
              </a:rPr>
              <a:t>   • Certifications · publications · open-source contributions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Retrieval, Scoring &amp; Ranking</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From 100,000 candidates to top-100 using semantic search + multi-signal scoring</a:t>
            </a:r>
          </a:p>
        </p:txBody>
      </p:sp>
      <p:sp>
        <p:nvSpPr>
          <p:cNvPr id="4" name="Rounded Rectangle 3"/>
          <p:cNvSpPr/>
          <p:nvPr/>
        </p:nvSpPr>
        <p:spPr>
          <a:xfrm>
            <a:off x="256032" y="1353312"/>
            <a:ext cx="1353312"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1426464"/>
            <a:ext cx="1243584" cy="603503"/>
          </a:xfrm>
          <a:prstGeom prst="rect">
            <a:avLst/>
          </a:prstGeom>
          <a:noFill/>
        </p:spPr>
        <p:txBody>
          <a:bodyPr wrap="square">
            <a:spAutoFit/>
          </a:bodyPr>
          <a:lstStyle/>
          <a:p>
            <a:pPr algn="ctr"/>
            <a:r>
              <a:rPr sz="1000" b="1" i="0">
                <a:solidFill>
                  <a:srgbClr val="FFFFFF"/>
                </a:solidFill>
                <a:latin typeface="Calibri"/>
              </a:rPr>
              <a:t>100K
Candidates</a:t>
            </a:r>
          </a:p>
        </p:txBody>
      </p:sp>
      <p:sp>
        <p:nvSpPr>
          <p:cNvPr id="6" name="TextBox 5"/>
          <p:cNvSpPr txBox="1"/>
          <p:nvPr/>
        </p:nvSpPr>
        <p:spPr>
          <a:xfrm>
            <a:off x="163677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7" name="Rounded Rectangle 6"/>
          <p:cNvSpPr/>
          <p:nvPr/>
        </p:nvSpPr>
        <p:spPr>
          <a:xfrm>
            <a:off x="1719072" y="1353312"/>
            <a:ext cx="1353312" cy="749808"/>
          </a:xfrm>
          <a:prstGeom prst="roundRect">
            <a:avLst/>
          </a:prstGeom>
          <a:solidFill>
            <a:srgbClr val="065A82"/>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73936" y="1426464"/>
            <a:ext cx="1243584" cy="603503"/>
          </a:xfrm>
          <a:prstGeom prst="rect">
            <a:avLst/>
          </a:prstGeom>
          <a:noFill/>
        </p:spPr>
        <p:txBody>
          <a:bodyPr wrap="square">
            <a:spAutoFit/>
          </a:bodyPr>
          <a:lstStyle/>
          <a:p>
            <a:pPr algn="ctr"/>
            <a:r>
              <a:rPr sz="1000" b="1" i="0">
                <a:solidFill>
                  <a:srgbClr val="FFFFFF"/>
                </a:solidFill>
                <a:latin typeface="Calibri"/>
              </a:rPr>
              <a:t>Stage 0
Pre-filter</a:t>
            </a:r>
          </a:p>
        </p:txBody>
      </p:sp>
      <p:sp>
        <p:nvSpPr>
          <p:cNvPr id="9" name="TextBox 8"/>
          <p:cNvSpPr txBox="1"/>
          <p:nvPr/>
        </p:nvSpPr>
        <p:spPr>
          <a:xfrm>
            <a:off x="309981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10" name="Rounded Rectangle 9"/>
          <p:cNvSpPr/>
          <p:nvPr/>
        </p:nvSpPr>
        <p:spPr>
          <a:xfrm>
            <a:off x="3182112" y="1353312"/>
            <a:ext cx="1353312"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36976" y="1426464"/>
            <a:ext cx="1243584" cy="603503"/>
          </a:xfrm>
          <a:prstGeom prst="rect">
            <a:avLst/>
          </a:prstGeom>
          <a:noFill/>
        </p:spPr>
        <p:txBody>
          <a:bodyPr wrap="square">
            <a:spAutoFit/>
          </a:bodyPr>
          <a:lstStyle/>
          <a:p>
            <a:pPr algn="ctr"/>
            <a:r>
              <a:rPr sz="1000" b="1" i="0">
                <a:solidFill>
                  <a:srgbClr val="FFFFFF"/>
                </a:solidFill>
                <a:latin typeface="Calibri"/>
              </a:rPr>
              <a:t>8K
ML Candidates</a:t>
            </a:r>
          </a:p>
        </p:txBody>
      </p:sp>
      <p:sp>
        <p:nvSpPr>
          <p:cNvPr id="12" name="TextBox 11"/>
          <p:cNvSpPr txBox="1"/>
          <p:nvPr/>
        </p:nvSpPr>
        <p:spPr>
          <a:xfrm>
            <a:off x="456285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13" name="Rounded Rectangle 12"/>
          <p:cNvSpPr/>
          <p:nvPr/>
        </p:nvSpPr>
        <p:spPr>
          <a:xfrm>
            <a:off x="4645152" y="1353312"/>
            <a:ext cx="1353312" cy="749808"/>
          </a:xfrm>
          <a:prstGeom prst="roundRect">
            <a:avLst/>
          </a:prstGeom>
          <a:solidFill>
            <a:srgbClr val="065A82"/>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0016" y="1426464"/>
            <a:ext cx="1243584" cy="603503"/>
          </a:xfrm>
          <a:prstGeom prst="rect">
            <a:avLst/>
          </a:prstGeom>
          <a:noFill/>
        </p:spPr>
        <p:txBody>
          <a:bodyPr wrap="square">
            <a:spAutoFit/>
          </a:bodyPr>
          <a:lstStyle/>
          <a:p>
            <a:pPr algn="ctr"/>
            <a:r>
              <a:rPr sz="1000" b="1" i="0">
                <a:solidFill>
                  <a:srgbClr val="FFFFFF"/>
                </a:solidFill>
                <a:latin typeface="Calibri"/>
              </a:rPr>
              <a:t>TF-IDF
Index</a:t>
            </a:r>
          </a:p>
        </p:txBody>
      </p:sp>
      <p:sp>
        <p:nvSpPr>
          <p:cNvPr id="15" name="TextBox 14"/>
          <p:cNvSpPr txBox="1"/>
          <p:nvPr/>
        </p:nvSpPr>
        <p:spPr>
          <a:xfrm>
            <a:off x="602589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16" name="Rounded Rectangle 15"/>
          <p:cNvSpPr/>
          <p:nvPr/>
        </p:nvSpPr>
        <p:spPr>
          <a:xfrm>
            <a:off x="6108192" y="1353312"/>
            <a:ext cx="1353312"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6" y="1426464"/>
            <a:ext cx="1243584" cy="603503"/>
          </a:xfrm>
          <a:prstGeom prst="rect">
            <a:avLst/>
          </a:prstGeom>
          <a:noFill/>
        </p:spPr>
        <p:txBody>
          <a:bodyPr wrap="square">
            <a:spAutoFit/>
          </a:bodyPr>
          <a:lstStyle/>
          <a:p>
            <a:pPr algn="ctr"/>
            <a:r>
              <a:rPr sz="1000" b="1" i="0">
                <a:solidFill>
                  <a:srgbClr val="FFFFFF"/>
                </a:solidFill>
                <a:latin typeface="Calibri"/>
              </a:rPr>
              <a:t>Top 500
Retrieved</a:t>
            </a:r>
          </a:p>
        </p:txBody>
      </p:sp>
      <p:sp>
        <p:nvSpPr>
          <p:cNvPr id="18" name="TextBox 17"/>
          <p:cNvSpPr txBox="1"/>
          <p:nvPr/>
        </p:nvSpPr>
        <p:spPr>
          <a:xfrm>
            <a:off x="748893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19" name="Rounded Rectangle 18"/>
          <p:cNvSpPr/>
          <p:nvPr/>
        </p:nvSpPr>
        <p:spPr>
          <a:xfrm>
            <a:off x="7571231" y="1353312"/>
            <a:ext cx="1353312" cy="749808"/>
          </a:xfrm>
          <a:prstGeom prst="roundRect">
            <a:avLst/>
          </a:prstGeom>
          <a:solidFill>
            <a:srgbClr val="065A82"/>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1426464"/>
            <a:ext cx="1243584" cy="603503"/>
          </a:xfrm>
          <a:prstGeom prst="rect">
            <a:avLst/>
          </a:prstGeom>
          <a:noFill/>
        </p:spPr>
        <p:txBody>
          <a:bodyPr wrap="square">
            <a:spAutoFit/>
          </a:bodyPr>
          <a:lstStyle/>
          <a:p>
            <a:pPr algn="ctr"/>
            <a:r>
              <a:rPr sz="1000" b="1" i="0">
                <a:solidFill>
                  <a:srgbClr val="FFFFFF"/>
                </a:solidFill>
                <a:latin typeface="Calibri"/>
              </a:rPr>
              <a:t>7-Signal
Scorer</a:t>
            </a:r>
          </a:p>
        </p:txBody>
      </p:sp>
      <p:sp>
        <p:nvSpPr>
          <p:cNvPr id="21" name="TextBox 20"/>
          <p:cNvSpPr txBox="1"/>
          <p:nvPr/>
        </p:nvSpPr>
        <p:spPr>
          <a:xfrm>
            <a:off x="895197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22" name="Rounded Rectangle 21"/>
          <p:cNvSpPr/>
          <p:nvPr/>
        </p:nvSpPr>
        <p:spPr>
          <a:xfrm>
            <a:off x="9034272" y="1353312"/>
            <a:ext cx="1353312" cy="749808"/>
          </a:xfrm>
          <a:prstGeom prst="roundRect">
            <a:avLst/>
          </a:prstGeom>
          <a:solidFill>
            <a:srgbClr val="065A82"/>
          </a:solidFill>
          <a:ln w="9525">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1426464"/>
            <a:ext cx="1243584" cy="603503"/>
          </a:xfrm>
          <a:prstGeom prst="rect">
            <a:avLst/>
          </a:prstGeom>
          <a:noFill/>
        </p:spPr>
        <p:txBody>
          <a:bodyPr wrap="square">
            <a:spAutoFit/>
          </a:bodyPr>
          <a:lstStyle/>
          <a:p>
            <a:pPr algn="ctr"/>
            <a:r>
              <a:rPr sz="1000" b="1" i="0">
                <a:solidFill>
                  <a:srgbClr val="FFFFFF"/>
                </a:solidFill>
                <a:latin typeface="Calibri"/>
              </a:rPr>
              <a:t>Re-Ranker
+ Filters</a:t>
            </a:r>
          </a:p>
        </p:txBody>
      </p:sp>
      <p:sp>
        <p:nvSpPr>
          <p:cNvPr id="24" name="TextBox 23"/>
          <p:cNvSpPr txBox="1"/>
          <p:nvPr/>
        </p:nvSpPr>
        <p:spPr>
          <a:xfrm>
            <a:off x="10415016" y="1572768"/>
            <a:ext cx="182880" cy="365760"/>
          </a:xfrm>
          <a:prstGeom prst="rect">
            <a:avLst/>
          </a:prstGeom>
          <a:noFill/>
        </p:spPr>
        <p:txBody>
          <a:bodyPr wrap="square">
            <a:spAutoFit/>
          </a:bodyPr>
          <a:lstStyle/>
          <a:p>
            <a:pPr algn="ctr"/>
            <a:r>
              <a:rPr sz="1400" b="1" i="0">
                <a:solidFill>
                  <a:srgbClr val="1C7293"/>
                </a:solidFill>
                <a:latin typeface="Calibri"/>
              </a:rPr>
              <a:t>→</a:t>
            </a:r>
          </a:p>
        </p:txBody>
      </p:sp>
      <p:sp>
        <p:nvSpPr>
          <p:cNvPr id="25" name="Rounded Rectangle 24"/>
          <p:cNvSpPr/>
          <p:nvPr/>
        </p:nvSpPr>
        <p:spPr>
          <a:xfrm>
            <a:off x="10497312" y="1353312"/>
            <a:ext cx="1353312" cy="749808"/>
          </a:xfrm>
          <a:prstGeom prst="roundRect">
            <a:avLst/>
          </a:prstGeom>
          <a:solidFill>
            <a:srgbClr val="0D1B2A"/>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52176" y="1426464"/>
            <a:ext cx="1243584" cy="603503"/>
          </a:xfrm>
          <a:prstGeom prst="rect">
            <a:avLst/>
          </a:prstGeom>
          <a:noFill/>
        </p:spPr>
        <p:txBody>
          <a:bodyPr wrap="square">
            <a:spAutoFit/>
          </a:bodyPr>
          <a:lstStyle/>
          <a:p>
            <a:pPr algn="ctr"/>
            <a:r>
              <a:rPr sz="1000" b="1" i="0">
                <a:solidFill>
                  <a:srgbClr val="FFFFFF"/>
                </a:solidFill>
                <a:latin typeface="Calibri"/>
              </a:rPr>
              <a:t>Top 100
Ranked</a:t>
            </a:r>
          </a:p>
        </p:txBody>
      </p:sp>
      <p:sp>
        <p:nvSpPr>
          <p:cNvPr id="59" name="Rounded Rectangle 58"/>
          <p:cNvSpPr/>
          <p:nvPr/>
        </p:nvSpPr>
        <p:spPr>
          <a:xfrm>
            <a:off x="6355080" y="2304288"/>
            <a:ext cx="5440680" cy="4224528"/>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10528" y="2423160"/>
            <a:ext cx="5166360" cy="438912"/>
          </a:xfrm>
          <a:prstGeom prst="rect">
            <a:avLst/>
          </a:prstGeom>
          <a:noFill/>
        </p:spPr>
        <p:txBody>
          <a:bodyPr wrap="square">
            <a:spAutoFit/>
          </a:bodyPr>
          <a:lstStyle/>
          <a:p>
            <a:pPr algn="l"/>
            <a:r>
              <a:rPr sz="1500" b="1" i="0">
                <a:solidFill>
                  <a:srgbClr val="F0C040"/>
                </a:solidFill>
                <a:latin typeface="Calibri"/>
              </a:rPr>
              <a:t>🔄  Re-Ranker Rules</a:t>
            </a:r>
          </a:p>
        </p:txBody>
      </p:sp>
      <p:sp>
        <p:nvSpPr>
          <p:cNvPr id="61" name="Rounded Rectangle 60"/>
          <p:cNvSpPr/>
          <p:nvPr/>
        </p:nvSpPr>
        <p:spPr>
          <a:xfrm>
            <a:off x="6492240" y="2834640"/>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65392" y="2907792"/>
            <a:ext cx="1325880" cy="320040"/>
          </a:xfrm>
          <a:prstGeom prst="rect">
            <a:avLst/>
          </a:prstGeom>
          <a:noFill/>
        </p:spPr>
        <p:txBody>
          <a:bodyPr wrap="square">
            <a:spAutoFit/>
          </a:bodyPr>
          <a:lstStyle/>
          <a:p>
            <a:pPr algn="l"/>
            <a:r>
              <a:rPr sz="1000" b="1" i="0">
                <a:solidFill>
                  <a:srgbClr val="02C39A"/>
                </a:solidFill>
                <a:latin typeface="Calibri"/>
              </a:rPr>
              <a:t>BOOST  ×1.10</a:t>
            </a:r>
          </a:p>
        </p:txBody>
      </p:sp>
      <p:sp>
        <p:nvSpPr>
          <p:cNvPr id="63" name="TextBox 62"/>
          <p:cNvSpPr txBox="1"/>
          <p:nvPr/>
        </p:nvSpPr>
        <p:spPr>
          <a:xfrm>
            <a:off x="7909560" y="2907792"/>
            <a:ext cx="3566160" cy="320040"/>
          </a:xfrm>
          <a:prstGeom prst="rect">
            <a:avLst/>
          </a:prstGeom>
          <a:noFill/>
        </p:spPr>
        <p:txBody>
          <a:bodyPr wrap="square">
            <a:spAutoFit/>
          </a:bodyPr>
          <a:lstStyle/>
          <a:p>
            <a:pPr algn="l"/>
            <a:r>
              <a:rPr sz="1050" b="0" i="0">
                <a:solidFill>
                  <a:srgbClr val="F0F4F8"/>
                </a:solidFill>
                <a:latin typeface="Calibri"/>
              </a:rPr>
              <a:t>Has hard-required ML skill (FAISS, embeddings…)</a:t>
            </a:r>
          </a:p>
        </p:txBody>
      </p:sp>
      <p:sp>
        <p:nvSpPr>
          <p:cNvPr id="64" name="Rounded Rectangle 63"/>
          <p:cNvSpPr/>
          <p:nvPr/>
        </p:nvSpPr>
        <p:spPr>
          <a:xfrm>
            <a:off x="6492240" y="3364992"/>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65392" y="3438144"/>
            <a:ext cx="1325880" cy="320040"/>
          </a:xfrm>
          <a:prstGeom prst="rect">
            <a:avLst/>
          </a:prstGeom>
          <a:noFill/>
        </p:spPr>
        <p:txBody>
          <a:bodyPr wrap="square">
            <a:spAutoFit/>
          </a:bodyPr>
          <a:lstStyle/>
          <a:p>
            <a:pPr algn="l"/>
            <a:r>
              <a:rPr sz="1000" b="1" i="0">
                <a:solidFill>
                  <a:srgbClr val="02C39A"/>
                </a:solidFill>
                <a:latin typeface="Calibri"/>
              </a:rPr>
              <a:t>BOOST  ×1.08</a:t>
            </a:r>
          </a:p>
        </p:txBody>
      </p:sp>
      <p:sp>
        <p:nvSpPr>
          <p:cNvPr id="66" name="TextBox 65"/>
          <p:cNvSpPr txBox="1"/>
          <p:nvPr/>
        </p:nvSpPr>
        <p:spPr>
          <a:xfrm>
            <a:off x="7909560" y="3438144"/>
            <a:ext cx="3566160" cy="320040"/>
          </a:xfrm>
          <a:prstGeom prst="rect">
            <a:avLst/>
          </a:prstGeom>
          <a:noFill/>
        </p:spPr>
        <p:txBody>
          <a:bodyPr wrap="square">
            <a:spAutoFit/>
          </a:bodyPr>
          <a:lstStyle/>
          <a:p>
            <a:pPr algn="l"/>
            <a:r>
              <a:rPr sz="1050" b="0" i="0">
                <a:solidFill>
                  <a:srgbClr val="F0F4F8"/>
                </a:solidFill>
                <a:latin typeface="Calibri"/>
              </a:rPr>
              <a:t>Shipped ranking / retrieval system to production</a:t>
            </a:r>
          </a:p>
        </p:txBody>
      </p:sp>
      <p:sp>
        <p:nvSpPr>
          <p:cNvPr id="67" name="Rounded Rectangle 66"/>
          <p:cNvSpPr/>
          <p:nvPr/>
        </p:nvSpPr>
        <p:spPr>
          <a:xfrm>
            <a:off x="6492240" y="3895344"/>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65392" y="3968496"/>
            <a:ext cx="1325880" cy="320040"/>
          </a:xfrm>
          <a:prstGeom prst="rect">
            <a:avLst/>
          </a:prstGeom>
          <a:noFill/>
        </p:spPr>
        <p:txBody>
          <a:bodyPr wrap="square">
            <a:spAutoFit/>
          </a:bodyPr>
          <a:lstStyle/>
          <a:p>
            <a:pPr algn="l"/>
            <a:r>
              <a:rPr sz="1000" b="1" i="0">
                <a:solidFill>
                  <a:srgbClr val="02C39A"/>
                </a:solidFill>
                <a:latin typeface="Calibri"/>
              </a:rPr>
              <a:t>BOOST  ×1.05</a:t>
            </a:r>
          </a:p>
        </p:txBody>
      </p:sp>
      <p:sp>
        <p:nvSpPr>
          <p:cNvPr id="69" name="TextBox 68"/>
          <p:cNvSpPr txBox="1"/>
          <p:nvPr/>
        </p:nvSpPr>
        <p:spPr>
          <a:xfrm>
            <a:off x="7909560" y="3968496"/>
            <a:ext cx="3566160" cy="320040"/>
          </a:xfrm>
          <a:prstGeom prst="rect">
            <a:avLst/>
          </a:prstGeom>
          <a:noFill/>
        </p:spPr>
        <p:txBody>
          <a:bodyPr wrap="square">
            <a:spAutoFit/>
          </a:bodyPr>
          <a:lstStyle/>
          <a:p>
            <a:pPr algn="l"/>
            <a:r>
              <a:rPr sz="1050" b="0" i="0">
                <a:solidFill>
                  <a:srgbClr val="F0F4F8"/>
                </a:solidFill>
                <a:latin typeface="Calibri"/>
              </a:rPr>
              <a:t>Product-company career fraction &gt; 50%</a:t>
            </a:r>
          </a:p>
        </p:txBody>
      </p:sp>
      <p:sp>
        <p:nvSpPr>
          <p:cNvPr id="70" name="Rounded Rectangle 69"/>
          <p:cNvSpPr/>
          <p:nvPr/>
        </p:nvSpPr>
        <p:spPr>
          <a:xfrm>
            <a:off x="6492240" y="4425696"/>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65392" y="4498848"/>
            <a:ext cx="1325880" cy="320040"/>
          </a:xfrm>
          <a:prstGeom prst="rect">
            <a:avLst/>
          </a:prstGeom>
          <a:noFill/>
        </p:spPr>
        <p:txBody>
          <a:bodyPr wrap="square">
            <a:spAutoFit/>
          </a:bodyPr>
          <a:lstStyle/>
          <a:p>
            <a:pPr algn="l"/>
            <a:r>
              <a:rPr sz="1000" b="1" i="0">
                <a:solidFill>
                  <a:srgbClr val="F96167"/>
                </a:solidFill>
                <a:latin typeface="Calibri"/>
              </a:rPr>
              <a:t>PENALTY ×0.50</a:t>
            </a:r>
          </a:p>
        </p:txBody>
      </p:sp>
      <p:sp>
        <p:nvSpPr>
          <p:cNvPr id="72" name="TextBox 71"/>
          <p:cNvSpPr txBox="1"/>
          <p:nvPr/>
        </p:nvSpPr>
        <p:spPr>
          <a:xfrm>
            <a:off x="7909560" y="4498848"/>
            <a:ext cx="3566160" cy="320040"/>
          </a:xfrm>
          <a:prstGeom prst="rect">
            <a:avLst/>
          </a:prstGeom>
          <a:noFill/>
        </p:spPr>
        <p:txBody>
          <a:bodyPr wrap="square">
            <a:spAutoFit/>
          </a:bodyPr>
          <a:lstStyle/>
          <a:p>
            <a:pPr algn="l"/>
            <a:r>
              <a:rPr sz="1050" b="0" i="0">
                <a:solidFill>
                  <a:srgbClr val="F0F4F8"/>
                </a:solidFill>
                <a:latin typeface="Calibri"/>
              </a:rPr>
              <a:t>Last active &gt; 180 days (ghost candidate)</a:t>
            </a:r>
          </a:p>
        </p:txBody>
      </p:sp>
      <p:sp>
        <p:nvSpPr>
          <p:cNvPr id="73" name="Rounded Rectangle 72"/>
          <p:cNvSpPr/>
          <p:nvPr/>
        </p:nvSpPr>
        <p:spPr>
          <a:xfrm>
            <a:off x="6492240" y="4956048"/>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65392" y="5029200"/>
            <a:ext cx="1325880" cy="320040"/>
          </a:xfrm>
          <a:prstGeom prst="rect">
            <a:avLst/>
          </a:prstGeom>
          <a:noFill/>
        </p:spPr>
        <p:txBody>
          <a:bodyPr wrap="square">
            <a:spAutoFit/>
          </a:bodyPr>
          <a:lstStyle/>
          <a:p>
            <a:pPr algn="l"/>
            <a:r>
              <a:rPr sz="1000" b="1" i="0">
                <a:solidFill>
                  <a:srgbClr val="F96167"/>
                </a:solidFill>
                <a:latin typeface="Calibri"/>
              </a:rPr>
              <a:t>PENALTY ×0.40</a:t>
            </a:r>
          </a:p>
        </p:txBody>
      </p:sp>
      <p:sp>
        <p:nvSpPr>
          <p:cNvPr id="75" name="TextBox 74"/>
          <p:cNvSpPr txBox="1"/>
          <p:nvPr/>
        </p:nvSpPr>
        <p:spPr>
          <a:xfrm>
            <a:off x="7909560" y="5029200"/>
            <a:ext cx="3566160" cy="320040"/>
          </a:xfrm>
          <a:prstGeom prst="rect">
            <a:avLst/>
          </a:prstGeom>
          <a:noFill/>
        </p:spPr>
        <p:txBody>
          <a:bodyPr wrap="square">
            <a:spAutoFit/>
          </a:bodyPr>
          <a:lstStyle/>
          <a:p>
            <a:pPr algn="l"/>
            <a:r>
              <a:rPr sz="1050" b="0" i="0">
                <a:solidFill>
                  <a:srgbClr val="F0F4F8"/>
                </a:solidFill>
                <a:latin typeface="Calibri"/>
              </a:rPr>
              <a:t>Consulting-only career (&gt;95% in IT services)</a:t>
            </a:r>
          </a:p>
        </p:txBody>
      </p:sp>
      <p:sp>
        <p:nvSpPr>
          <p:cNvPr id="76" name="Rounded Rectangle 75"/>
          <p:cNvSpPr/>
          <p:nvPr/>
        </p:nvSpPr>
        <p:spPr>
          <a:xfrm>
            <a:off x="6492240" y="5486400"/>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565392" y="5559552"/>
            <a:ext cx="1325880" cy="320040"/>
          </a:xfrm>
          <a:prstGeom prst="rect">
            <a:avLst/>
          </a:prstGeom>
          <a:noFill/>
        </p:spPr>
        <p:txBody>
          <a:bodyPr wrap="square">
            <a:spAutoFit/>
          </a:bodyPr>
          <a:lstStyle/>
          <a:p>
            <a:pPr algn="l"/>
            <a:r>
              <a:rPr sz="1000" b="1" i="0">
                <a:solidFill>
                  <a:srgbClr val="F96167"/>
                </a:solidFill>
                <a:latin typeface="Calibri"/>
              </a:rPr>
              <a:t>PENALTY ×0.25</a:t>
            </a:r>
          </a:p>
        </p:txBody>
      </p:sp>
      <p:sp>
        <p:nvSpPr>
          <p:cNvPr id="78" name="TextBox 77"/>
          <p:cNvSpPr txBox="1"/>
          <p:nvPr/>
        </p:nvSpPr>
        <p:spPr>
          <a:xfrm>
            <a:off x="7909560" y="5559552"/>
            <a:ext cx="3566160" cy="320040"/>
          </a:xfrm>
          <a:prstGeom prst="rect">
            <a:avLst/>
          </a:prstGeom>
          <a:noFill/>
        </p:spPr>
        <p:txBody>
          <a:bodyPr wrap="square">
            <a:spAutoFit/>
          </a:bodyPr>
          <a:lstStyle/>
          <a:p>
            <a:pPr algn="l"/>
            <a:r>
              <a:rPr sz="1050" b="0" i="0">
                <a:solidFill>
                  <a:srgbClr val="F0F4F8"/>
                </a:solidFill>
                <a:latin typeface="Calibri"/>
              </a:rPr>
              <a:t>Disqualifying title (Marketing Mgr, Civil Eng…)</a:t>
            </a:r>
          </a:p>
        </p:txBody>
      </p:sp>
      <p:sp>
        <p:nvSpPr>
          <p:cNvPr id="79" name="Rounded Rectangle 78"/>
          <p:cNvSpPr/>
          <p:nvPr/>
        </p:nvSpPr>
        <p:spPr>
          <a:xfrm>
            <a:off x="6492240" y="6016752"/>
            <a:ext cx="5138928" cy="457200"/>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565392" y="6089904"/>
            <a:ext cx="1325880" cy="320040"/>
          </a:xfrm>
          <a:prstGeom prst="rect">
            <a:avLst/>
          </a:prstGeom>
          <a:noFill/>
        </p:spPr>
        <p:txBody>
          <a:bodyPr wrap="square">
            <a:spAutoFit/>
          </a:bodyPr>
          <a:lstStyle/>
          <a:p>
            <a:pPr algn="l"/>
            <a:r>
              <a:rPr sz="1000" b="1" i="0">
                <a:solidFill>
                  <a:srgbClr val="F96167"/>
                </a:solidFill>
                <a:latin typeface="Calibri"/>
              </a:rPr>
              <a:t>EXCLUDE  ×0.0</a:t>
            </a:r>
          </a:p>
        </p:txBody>
      </p:sp>
      <p:sp>
        <p:nvSpPr>
          <p:cNvPr id="81" name="TextBox 80"/>
          <p:cNvSpPr txBox="1"/>
          <p:nvPr/>
        </p:nvSpPr>
        <p:spPr>
          <a:xfrm>
            <a:off x="7909560" y="6089904"/>
            <a:ext cx="3566160" cy="320040"/>
          </a:xfrm>
          <a:prstGeom prst="rect">
            <a:avLst/>
          </a:prstGeom>
          <a:noFill/>
        </p:spPr>
        <p:txBody>
          <a:bodyPr wrap="square">
            <a:spAutoFit/>
          </a:bodyPr>
          <a:lstStyle/>
          <a:p>
            <a:pPr algn="l"/>
            <a:r>
              <a:rPr sz="1050" b="0" i="0">
                <a:solidFill>
                  <a:srgbClr val="F0F4F8"/>
                </a:solidFill>
                <a:latin typeface="Calibri"/>
              </a:rPr>
              <a:t>Honeypot detected (impossible profile)</a:t>
            </a:r>
          </a:p>
        </p:txBody>
      </p:sp>
      <p:sp>
        <p:nvSpPr>
          <p:cNvPr id="82" name="TextBox 81"/>
          <p:cNvSpPr txBox="1"/>
          <p:nvPr/>
        </p:nvSpPr>
        <p:spPr>
          <a:xfrm>
            <a:off x="6355080" y="6419088"/>
            <a:ext cx="5394960" cy="365760"/>
          </a:xfrm>
          <a:prstGeom prst="rect">
            <a:avLst/>
          </a:prstGeom>
          <a:noFill/>
        </p:spPr>
        <p:txBody>
          <a:bodyPr wrap="square">
            <a:spAutoFit/>
          </a:bodyPr>
          <a:lstStyle/>
          <a:p>
            <a:pPr algn="l"/>
            <a:r>
              <a:rPr sz="1100" b="1" i="1">
                <a:solidFill>
                  <a:srgbClr val="02C39A"/>
                </a:solidFill>
                <a:latin typeface="Calibri"/>
              </a:rPr>
              <a:t>Result: 100/100 top-ranked candidates shipped a ranking or retrieval system.</a:t>
            </a:r>
          </a:p>
        </p:txBody>
      </p:sp>
      <p:sp>
        <p:nvSpPr>
          <p:cNvPr id="83" name="Rounded Rectangle 82"/>
          <p:cNvSpPr/>
          <p:nvPr/>
        </p:nvSpPr>
        <p:spPr>
          <a:xfrm>
            <a:off x="320040" y="2304288"/>
            <a:ext cx="5715000" cy="434340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2423160"/>
            <a:ext cx="5440680" cy="411480"/>
          </a:xfrm>
          <a:prstGeom prst="rect">
            <a:avLst/>
          </a:prstGeom>
          <a:noFill/>
        </p:spPr>
        <p:txBody>
          <a:bodyPr wrap="square">
            <a:spAutoFit/>
          </a:bodyPr>
          <a:lstStyle/>
          <a:p>
            <a:pPr algn="l"/>
            <a:r>
              <a:rPr sz="1500" b="1" i="0">
                <a:solidFill>
                  <a:srgbClr val="F0C040"/>
                </a:solidFill>
                <a:latin typeface="Calibri"/>
              </a:rPr>
              <a:t>⚙️  Scoring Formula</a:t>
            </a:r>
          </a:p>
        </p:txBody>
      </p:sp>
      <p:sp>
        <p:nvSpPr>
          <p:cNvPr id="85" name="TextBox 84"/>
          <p:cNvSpPr txBox="1"/>
          <p:nvPr/>
        </p:nvSpPr>
        <p:spPr>
          <a:xfrm>
            <a:off x="502920" y="2880360"/>
            <a:ext cx="5394960" cy="411480"/>
          </a:xfrm>
          <a:prstGeom prst="rect">
            <a:avLst/>
          </a:prstGeom>
          <a:noFill/>
        </p:spPr>
        <p:txBody>
          <a:bodyPr wrap="square">
            <a:spAutoFit/>
          </a:bodyPr>
          <a:lstStyle/>
          <a:p>
            <a:pPr algn="l"/>
            <a:r>
              <a:rPr sz="1300" b="1" i="0">
                <a:solidFill>
                  <a:srgbClr val="02C39A"/>
                </a:solidFill>
                <a:latin typeface="Courier New"/>
              </a:rPr>
              <a:t>Final Score = Σ(wᵢ × Scoreᵢ) × (0.5 + 0.5 × Behavioral)</a:t>
            </a:r>
          </a:p>
        </p:txBody>
      </p:sp>
      <p:sp>
        <p:nvSpPr>
          <p:cNvPr id="86" name="TextBox 85"/>
          <p:cNvSpPr txBox="1"/>
          <p:nvPr/>
        </p:nvSpPr>
        <p:spPr>
          <a:xfrm>
            <a:off x="502920" y="3291840"/>
            <a:ext cx="5394960" cy="292608"/>
          </a:xfrm>
          <a:prstGeom prst="rect">
            <a:avLst/>
          </a:prstGeom>
          <a:noFill/>
        </p:spPr>
        <p:txBody>
          <a:bodyPr wrap="square">
            <a:spAutoFit/>
          </a:bodyPr>
          <a:lstStyle/>
          <a:p>
            <a:pPr algn="l"/>
            <a:r>
              <a:rPr sz="1050" b="0" i="1">
                <a:solidFill>
                  <a:srgbClr val="8BA8C4"/>
                </a:solidFill>
                <a:latin typeface="Calibri"/>
              </a:rPr>
              <a:t>Behavioral multiplier ensures ghost candidates cannot reach top-10.</a:t>
            </a:r>
          </a:p>
        </p:txBody>
      </p:sp>
      <p:sp>
        <p:nvSpPr>
          <p:cNvPr id="87" name="Rounded Rectangle 86"/>
          <p:cNvSpPr/>
          <p:nvPr/>
        </p:nvSpPr>
        <p:spPr>
          <a:xfrm>
            <a:off x="502920" y="3694176"/>
            <a:ext cx="457200" cy="256032"/>
          </a:xfrm>
          <a:prstGeom prst="roundRect">
            <a:avLst/>
          </a:prstGeom>
          <a:solidFill>
            <a:srgbClr val="02C39A"/>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 y="3703320"/>
            <a:ext cx="457200" cy="237744"/>
          </a:xfrm>
          <a:prstGeom prst="rect">
            <a:avLst/>
          </a:prstGeom>
          <a:noFill/>
        </p:spPr>
        <p:txBody>
          <a:bodyPr wrap="square">
            <a:spAutoFit/>
          </a:bodyPr>
          <a:lstStyle/>
          <a:p>
            <a:pPr algn="ctr"/>
            <a:r>
              <a:rPr sz="1000" b="1" i="0">
                <a:solidFill>
                  <a:srgbClr val="0D1B2A"/>
                </a:solidFill>
                <a:latin typeface="Calibri"/>
              </a:rPr>
              <a:t>30%</a:t>
            </a:r>
          </a:p>
        </p:txBody>
      </p:sp>
      <p:sp>
        <p:nvSpPr>
          <p:cNvPr id="89" name="TextBox 88"/>
          <p:cNvSpPr txBox="1"/>
          <p:nvPr/>
        </p:nvSpPr>
        <p:spPr>
          <a:xfrm>
            <a:off x="1024128" y="3694176"/>
            <a:ext cx="1463040" cy="256032"/>
          </a:xfrm>
          <a:prstGeom prst="rect">
            <a:avLst/>
          </a:prstGeom>
          <a:noFill/>
        </p:spPr>
        <p:txBody>
          <a:bodyPr wrap="square">
            <a:spAutoFit/>
          </a:bodyPr>
          <a:lstStyle/>
          <a:p>
            <a:pPr algn="l"/>
            <a:r>
              <a:rPr sz="1150" b="1" i="0">
                <a:solidFill>
                  <a:srgbClr val="02C39A"/>
                </a:solidFill>
                <a:latin typeface="Calibri"/>
              </a:rPr>
              <a:t>Skill Match</a:t>
            </a:r>
          </a:p>
        </p:txBody>
      </p:sp>
      <p:sp>
        <p:nvSpPr>
          <p:cNvPr id="90" name="TextBox 89"/>
          <p:cNvSpPr txBox="1"/>
          <p:nvPr/>
        </p:nvSpPr>
        <p:spPr>
          <a:xfrm>
            <a:off x="1024128" y="3950208"/>
            <a:ext cx="4434840" cy="237744"/>
          </a:xfrm>
          <a:prstGeom prst="rect">
            <a:avLst/>
          </a:prstGeom>
          <a:noFill/>
        </p:spPr>
        <p:txBody>
          <a:bodyPr wrap="square">
            <a:spAutoFit/>
          </a:bodyPr>
          <a:lstStyle/>
          <a:p>
            <a:pPr algn="l"/>
            <a:r>
              <a:rPr sz="1000" b="0" i="0">
                <a:solidFill>
                  <a:srgbClr val="8BA8C4"/>
                </a:solidFill>
                <a:latin typeface="Calibri"/>
              </a:rPr>
              <a:t>TF-IDF cosine sim + coverage + proficiency weight</a:t>
            </a:r>
          </a:p>
        </p:txBody>
      </p:sp>
      <p:sp>
        <p:nvSpPr>
          <p:cNvPr id="91" name="Rounded Rectangle 90"/>
          <p:cNvSpPr/>
          <p:nvPr/>
        </p:nvSpPr>
        <p:spPr>
          <a:xfrm>
            <a:off x="502920" y="4224528"/>
            <a:ext cx="457200" cy="256032"/>
          </a:xfrm>
          <a:prstGeom prst="roundRect">
            <a:avLst/>
          </a:prstGeom>
          <a:solidFill>
            <a:srgbClr val="CADCFC"/>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2920" y="4233672"/>
            <a:ext cx="457200" cy="237744"/>
          </a:xfrm>
          <a:prstGeom prst="rect">
            <a:avLst/>
          </a:prstGeom>
          <a:noFill/>
        </p:spPr>
        <p:txBody>
          <a:bodyPr wrap="square">
            <a:spAutoFit/>
          </a:bodyPr>
          <a:lstStyle/>
          <a:p>
            <a:pPr algn="ctr"/>
            <a:r>
              <a:rPr sz="1000" b="1" i="0">
                <a:solidFill>
                  <a:srgbClr val="0D1B2A"/>
                </a:solidFill>
                <a:latin typeface="Calibri"/>
              </a:rPr>
              <a:t>20%</a:t>
            </a:r>
          </a:p>
        </p:txBody>
      </p:sp>
      <p:sp>
        <p:nvSpPr>
          <p:cNvPr id="93" name="TextBox 92"/>
          <p:cNvSpPr txBox="1"/>
          <p:nvPr/>
        </p:nvSpPr>
        <p:spPr>
          <a:xfrm>
            <a:off x="1024128" y="4224528"/>
            <a:ext cx="1463040" cy="256032"/>
          </a:xfrm>
          <a:prstGeom prst="rect">
            <a:avLst/>
          </a:prstGeom>
          <a:noFill/>
        </p:spPr>
        <p:txBody>
          <a:bodyPr wrap="square">
            <a:spAutoFit/>
          </a:bodyPr>
          <a:lstStyle/>
          <a:p>
            <a:pPr algn="l"/>
            <a:r>
              <a:rPr sz="1150" b="1" i="0">
                <a:solidFill>
                  <a:srgbClr val="CADCFC"/>
                </a:solidFill>
                <a:latin typeface="Calibri"/>
              </a:rPr>
              <a:t>Experience</a:t>
            </a:r>
          </a:p>
        </p:txBody>
      </p:sp>
      <p:sp>
        <p:nvSpPr>
          <p:cNvPr id="94" name="TextBox 93"/>
          <p:cNvSpPr txBox="1"/>
          <p:nvPr/>
        </p:nvSpPr>
        <p:spPr>
          <a:xfrm>
            <a:off x="1024128" y="4480560"/>
            <a:ext cx="4434840" cy="237744"/>
          </a:xfrm>
          <a:prstGeom prst="rect">
            <a:avLst/>
          </a:prstGeom>
          <a:noFill/>
        </p:spPr>
        <p:txBody>
          <a:bodyPr wrap="square">
            <a:spAutoFit/>
          </a:bodyPr>
          <a:lstStyle/>
          <a:p>
            <a:pPr algn="l"/>
            <a:r>
              <a:rPr sz="1000" b="0" i="0">
                <a:solidFill>
                  <a:srgbClr val="8BA8C4"/>
                </a:solidFill>
                <a:latin typeface="Calibri"/>
              </a:rPr>
              <a:t>YOE band + product fraction + production ML signal</a:t>
            </a:r>
          </a:p>
        </p:txBody>
      </p:sp>
      <p:sp>
        <p:nvSpPr>
          <p:cNvPr id="95" name="Rounded Rectangle 94"/>
          <p:cNvSpPr/>
          <p:nvPr/>
        </p:nvSpPr>
        <p:spPr>
          <a:xfrm>
            <a:off x="502920" y="4754880"/>
            <a:ext cx="457200" cy="256032"/>
          </a:xfrm>
          <a:prstGeom prst="roundRect">
            <a:avLst/>
          </a:prstGeom>
          <a:solidFill>
            <a:srgbClr val="F0C040"/>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02920" y="4764024"/>
            <a:ext cx="457200" cy="237744"/>
          </a:xfrm>
          <a:prstGeom prst="rect">
            <a:avLst/>
          </a:prstGeom>
          <a:noFill/>
        </p:spPr>
        <p:txBody>
          <a:bodyPr wrap="square">
            <a:spAutoFit/>
          </a:bodyPr>
          <a:lstStyle/>
          <a:p>
            <a:pPr algn="ctr"/>
            <a:r>
              <a:rPr sz="1000" b="1" i="0">
                <a:solidFill>
                  <a:srgbClr val="0D1B2A"/>
                </a:solidFill>
                <a:latin typeface="Calibri"/>
              </a:rPr>
              <a:t>20%</a:t>
            </a:r>
          </a:p>
        </p:txBody>
      </p:sp>
      <p:sp>
        <p:nvSpPr>
          <p:cNvPr id="97" name="TextBox 96"/>
          <p:cNvSpPr txBox="1"/>
          <p:nvPr/>
        </p:nvSpPr>
        <p:spPr>
          <a:xfrm>
            <a:off x="1024128" y="4754880"/>
            <a:ext cx="1463040" cy="256032"/>
          </a:xfrm>
          <a:prstGeom prst="rect">
            <a:avLst/>
          </a:prstGeom>
          <a:noFill/>
        </p:spPr>
        <p:txBody>
          <a:bodyPr wrap="square">
            <a:spAutoFit/>
          </a:bodyPr>
          <a:lstStyle/>
          <a:p>
            <a:pPr algn="l"/>
            <a:r>
              <a:rPr sz="1150" b="1" i="0">
                <a:solidFill>
                  <a:srgbClr val="F0C040"/>
                </a:solidFill>
                <a:latin typeface="Calibri"/>
              </a:rPr>
              <a:t>Domain</a:t>
            </a:r>
          </a:p>
        </p:txBody>
      </p:sp>
      <p:sp>
        <p:nvSpPr>
          <p:cNvPr id="98" name="TextBox 97"/>
          <p:cNvSpPr txBox="1"/>
          <p:nvPr/>
        </p:nvSpPr>
        <p:spPr>
          <a:xfrm>
            <a:off x="1024128" y="5010912"/>
            <a:ext cx="4434840" cy="237744"/>
          </a:xfrm>
          <a:prstGeom prst="rect">
            <a:avLst/>
          </a:prstGeom>
          <a:noFill/>
        </p:spPr>
        <p:txBody>
          <a:bodyPr wrap="square">
            <a:spAutoFit/>
          </a:bodyPr>
          <a:lstStyle/>
          <a:p>
            <a:pPr algn="l"/>
            <a:r>
              <a:rPr sz="1000" b="0" i="0">
                <a:solidFill>
                  <a:srgbClr val="8BA8C4"/>
                </a:solidFill>
                <a:latin typeface="Calibri"/>
              </a:rPr>
              <a:t>Shipped ranking? ML title? ML career fraction?</a:t>
            </a:r>
          </a:p>
        </p:txBody>
      </p:sp>
      <p:sp>
        <p:nvSpPr>
          <p:cNvPr id="99" name="Rounded Rectangle 98"/>
          <p:cNvSpPr/>
          <p:nvPr/>
        </p:nvSpPr>
        <p:spPr>
          <a:xfrm>
            <a:off x="502920" y="5285232"/>
            <a:ext cx="457200" cy="256032"/>
          </a:xfrm>
          <a:prstGeom prst="roundRect">
            <a:avLst/>
          </a:prstGeom>
          <a:solidFill>
            <a:srgbClr val="F96167"/>
          </a:solidFill>
          <a:ln w="9525">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2920" y="5294376"/>
            <a:ext cx="457200" cy="237744"/>
          </a:xfrm>
          <a:prstGeom prst="rect">
            <a:avLst/>
          </a:prstGeom>
          <a:noFill/>
        </p:spPr>
        <p:txBody>
          <a:bodyPr wrap="square">
            <a:spAutoFit/>
          </a:bodyPr>
          <a:lstStyle/>
          <a:p>
            <a:pPr algn="ctr"/>
            <a:r>
              <a:rPr sz="1000" b="1" i="0">
                <a:solidFill>
                  <a:srgbClr val="0D1B2A"/>
                </a:solidFill>
                <a:latin typeface="Calibri"/>
              </a:rPr>
              <a:t>10%</a:t>
            </a:r>
          </a:p>
        </p:txBody>
      </p:sp>
      <p:sp>
        <p:nvSpPr>
          <p:cNvPr id="101" name="TextBox 100"/>
          <p:cNvSpPr txBox="1"/>
          <p:nvPr/>
        </p:nvSpPr>
        <p:spPr>
          <a:xfrm>
            <a:off x="1024128" y="5285232"/>
            <a:ext cx="1463040" cy="256032"/>
          </a:xfrm>
          <a:prstGeom prst="rect">
            <a:avLst/>
          </a:prstGeom>
          <a:noFill/>
        </p:spPr>
        <p:txBody>
          <a:bodyPr wrap="square">
            <a:spAutoFit/>
          </a:bodyPr>
          <a:lstStyle/>
          <a:p>
            <a:pPr algn="l"/>
            <a:r>
              <a:rPr sz="1150" b="1" i="0">
                <a:solidFill>
                  <a:srgbClr val="F96167"/>
                </a:solidFill>
                <a:latin typeface="Calibri"/>
              </a:rPr>
              <a:t>Career Growth</a:t>
            </a:r>
          </a:p>
        </p:txBody>
      </p:sp>
      <p:sp>
        <p:nvSpPr>
          <p:cNvPr id="102" name="TextBox 101"/>
          <p:cNvSpPr txBox="1"/>
          <p:nvPr/>
        </p:nvSpPr>
        <p:spPr>
          <a:xfrm>
            <a:off x="1024128" y="5541264"/>
            <a:ext cx="4434840" cy="237744"/>
          </a:xfrm>
          <a:prstGeom prst="rect">
            <a:avLst/>
          </a:prstGeom>
          <a:noFill/>
        </p:spPr>
        <p:txBody>
          <a:bodyPr wrap="square">
            <a:spAutoFit/>
          </a:bodyPr>
          <a:lstStyle/>
          <a:p>
            <a:pPr algn="l"/>
            <a:r>
              <a:rPr sz="1000" b="0" i="0">
                <a:solidFill>
                  <a:srgbClr val="8BA8C4"/>
                </a:solidFill>
                <a:latin typeface="Calibri"/>
              </a:rPr>
              <a:t>Title progression + tenure + anti-job-hopping</a:t>
            </a:r>
          </a:p>
        </p:txBody>
      </p:sp>
      <p:sp>
        <p:nvSpPr>
          <p:cNvPr id="103" name="Rounded Rectangle 102"/>
          <p:cNvSpPr/>
          <p:nvPr/>
        </p:nvSpPr>
        <p:spPr>
          <a:xfrm>
            <a:off x="502920" y="5815584"/>
            <a:ext cx="457200" cy="256032"/>
          </a:xfrm>
          <a:prstGeom prst="roundRect">
            <a:avLst/>
          </a:prstGeom>
          <a:solidFill>
            <a:srgbClr val="02C39A"/>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5824728"/>
            <a:ext cx="457200" cy="237744"/>
          </a:xfrm>
          <a:prstGeom prst="rect">
            <a:avLst/>
          </a:prstGeom>
          <a:noFill/>
        </p:spPr>
        <p:txBody>
          <a:bodyPr wrap="square">
            <a:spAutoFit/>
          </a:bodyPr>
          <a:lstStyle/>
          <a:p>
            <a:pPr algn="ctr"/>
            <a:r>
              <a:rPr sz="1000" b="1" i="0">
                <a:solidFill>
                  <a:srgbClr val="0D1B2A"/>
                </a:solidFill>
                <a:latin typeface="Calibri"/>
              </a:rPr>
              <a:t>10%</a:t>
            </a:r>
          </a:p>
        </p:txBody>
      </p:sp>
      <p:sp>
        <p:nvSpPr>
          <p:cNvPr id="105" name="TextBox 104"/>
          <p:cNvSpPr txBox="1"/>
          <p:nvPr/>
        </p:nvSpPr>
        <p:spPr>
          <a:xfrm>
            <a:off x="1024128" y="5815584"/>
            <a:ext cx="1463040" cy="256032"/>
          </a:xfrm>
          <a:prstGeom prst="rect">
            <a:avLst/>
          </a:prstGeom>
          <a:noFill/>
        </p:spPr>
        <p:txBody>
          <a:bodyPr wrap="square">
            <a:spAutoFit/>
          </a:bodyPr>
          <a:lstStyle/>
          <a:p>
            <a:pPr algn="l"/>
            <a:r>
              <a:rPr sz="1150" b="1" i="0">
                <a:solidFill>
                  <a:srgbClr val="02C39A"/>
                </a:solidFill>
                <a:latin typeface="Calibri"/>
              </a:rPr>
              <a:t>Behavioral</a:t>
            </a:r>
          </a:p>
        </p:txBody>
      </p:sp>
      <p:sp>
        <p:nvSpPr>
          <p:cNvPr id="106" name="TextBox 105"/>
          <p:cNvSpPr txBox="1"/>
          <p:nvPr/>
        </p:nvSpPr>
        <p:spPr>
          <a:xfrm>
            <a:off x="1024128" y="6071616"/>
            <a:ext cx="4434840" cy="237744"/>
          </a:xfrm>
          <a:prstGeom prst="rect">
            <a:avLst/>
          </a:prstGeom>
          <a:noFill/>
        </p:spPr>
        <p:txBody>
          <a:bodyPr wrap="square">
            <a:spAutoFit/>
          </a:bodyPr>
          <a:lstStyle/>
          <a:p>
            <a:pPr algn="l"/>
            <a:r>
              <a:rPr sz="1000" b="0" i="0">
                <a:solidFill>
                  <a:srgbClr val="8BA8C4"/>
                </a:solidFill>
                <a:latin typeface="Calibri"/>
              </a:rPr>
              <a:t>Activity · response rate · GitHub · notice period</a:t>
            </a:r>
          </a:p>
        </p:txBody>
      </p:sp>
      <p:sp>
        <p:nvSpPr>
          <p:cNvPr id="107" name="Rounded Rectangle 106"/>
          <p:cNvSpPr/>
          <p:nvPr/>
        </p:nvSpPr>
        <p:spPr>
          <a:xfrm>
            <a:off x="502920" y="6345936"/>
            <a:ext cx="457200" cy="256032"/>
          </a:xfrm>
          <a:prstGeom prst="roundRect">
            <a:avLst/>
          </a:prstGeom>
          <a:solidFill>
            <a:srgbClr val="CADCFC"/>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02920" y="6355080"/>
            <a:ext cx="457200" cy="237744"/>
          </a:xfrm>
          <a:prstGeom prst="rect">
            <a:avLst/>
          </a:prstGeom>
          <a:noFill/>
        </p:spPr>
        <p:txBody>
          <a:bodyPr wrap="square">
            <a:spAutoFit/>
          </a:bodyPr>
          <a:lstStyle/>
          <a:p>
            <a:pPr algn="ctr"/>
            <a:r>
              <a:rPr sz="1000" b="1" i="0">
                <a:solidFill>
                  <a:srgbClr val="0D1B2A"/>
                </a:solidFill>
                <a:latin typeface="Calibri"/>
              </a:rPr>
              <a:t>5%</a:t>
            </a:r>
          </a:p>
        </p:txBody>
      </p:sp>
      <p:sp>
        <p:nvSpPr>
          <p:cNvPr id="109" name="TextBox 108"/>
          <p:cNvSpPr txBox="1"/>
          <p:nvPr/>
        </p:nvSpPr>
        <p:spPr>
          <a:xfrm>
            <a:off x="1024128" y="6345936"/>
            <a:ext cx="1463040" cy="256032"/>
          </a:xfrm>
          <a:prstGeom prst="rect">
            <a:avLst/>
          </a:prstGeom>
          <a:noFill/>
        </p:spPr>
        <p:txBody>
          <a:bodyPr wrap="square">
            <a:spAutoFit/>
          </a:bodyPr>
          <a:lstStyle/>
          <a:p>
            <a:pPr algn="l"/>
            <a:r>
              <a:rPr sz="1150" b="1" i="0">
                <a:solidFill>
                  <a:srgbClr val="CADCFC"/>
                </a:solidFill>
                <a:latin typeface="Calibri"/>
              </a:rPr>
              <a:t>Location</a:t>
            </a:r>
          </a:p>
        </p:txBody>
      </p:sp>
      <p:sp>
        <p:nvSpPr>
          <p:cNvPr id="110" name="TextBox 109"/>
          <p:cNvSpPr txBox="1"/>
          <p:nvPr/>
        </p:nvSpPr>
        <p:spPr>
          <a:xfrm>
            <a:off x="1024128" y="6601968"/>
            <a:ext cx="4434840" cy="237744"/>
          </a:xfrm>
          <a:prstGeom prst="rect">
            <a:avLst/>
          </a:prstGeom>
          <a:noFill/>
        </p:spPr>
        <p:txBody>
          <a:bodyPr wrap="square">
            <a:spAutoFit/>
          </a:bodyPr>
          <a:lstStyle/>
          <a:p>
            <a:pPr algn="l"/>
            <a:r>
              <a:rPr sz="1000" b="0" i="0">
                <a:solidFill>
                  <a:srgbClr val="8BA8C4"/>
                </a:solidFill>
                <a:latin typeface="Calibri"/>
              </a:rPr>
              <a:t>Target city or willing to relocate</a:t>
            </a:r>
          </a:p>
        </p:txBody>
      </p:sp>
      <p:sp>
        <p:nvSpPr>
          <p:cNvPr id="111" name="Rounded Rectangle 110"/>
          <p:cNvSpPr/>
          <p:nvPr/>
        </p:nvSpPr>
        <p:spPr>
          <a:xfrm>
            <a:off x="502920" y="6876288"/>
            <a:ext cx="457200" cy="256032"/>
          </a:xfrm>
          <a:prstGeom prst="roundRect">
            <a:avLst/>
          </a:prstGeom>
          <a:solidFill>
            <a:srgbClr val="F0C040"/>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02920" y="6885432"/>
            <a:ext cx="457200" cy="237744"/>
          </a:xfrm>
          <a:prstGeom prst="rect">
            <a:avLst/>
          </a:prstGeom>
          <a:noFill/>
        </p:spPr>
        <p:txBody>
          <a:bodyPr wrap="square">
            <a:spAutoFit/>
          </a:bodyPr>
          <a:lstStyle/>
          <a:p>
            <a:pPr algn="ctr"/>
            <a:r>
              <a:rPr sz="1000" b="1" i="0">
                <a:solidFill>
                  <a:srgbClr val="0D1B2A"/>
                </a:solidFill>
                <a:latin typeface="Calibri"/>
              </a:rPr>
              <a:t>5%</a:t>
            </a:r>
          </a:p>
        </p:txBody>
      </p:sp>
      <p:sp>
        <p:nvSpPr>
          <p:cNvPr id="113" name="TextBox 112"/>
          <p:cNvSpPr txBox="1"/>
          <p:nvPr/>
        </p:nvSpPr>
        <p:spPr>
          <a:xfrm>
            <a:off x="1024128" y="6876288"/>
            <a:ext cx="1463040" cy="256032"/>
          </a:xfrm>
          <a:prstGeom prst="rect">
            <a:avLst/>
          </a:prstGeom>
          <a:noFill/>
        </p:spPr>
        <p:txBody>
          <a:bodyPr wrap="square">
            <a:spAutoFit/>
          </a:bodyPr>
          <a:lstStyle/>
          <a:p>
            <a:pPr algn="l"/>
            <a:r>
              <a:rPr sz="1150" b="1" i="0">
                <a:solidFill>
                  <a:srgbClr val="F0C040"/>
                </a:solidFill>
                <a:latin typeface="Calibri"/>
              </a:rPr>
              <a:t>Education</a:t>
            </a:r>
          </a:p>
        </p:txBody>
      </p:sp>
      <p:sp>
        <p:nvSpPr>
          <p:cNvPr id="114" name="TextBox 113"/>
          <p:cNvSpPr txBox="1"/>
          <p:nvPr/>
        </p:nvSpPr>
        <p:spPr>
          <a:xfrm>
            <a:off x="1024128" y="7132320"/>
            <a:ext cx="4434840" cy="237744"/>
          </a:xfrm>
          <a:prstGeom prst="rect">
            <a:avLst/>
          </a:prstGeom>
          <a:noFill/>
        </p:spPr>
        <p:txBody>
          <a:bodyPr wrap="square">
            <a:spAutoFit/>
          </a:bodyPr>
          <a:lstStyle/>
          <a:p>
            <a:pPr algn="l"/>
            <a:r>
              <a:rPr sz="1000" b="0" i="0">
                <a:solidFill>
                  <a:srgbClr val="8BA8C4"/>
                </a:solidFill>
                <a:latin typeface="Calibri"/>
              </a:rPr>
              <a:t>Institution tier (IIT=1) + CS/STEM 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Explainability, Trust &amp; Validation</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Every ranking decision is traceable, honest, and hallucination-free</a:t>
            </a:r>
          </a:p>
        </p:txBody>
      </p:sp>
      <p:sp>
        <p:nvSpPr>
          <p:cNvPr id="4" name="Rounded Rectangle 3"/>
          <p:cNvSpPr/>
          <p:nvPr/>
        </p:nvSpPr>
        <p:spPr>
          <a:xfrm>
            <a:off x="411480" y="1353312"/>
            <a:ext cx="3703320" cy="228600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81328"/>
            <a:ext cx="3383280" cy="502920"/>
          </a:xfrm>
          <a:prstGeom prst="rect">
            <a:avLst/>
          </a:prstGeom>
          <a:noFill/>
        </p:spPr>
        <p:txBody>
          <a:bodyPr wrap="square">
            <a:spAutoFit/>
          </a:bodyPr>
          <a:lstStyle/>
          <a:p>
            <a:pPr algn="l"/>
            <a:r>
              <a:rPr sz="1400" b="1" i="0">
                <a:solidFill>
                  <a:srgbClr val="F0C040"/>
                </a:solidFill>
                <a:latin typeface="Calibri"/>
              </a:rPr>
              <a:t>💡  Fact-Grounded Reasoning</a:t>
            </a:r>
          </a:p>
        </p:txBody>
      </p:sp>
      <p:sp>
        <p:nvSpPr>
          <p:cNvPr id="6" name="TextBox 5"/>
          <p:cNvSpPr txBox="1"/>
          <p:nvPr/>
        </p:nvSpPr>
        <p:spPr>
          <a:xfrm>
            <a:off x="594360" y="2029968"/>
            <a:ext cx="3383280" cy="1508760"/>
          </a:xfrm>
          <a:prstGeom prst="rect">
            <a:avLst/>
          </a:prstGeom>
          <a:noFill/>
        </p:spPr>
        <p:txBody>
          <a:bodyPr wrap="square">
            <a:spAutoFit/>
          </a:bodyPr>
          <a:lstStyle/>
          <a:p>
            <a:pPr algn="l"/>
            <a:r>
              <a:rPr sz="1150" b="0" i="0">
                <a:solidFill>
                  <a:srgbClr val="F0F4F8"/>
                </a:solidFill>
                <a:latin typeface="Calibri"/>
              </a:rPr>
              <a:t>Each candidate receives a 1–2 sentence justification citing: current title, years of experience, named skills matched, platform signals, and honest concerns (notice period, inactivity, consulting background). No generic praise.</a:t>
            </a:r>
          </a:p>
        </p:txBody>
      </p:sp>
      <p:sp>
        <p:nvSpPr>
          <p:cNvPr id="7" name="Rounded Rectangle 6"/>
          <p:cNvSpPr/>
          <p:nvPr/>
        </p:nvSpPr>
        <p:spPr>
          <a:xfrm>
            <a:off x="4343400" y="1353312"/>
            <a:ext cx="3703320" cy="228600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81328"/>
            <a:ext cx="3383280" cy="502920"/>
          </a:xfrm>
          <a:prstGeom prst="rect">
            <a:avLst/>
          </a:prstGeom>
          <a:noFill/>
        </p:spPr>
        <p:txBody>
          <a:bodyPr wrap="square">
            <a:spAutoFit/>
          </a:bodyPr>
          <a:lstStyle/>
          <a:p>
            <a:pPr algn="l"/>
            <a:r>
              <a:rPr sz="1400" b="1" i="0">
                <a:solidFill>
                  <a:srgbClr val="02C39A"/>
                </a:solidFill>
                <a:latin typeface="Calibri"/>
              </a:rPr>
              <a:t>🛡  Hallucination Prevention</a:t>
            </a:r>
          </a:p>
        </p:txBody>
      </p:sp>
      <p:sp>
        <p:nvSpPr>
          <p:cNvPr id="9" name="TextBox 8"/>
          <p:cNvSpPr txBox="1"/>
          <p:nvPr/>
        </p:nvSpPr>
        <p:spPr>
          <a:xfrm>
            <a:off x="4526280" y="2029968"/>
            <a:ext cx="3383280" cy="1508760"/>
          </a:xfrm>
          <a:prstGeom prst="rect">
            <a:avLst/>
          </a:prstGeom>
          <a:noFill/>
        </p:spPr>
        <p:txBody>
          <a:bodyPr wrap="square">
            <a:spAutoFit/>
          </a:bodyPr>
          <a:lstStyle/>
          <a:p>
            <a:pPr algn="l"/>
            <a:r>
              <a:rPr sz="1150" b="0" i="0">
                <a:solidFill>
                  <a:srgbClr val="F0F4F8"/>
                </a:solidFill>
                <a:latin typeface="Calibri"/>
              </a:rPr>
              <a:t>Reasoning is assembled exclusively from the candidate's actual parsed feature dict. No LLM generation means no fabricated skills, employers, or achievements. Every claim is verifiable against the source profile.</a:t>
            </a:r>
          </a:p>
        </p:txBody>
      </p:sp>
      <p:sp>
        <p:nvSpPr>
          <p:cNvPr id="10" name="Rounded Rectangle 9"/>
          <p:cNvSpPr/>
          <p:nvPr/>
        </p:nvSpPr>
        <p:spPr>
          <a:xfrm>
            <a:off x="8275319" y="1353312"/>
            <a:ext cx="3703320" cy="228600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199" y="1481328"/>
            <a:ext cx="3383280" cy="502920"/>
          </a:xfrm>
          <a:prstGeom prst="rect">
            <a:avLst/>
          </a:prstGeom>
          <a:noFill/>
        </p:spPr>
        <p:txBody>
          <a:bodyPr wrap="square">
            <a:spAutoFit/>
          </a:bodyPr>
          <a:lstStyle/>
          <a:p>
            <a:pPr algn="l"/>
            <a:r>
              <a:rPr sz="1400" b="1" i="0">
                <a:solidFill>
                  <a:srgbClr val="CADCFC"/>
                </a:solidFill>
                <a:latin typeface="Calibri"/>
              </a:rPr>
              <a:t>🔍  Confidence &amp; Validation</a:t>
            </a:r>
          </a:p>
        </p:txBody>
      </p:sp>
      <p:sp>
        <p:nvSpPr>
          <p:cNvPr id="12" name="TextBox 11"/>
          <p:cNvSpPr txBox="1"/>
          <p:nvPr/>
        </p:nvSpPr>
        <p:spPr>
          <a:xfrm>
            <a:off x="8458199" y="2029968"/>
            <a:ext cx="3383280" cy="1508760"/>
          </a:xfrm>
          <a:prstGeom prst="rect">
            <a:avLst/>
          </a:prstGeom>
          <a:noFill/>
        </p:spPr>
        <p:txBody>
          <a:bodyPr wrap="square">
            <a:spAutoFit/>
          </a:bodyPr>
          <a:lstStyle/>
          <a:p>
            <a:pPr algn="l"/>
            <a:r>
              <a:rPr sz="1150" b="0" i="0">
                <a:solidFill>
                  <a:srgbClr val="F0F4F8"/>
                </a:solidFill>
                <a:latin typeface="Calibri"/>
              </a:rPr>
              <a:t>Component score breakdown (7 values) is stored per candidate in detailed_report.json. Honeypot detection flags impossible profiles before scoring. Official Redrob validator: ✅ Submission is valid.</a:t>
            </a:r>
          </a:p>
        </p:txBody>
      </p:sp>
      <p:sp>
        <p:nvSpPr>
          <p:cNvPr id="13" name="TextBox 12"/>
          <p:cNvSpPr txBox="1"/>
          <p:nvPr/>
        </p:nvSpPr>
        <p:spPr>
          <a:xfrm>
            <a:off x="411480" y="3822191"/>
            <a:ext cx="11430000" cy="384048"/>
          </a:xfrm>
          <a:prstGeom prst="rect">
            <a:avLst/>
          </a:prstGeom>
          <a:noFill/>
        </p:spPr>
        <p:txBody>
          <a:bodyPr wrap="square">
            <a:spAutoFit/>
          </a:bodyPr>
          <a:lstStyle/>
          <a:p>
            <a:pPr algn="l"/>
            <a:r>
              <a:rPr sz="1300" b="1" i="0">
                <a:solidFill>
                  <a:srgbClr val="F0C040"/>
                </a:solidFill>
                <a:latin typeface="Calibri"/>
              </a:rPr>
              <a:t>Real Reasoning Examples — From Actual Output (ranked_candidates.csv)</a:t>
            </a:r>
          </a:p>
        </p:txBody>
      </p:sp>
      <p:sp>
        <p:nvSpPr>
          <p:cNvPr id="14" name="Rounded Rectangle 13"/>
          <p:cNvSpPr/>
          <p:nvPr/>
        </p:nvSpPr>
        <p:spPr>
          <a:xfrm>
            <a:off x="411480" y="4279392"/>
            <a:ext cx="11430000"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389120"/>
            <a:ext cx="1417320" cy="502920"/>
          </a:xfrm>
          <a:prstGeom prst="rect">
            <a:avLst/>
          </a:prstGeom>
          <a:noFill/>
        </p:spPr>
        <p:txBody>
          <a:bodyPr wrap="square">
            <a:spAutoFit/>
          </a:bodyPr>
          <a:lstStyle/>
          <a:p>
            <a:pPr algn="l"/>
            <a:r>
              <a:rPr sz="1100" b="1" i="0">
                <a:solidFill>
                  <a:srgbClr val="02C39A"/>
                </a:solidFill>
                <a:latin typeface="Calibri"/>
              </a:rPr>
              <a:t>#1  score=1.0000</a:t>
            </a:r>
          </a:p>
        </p:txBody>
      </p:sp>
      <p:sp>
        <p:nvSpPr>
          <p:cNvPr id="16" name="TextBox 15"/>
          <p:cNvSpPr txBox="1"/>
          <p:nvPr/>
        </p:nvSpPr>
        <p:spPr>
          <a:xfrm>
            <a:off x="2029968" y="4389120"/>
            <a:ext cx="9646920" cy="530352"/>
          </a:xfrm>
          <a:prstGeom prst="rect">
            <a:avLst/>
          </a:prstGeom>
          <a:noFill/>
        </p:spPr>
        <p:txBody>
          <a:bodyPr wrap="square">
            <a:spAutoFit/>
          </a:bodyPr>
          <a:lstStyle/>
          <a:p>
            <a:pPr algn="l"/>
            <a:r>
              <a:rPr sz="1100" b="0" i="0">
                <a:solidFill>
                  <a:srgbClr val="F0F4F8"/>
                </a:solidFill>
                <a:latin typeface="Calibri"/>
              </a:rPr>
              <a:t>Strong fit — Machine Learning Engineer with 4.6 yrs at Krutrim; skills: bm25, elasticsearch, haystack, opensearch; shipped ranking/retrieval to production; notice 15d, response rate 88%. Tier-1 institution background adds confidence.</a:t>
            </a:r>
          </a:p>
        </p:txBody>
      </p:sp>
      <p:sp>
        <p:nvSpPr>
          <p:cNvPr id="17" name="Rounded Rectangle 16"/>
          <p:cNvSpPr/>
          <p:nvPr/>
        </p:nvSpPr>
        <p:spPr>
          <a:xfrm>
            <a:off x="411480" y="5102352"/>
            <a:ext cx="11430000"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212080"/>
            <a:ext cx="1417320" cy="502920"/>
          </a:xfrm>
          <a:prstGeom prst="rect">
            <a:avLst/>
          </a:prstGeom>
          <a:noFill/>
        </p:spPr>
        <p:txBody>
          <a:bodyPr wrap="square">
            <a:spAutoFit/>
          </a:bodyPr>
          <a:lstStyle/>
          <a:p>
            <a:pPr algn="l"/>
            <a:r>
              <a:rPr sz="1100" b="1" i="0">
                <a:solidFill>
                  <a:srgbClr val="CADCFC"/>
                </a:solidFill>
                <a:latin typeface="Calibri"/>
              </a:rPr>
              <a:t>#5  score=0.9992</a:t>
            </a:r>
          </a:p>
        </p:txBody>
      </p:sp>
      <p:sp>
        <p:nvSpPr>
          <p:cNvPr id="19" name="TextBox 18"/>
          <p:cNvSpPr txBox="1"/>
          <p:nvPr/>
        </p:nvSpPr>
        <p:spPr>
          <a:xfrm>
            <a:off x="2029968" y="5212080"/>
            <a:ext cx="9646920" cy="530352"/>
          </a:xfrm>
          <a:prstGeom prst="rect">
            <a:avLst/>
          </a:prstGeom>
          <a:noFill/>
        </p:spPr>
        <p:txBody>
          <a:bodyPr wrap="square">
            <a:spAutoFit/>
          </a:bodyPr>
          <a:lstStyle/>
          <a:p>
            <a:pPr algn="l"/>
            <a:r>
              <a:rPr sz="1100" b="0" i="0">
                <a:solidFill>
                  <a:srgbClr val="F0F4F8"/>
                </a:solidFill>
                <a:latin typeface="Calibri"/>
              </a:rPr>
              <a:t>Top pick — Applied ML Engineer with 6 yrs at Freshworks; skills: faiss, mlops, opensearch, sentence-transformers; shipped recommendation system to production. Caveat: notice period 90d may delay start.</a:t>
            </a:r>
          </a:p>
        </p:txBody>
      </p:sp>
      <p:sp>
        <p:nvSpPr>
          <p:cNvPr id="20" name="Rounded Rectangle 19"/>
          <p:cNvSpPr/>
          <p:nvPr/>
        </p:nvSpPr>
        <p:spPr>
          <a:xfrm>
            <a:off x="411480" y="5925312"/>
            <a:ext cx="11430000" cy="749808"/>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035040"/>
            <a:ext cx="1417320" cy="502920"/>
          </a:xfrm>
          <a:prstGeom prst="rect">
            <a:avLst/>
          </a:prstGeom>
          <a:noFill/>
        </p:spPr>
        <p:txBody>
          <a:bodyPr wrap="square">
            <a:spAutoFit/>
          </a:bodyPr>
          <a:lstStyle/>
          <a:p>
            <a:pPr algn="l"/>
            <a:r>
              <a:rPr sz="1100" b="1" i="0">
                <a:solidFill>
                  <a:srgbClr val="F0C040"/>
                </a:solidFill>
                <a:latin typeface="Calibri"/>
              </a:rPr>
              <a:t>#47  score=0.894</a:t>
            </a:r>
          </a:p>
        </p:txBody>
      </p:sp>
      <p:sp>
        <p:nvSpPr>
          <p:cNvPr id="22" name="TextBox 21"/>
          <p:cNvSpPr txBox="1"/>
          <p:nvPr/>
        </p:nvSpPr>
        <p:spPr>
          <a:xfrm>
            <a:off x="2029968" y="6035040"/>
            <a:ext cx="9646920" cy="530352"/>
          </a:xfrm>
          <a:prstGeom prst="rect">
            <a:avLst/>
          </a:prstGeom>
          <a:noFill/>
        </p:spPr>
        <p:txBody>
          <a:bodyPr wrap="square">
            <a:spAutoFit/>
          </a:bodyPr>
          <a:lstStyle/>
          <a:p>
            <a:pPr algn="l"/>
            <a:r>
              <a:rPr sz="1100" b="0" i="0">
                <a:solidFill>
                  <a:srgbClr val="F0F4F8"/>
                </a:solidFill>
                <a:latin typeface="Calibri"/>
              </a:rPr>
              <a:t>Moderate fit — ML Engineer with 5.1 yrs; skills: pytorch, nlp. Concern: consulting-heavy background (72% of career in IT services). Note: notice period 120d may delay start.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End-to-End System Workflow</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8 stages from raw Job Description to ranked, explained candidates</a:t>
            </a:r>
          </a:p>
        </p:txBody>
      </p:sp>
      <p:sp>
        <p:nvSpPr>
          <p:cNvPr id="4" name="Rounded Rectangle 3"/>
          <p:cNvSpPr/>
          <p:nvPr/>
        </p:nvSpPr>
        <p:spPr>
          <a:xfrm>
            <a:off x="274320" y="13258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39" y="1435607"/>
            <a:ext cx="548640" cy="548640"/>
          </a:xfrm>
          <a:prstGeom prst="ellipse">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527048"/>
            <a:ext cx="420624" cy="365760"/>
          </a:xfrm>
          <a:prstGeom prst="rect">
            <a:avLst/>
          </a:prstGeom>
          <a:noFill/>
        </p:spPr>
        <p:txBody>
          <a:bodyPr wrap="square">
            <a:spAutoFit/>
          </a:bodyPr>
          <a:lstStyle/>
          <a:p>
            <a:pPr algn="ctr"/>
            <a:r>
              <a:rPr sz="1300" b="1" i="0">
                <a:solidFill>
                  <a:srgbClr val="0D1B2A"/>
                </a:solidFill>
                <a:latin typeface="Calibri"/>
              </a:rPr>
              <a:t>01</a:t>
            </a:r>
          </a:p>
        </p:txBody>
      </p:sp>
      <p:sp>
        <p:nvSpPr>
          <p:cNvPr id="7" name="TextBox 6"/>
          <p:cNvSpPr txBox="1"/>
          <p:nvPr/>
        </p:nvSpPr>
        <p:spPr>
          <a:xfrm>
            <a:off x="932688" y="1399032"/>
            <a:ext cx="2331720" cy="475488"/>
          </a:xfrm>
          <a:prstGeom prst="rect">
            <a:avLst/>
          </a:prstGeom>
          <a:noFill/>
        </p:spPr>
        <p:txBody>
          <a:bodyPr wrap="square">
            <a:spAutoFit/>
          </a:bodyPr>
          <a:lstStyle/>
          <a:p>
            <a:pPr algn="l"/>
            <a:r>
              <a:rPr sz="1150" b="1" i="0">
                <a:solidFill>
                  <a:srgbClr val="F0C040"/>
                </a:solidFill>
                <a:latin typeface="Calibri"/>
              </a:rPr>
              <a:t>Job Description
Input</a:t>
            </a:r>
          </a:p>
        </p:txBody>
      </p:sp>
      <p:sp>
        <p:nvSpPr>
          <p:cNvPr id="8" name="TextBox 7"/>
          <p:cNvSpPr txBox="1"/>
          <p:nvPr/>
        </p:nvSpPr>
        <p:spPr>
          <a:xfrm>
            <a:off x="932688" y="1874519"/>
            <a:ext cx="4846320" cy="502920"/>
          </a:xfrm>
          <a:prstGeom prst="rect">
            <a:avLst/>
          </a:prstGeom>
          <a:noFill/>
        </p:spPr>
        <p:txBody>
          <a:bodyPr wrap="square">
            <a:spAutoFit/>
          </a:bodyPr>
          <a:lstStyle/>
          <a:p>
            <a:pPr algn="l"/>
            <a:r>
              <a:rPr sz="1000" b="0" i="0">
                <a:solidFill>
                  <a:srgbClr val="F0F4F8"/>
                </a:solidFill>
                <a:latin typeface="Calibri"/>
              </a:rPr>
              <a:t>Raw JD text (Markdown/plain) provided as input. Hackathon bundle JD: Senior AI Engineer, Redrob AI.</a:t>
            </a:r>
          </a:p>
        </p:txBody>
      </p:sp>
      <p:sp>
        <p:nvSpPr>
          <p:cNvPr id="9" name="TextBox 8"/>
          <p:cNvSpPr txBox="1"/>
          <p:nvPr/>
        </p:nvSpPr>
        <p:spPr>
          <a:xfrm>
            <a:off x="932688" y="2350008"/>
            <a:ext cx="4846320" cy="228600"/>
          </a:xfrm>
          <a:prstGeom prst="rect">
            <a:avLst/>
          </a:prstGeom>
          <a:noFill/>
        </p:spPr>
        <p:txBody>
          <a:bodyPr wrap="square">
            <a:spAutoFit/>
          </a:bodyPr>
          <a:lstStyle/>
          <a:p>
            <a:pPr algn="l"/>
            <a:r>
              <a:rPr sz="900" b="0" i="1">
                <a:solidFill>
                  <a:srgbClr val="8BA8C4"/>
                </a:solidFill>
                <a:latin typeface="Calibri"/>
              </a:rPr>
              <a:t>⚙ JD_TEXT constant in src/jd_parser.py</a:t>
            </a:r>
          </a:p>
        </p:txBody>
      </p:sp>
      <p:sp>
        <p:nvSpPr>
          <p:cNvPr id="10" name="Rounded Rectangle 9"/>
          <p:cNvSpPr/>
          <p:nvPr/>
        </p:nvSpPr>
        <p:spPr>
          <a:xfrm>
            <a:off x="6172200" y="13258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0" y="1435607"/>
            <a:ext cx="548640" cy="54864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1527048"/>
            <a:ext cx="420624" cy="365760"/>
          </a:xfrm>
          <a:prstGeom prst="rect">
            <a:avLst/>
          </a:prstGeom>
          <a:noFill/>
        </p:spPr>
        <p:txBody>
          <a:bodyPr wrap="square">
            <a:spAutoFit/>
          </a:bodyPr>
          <a:lstStyle/>
          <a:p>
            <a:pPr algn="ctr"/>
            <a:r>
              <a:rPr sz="1300" b="1" i="0">
                <a:solidFill>
                  <a:srgbClr val="0D1B2A"/>
                </a:solidFill>
                <a:latin typeface="Calibri"/>
              </a:rPr>
              <a:t>02</a:t>
            </a:r>
          </a:p>
        </p:txBody>
      </p:sp>
      <p:sp>
        <p:nvSpPr>
          <p:cNvPr id="13" name="TextBox 12"/>
          <p:cNvSpPr txBox="1"/>
          <p:nvPr/>
        </p:nvSpPr>
        <p:spPr>
          <a:xfrm>
            <a:off x="6830568" y="1399032"/>
            <a:ext cx="2331720" cy="475488"/>
          </a:xfrm>
          <a:prstGeom prst="rect">
            <a:avLst/>
          </a:prstGeom>
          <a:noFill/>
        </p:spPr>
        <p:txBody>
          <a:bodyPr wrap="square">
            <a:spAutoFit/>
          </a:bodyPr>
          <a:lstStyle/>
          <a:p>
            <a:pPr algn="l"/>
            <a:r>
              <a:rPr sz="1150" b="1" i="0">
                <a:solidFill>
                  <a:srgbClr val="02C39A"/>
                </a:solidFill>
                <a:latin typeface="Calibri"/>
              </a:rPr>
              <a:t>JD Understanding
(src/jd_parser.py)</a:t>
            </a:r>
          </a:p>
        </p:txBody>
      </p:sp>
      <p:sp>
        <p:nvSpPr>
          <p:cNvPr id="14" name="TextBox 13"/>
          <p:cNvSpPr txBox="1"/>
          <p:nvPr/>
        </p:nvSpPr>
        <p:spPr>
          <a:xfrm>
            <a:off x="6830568" y="1874519"/>
            <a:ext cx="4846320" cy="502920"/>
          </a:xfrm>
          <a:prstGeom prst="rect">
            <a:avLst/>
          </a:prstGeom>
          <a:noFill/>
        </p:spPr>
        <p:txBody>
          <a:bodyPr wrap="square">
            <a:spAutoFit/>
          </a:bodyPr>
          <a:lstStyle/>
          <a:p>
            <a:pPr algn="l"/>
            <a:r>
              <a:rPr sz="1000" b="0" i="0">
                <a:solidFill>
                  <a:srgbClr val="F0F4F8"/>
                </a:solidFill>
                <a:latin typeface="Calibri"/>
              </a:rPr>
              <a:t>Extracts 29 required skills, 6 preferred, experience band 5–9 yrs, 6 target locations, disqualifiers, and builds 300-word semantic query blob.</a:t>
            </a:r>
          </a:p>
        </p:txBody>
      </p:sp>
      <p:sp>
        <p:nvSpPr>
          <p:cNvPr id="15" name="TextBox 14"/>
          <p:cNvSpPr txBox="1"/>
          <p:nvPr/>
        </p:nvSpPr>
        <p:spPr>
          <a:xfrm>
            <a:off x="6830568" y="2350008"/>
            <a:ext cx="4846320" cy="228600"/>
          </a:xfrm>
          <a:prstGeom prst="rect">
            <a:avLst/>
          </a:prstGeom>
          <a:noFill/>
        </p:spPr>
        <p:txBody>
          <a:bodyPr wrap="square">
            <a:spAutoFit/>
          </a:bodyPr>
          <a:lstStyle/>
          <a:p>
            <a:pPr algn="l"/>
            <a:r>
              <a:rPr sz="900" b="0" i="1">
                <a:solidFill>
                  <a:srgbClr val="8BA8C4"/>
                </a:solidFill>
                <a:latin typeface="Calibri"/>
              </a:rPr>
              <a:t>⚙ ParsedJD dataclass · regex + keyword banks</a:t>
            </a:r>
          </a:p>
        </p:txBody>
      </p:sp>
      <p:sp>
        <p:nvSpPr>
          <p:cNvPr id="16" name="Rounded Rectangle 15"/>
          <p:cNvSpPr/>
          <p:nvPr/>
        </p:nvSpPr>
        <p:spPr>
          <a:xfrm>
            <a:off x="274320" y="26974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20039" y="2807208"/>
            <a:ext cx="548640" cy="548640"/>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898648"/>
            <a:ext cx="420624" cy="365760"/>
          </a:xfrm>
          <a:prstGeom prst="rect">
            <a:avLst/>
          </a:prstGeom>
          <a:noFill/>
        </p:spPr>
        <p:txBody>
          <a:bodyPr wrap="square">
            <a:spAutoFit/>
          </a:bodyPr>
          <a:lstStyle/>
          <a:p>
            <a:pPr algn="ctr"/>
            <a:r>
              <a:rPr sz="1300" b="1" i="0">
                <a:solidFill>
                  <a:srgbClr val="0D1B2A"/>
                </a:solidFill>
                <a:latin typeface="Calibri"/>
              </a:rPr>
              <a:t>03</a:t>
            </a:r>
          </a:p>
        </p:txBody>
      </p:sp>
      <p:sp>
        <p:nvSpPr>
          <p:cNvPr id="19" name="TextBox 18"/>
          <p:cNvSpPr txBox="1"/>
          <p:nvPr/>
        </p:nvSpPr>
        <p:spPr>
          <a:xfrm>
            <a:off x="932688" y="2770632"/>
            <a:ext cx="2331720" cy="475488"/>
          </a:xfrm>
          <a:prstGeom prst="rect">
            <a:avLst/>
          </a:prstGeom>
          <a:noFill/>
        </p:spPr>
        <p:txBody>
          <a:bodyPr wrap="square">
            <a:spAutoFit/>
          </a:bodyPr>
          <a:lstStyle/>
          <a:p>
            <a:pPr algn="l"/>
            <a:r>
              <a:rPr sz="1150" b="1" i="0">
                <a:solidFill>
                  <a:srgbClr val="CADCFC"/>
                </a:solidFill>
                <a:latin typeface="Calibri"/>
              </a:rPr>
              <a:t>Stage-0 Pre-filter
(src/prefilter.py)</a:t>
            </a:r>
          </a:p>
        </p:txBody>
      </p:sp>
      <p:sp>
        <p:nvSpPr>
          <p:cNvPr id="20" name="TextBox 19"/>
          <p:cNvSpPr txBox="1"/>
          <p:nvPr/>
        </p:nvSpPr>
        <p:spPr>
          <a:xfrm>
            <a:off x="932688" y="3246120"/>
            <a:ext cx="4846320" cy="502920"/>
          </a:xfrm>
          <a:prstGeom prst="rect">
            <a:avLst/>
          </a:prstGeom>
          <a:noFill/>
        </p:spPr>
        <p:txBody>
          <a:bodyPr wrap="square">
            <a:spAutoFit/>
          </a:bodyPr>
          <a:lstStyle/>
          <a:p>
            <a:pPr algn="l"/>
            <a:r>
              <a:rPr sz="1000" b="0" i="0">
                <a:solidFill>
                  <a:srgbClr val="F0F4F8"/>
                </a:solidFill>
                <a:latin typeface="Calibri"/>
              </a:rPr>
              <a:t>Streams raw JSONL; keyword scan on headline + summary + skills + titles. 100K → 8,000 ML-signal candidates in 12.3 seconds.</a:t>
            </a:r>
          </a:p>
        </p:txBody>
      </p:sp>
      <p:sp>
        <p:nvSpPr>
          <p:cNvPr id="21" name="TextBox 20"/>
          <p:cNvSpPr txBox="1"/>
          <p:nvPr/>
        </p:nvSpPr>
        <p:spPr>
          <a:xfrm>
            <a:off x="932688" y="3721608"/>
            <a:ext cx="4846320" cy="228600"/>
          </a:xfrm>
          <a:prstGeom prst="rect">
            <a:avLst/>
          </a:prstGeom>
          <a:noFill/>
        </p:spPr>
        <p:txBody>
          <a:bodyPr wrap="square">
            <a:spAutoFit/>
          </a:bodyPr>
          <a:lstStyle/>
          <a:p>
            <a:pPr algn="l"/>
            <a:r>
              <a:rPr sz="900" b="0" i="1">
                <a:solidFill>
                  <a:srgbClr val="8BA8C4"/>
                </a:solidFill>
                <a:latin typeface="Calibri"/>
              </a:rPr>
              <a:t>⚙ Zero parsing overhead · 63,304 rejected</a:t>
            </a:r>
          </a:p>
        </p:txBody>
      </p:sp>
      <p:sp>
        <p:nvSpPr>
          <p:cNvPr id="22" name="Rounded Rectangle 21"/>
          <p:cNvSpPr/>
          <p:nvPr/>
        </p:nvSpPr>
        <p:spPr>
          <a:xfrm>
            <a:off x="6172200" y="26974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17920" y="2807208"/>
            <a:ext cx="548640" cy="54864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81928" y="2898648"/>
            <a:ext cx="420624" cy="365760"/>
          </a:xfrm>
          <a:prstGeom prst="rect">
            <a:avLst/>
          </a:prstGeom>
          <a:noFill/>
        </p:spPr>
        <p:txBody>
          <a:bodyPr wrap="square">
            <a:spAutoFit/>
          </a:bodyPr>
          <a:lstStyle/>
          <a:p>
            <a:pPr algn="ctr"/>
            <a:r>
              <a:rPr sz="1300" b="1" i="0">
                <a:solidFill>
                  <a:srgbClr val="0D1B2A"/>
                </a:solidFill>
                <a:latin typeface="Calibri"/>
              </a:rPr>
              <a:t>04</a:t>
            </a:r>
          </a:p>
        </p:txBody>
      </p:sp>
      <p:sp>
        <p:nvSpPr>
          <p:cNvPr id="25" name="TextBox 24"/>
          <p:cNvSpPr txBox="1"/>
          <p:nvPr/>
        </p:nvSpPr>
        <p:spPr>
          <a:xfrm>
            <a:off x="6830568" y="2770632"/>
            <a:ext cx="2331720" cy="475488"/>
          </a:xfrm>
          <a:prstGeom prst="rect">
            <a:avLst/>
          </a:prstGeom>
          <a:noFill/>
        </p:spPr>
        <p:txBody>
          <a:bodyPr wrap="square">
            <a:spAutoFit/>
          </a:bodyPr>
          <a:lstStyle/>
          <a:p>
            <a:pPr algn="l"/>
            <a:r>
              <a:rPr sz="1150" b="1" i="0">
                <a:solidFill>
                  <a:srgbClr val="F96167"/>
                </a:solidFill>
                <a:latin typeface="Calibri"/>
              </a:rPr>
              <a:t>Feature Extraction
(src/candidate_parser.py)</a:t>
            </a:r>
          </a:p>
        </p:txBody>
      </p:sp>
      <p:sp>
        <p:nvSpPr>
          <p:cNvPr id="26" name="TextBox 25"/>
          <p:cNvSpPr txBox="1"/>
          <p:nvPr/>
        </p:nvSpPr>
        <p:spPr>
          <a:xfrm>
            <a:off x="6830568" y="3246120"/>
            <a:ext cx="4846320" cy="502920"/>
          </a:xfrm>
          <a:prstGeom prst="rect">
            <a:avLst/>
          </a:prstGeom>
          <a:noFill/>
        </p:spPr>
        <p:txBody>
          <a:bodyPr wrap="square">
            <a:spAutoFit/>
          </a:bodyPr>
          <a:lstStyle/>
          <a:p>
            <a:pPr algn="l"/>
            <a:r>
              <a:rPr sz="1000" b="0" i="0">
                <a:solidFill>
                  <a:srgbClr val="F0F4F8"/>
                </a:solidFill>
                <a:latin typeface="Calibri"/>
              </a:rPr>
              <a:t>Full 30+ feature extraction on 8,000 candidates: skill weights, career fractions, honeypot detection, behavioral signals. 2.0 seconds. 473 honeypots flagged.</a:t>
            </a:r>
          </a:p>
        </p:txBody>
      </p:sp>
      <p:sp>
        <p:nvSpPr>
          <p:cNvPr id="27" name="TextBox 26"/>
          <p:cNvSpPr txBox="1"/>
          <p:nvPr/>
        </p:nvSpPr>
        <p:spPr>
          <a:xfrm>
            <a:off x="6830568" y="3721608"/>
            <a:ext cx="4846320" cy="228600"/>
          </a:xfrm>
          <a:prstGeom prst="rect">
            <a:avLst/>
          </a:prstGeom>
          <a:noFill/>
        </p:spPr>
        <p:txBody>
          <a:bodyPr wrap="square">
            <a:spAutoFit/>
          </a:bodyPr>
          <a:lstStyle/>
          <a:p>
            <a:pPr algn="l"/>
            <a:r>
              <a:rPr sz="900" b="0" i="1">
                <a:solidFill>
                  <a:srgbClr val="8BA8C4"/>
                </a:solidFill>
                <a:latin typeface="Calibri"/>
              </a:rPr>
              <a:t>⚙ parse_candidate() → feature dict</a:t>
            </a:r>
          </a:p>
        </p:txBody>
      </p:sp>
      <p:sp>
        <p:nvSpPr>
          <p:cNvPr id="28" name="Rounded Rectangle 27"/>
          <p:cNvSpPr/>
          <p:nvPr/>
        </p:nvSpPr>
        <p:spPr>
          <a:xfrm>
            <a:off x="274320" y="40690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20039" y="4178808"/>
            <a:ext cx="548640" cy="548640"/>
          </a:xfrm>
          <a:prstGeom prst="ellipse">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270248"/>
            <a:ext cx="420624" cy="365760"/>
          </a:xfrm>
          <a:prstGeom prst="rect">
            <a:avLst/>
          </a:prstGeom>
          <a:noFill/>
        </p:spPr>
        <p:txBody>
          <a:bodyPr wrap="square">
            <a:spAutoFit/>
          </a:bodyPr>
          <a:lstStyle/>
          <a:p>
            <a:pPr algn="ctr"/>
            <a:r>
              <a:rPr sz="1300" b="1" i="0">
                <a:solidFill>
                  <a:srgbClr val="0D1B2A"/>
                </a:solidFill>
                <a:latin typeface="Calibri"/>
              </a:rPr>
              <a:t>05</a:t>
            </a:r>
          </a:p>
        </p:txBody>
      </p:sp>
      <p:sp>
        <p:nvSpPr>
          <p:cNvPr id="31" name="TextBox 30"/>
          <p:cNvSpPr txBox="1"/>
          <p:nvPr/>
        </p:nvSpPr>
        <p:spPr>
          <a:xfrm>
            <a:off x="932688" y="4142232"/>
            <a:ext cx="2331720" cy="475488"/>
          </a:xfrm>
          <a:prstGeom prst="rect">
            <a:avLst/>
          </a:prstGeom>
          <a:noFill/>
        </p:spPr>
        <p:txBody>
          <a:bodyPr wrap="square">
            <a:spAutoFit/>
          </a:bodyPr>
          <a:lstStyle/>
          <a:p>
            <a:pPr algn="l"/>
            <a:r>
              <a:rPr sz="1150" b="1" i="0">
                <a:solidFill>
                  <a:srgbClr val="F0C040"/>
                </a:solidFill>
                <a:latin typeface="Calibri"/>
              </a:rPr>
              <a:t>TF-IDF Retrieval
(src/retrieval.py)</a:t>
            </a:r>
          </a:p>
        </p:txBody>
      </p:sp>
      <p:sp>
        <p:nvSpPr>
          <p:cNvPr id="32" name="TextBox 31"/>
          <p:cNvSpPr txBox="1"/>
          <p:nvPr/>
        </p:nvSpPr>
        <p:spPr>
          <a:xfrm>
            <a:off x="932688" y="4617720"/>
            <a:ext cx="4846320" cy="502920"/>
          </a:xfrm>
          <a:prstGeom prst="rect">
            <a:avLst/>
          </a:prstGeom>
          <a:noFill/>
        </p:spPr>
        <p:txBody>
          <a:bodyPr wrap="square">
            <a:spAutoFit/>
          </a:bodyPr>
          <a:lstStyle/>
          <a:p>
            <a:pPr algn="l"/>
            <a:r>
              <a:rPr sz="1000" b="0" i="0">
                <a:solidFill>
                  <a:srgbClr val="F0F4F8"/>
                </a:solidFill>
                <a:latin typeface="Calibri"/>
              </a:rPr>
              <a:t>Bigram TF-IDF index over 8,000 text blobs. Cosine similarity vs JD blob. Top-500 retrieved in 5.2 seconds. Vocab: 19,728 terms.</a:t>
            </a:r>
          </a:p>
        </p:txBody>
      </p:sp>
      <p:sp>
        <p:nvSpPr>
          <p:cNvPr id="33" name="TextBox 32"/>
          <p:cNvSpPr txBox="1"/>
          <p:nvPr/>
        </p:nvSpPr>
        <p:spPr>
          <a:xfrm>
            <a:off x="932688" y="5093208"/>
            <a:ext cx="4846320" cy="228600"/>
          </a:xfrm>
          <a:prstGeom prst="rect">
            <a:avLst/>
          </a:prstGeom>
          <a:noFill/>
        </p:spPr>
        <p:txBody>
          <a:bodyPr wrap="square">
            <a:spAutoFit/>
          </a:bodyPr>
          <a:lstStyle/>
          <a:p>
            <a:pPr algn="l"/>
            <a:r>
              <a:rPr sz="900" b="0" i="1">
                <a:solidFill>
                  <a:srgbClr val="8BA8C4"/>
                </a:solidFill>
                <a:latin typeface="Calibri"/>
              </a:rPr>
              <a:t>⚙ FAISS drop-in ready via FaissRetriever</a:t>
            </a:r>
          </a:p>
        </p:txBody>
      </p:sp>
      <p:sp>
        <p:nvSpPr>
          <p:cNvPr id="34" name="Rounded Rectangle 33"/>
          <p:cNvSpPr/>
          <p:nvPr/>
        </p:nvSpPr>
        <p:spPr>
          <a:xfrm>
            <a:off x="6172200" y="40690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217920" y="4178808"/>
            <a:ext cx="548640" cy="54864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81928" y="4270248"/>
            <a:ext cx="420624" cy="365760"/>
          </a:xfrm>
          <a:prstGeom prst="rect">
            <a:avLst/>
          </a:prstGeom>
          <a:noFill/>
        </p:spPr>
        <p:txBody>
          <a:bodyPr wrap="square">
            <a:spAutoFit/>
          </a:bodyPr>
          <a:lstStyle/>
          <a:p>
            <a:pPr algn="ctr"/>
            <a:r>
              <a:rPr sz="1300" b="1" i="0">
                <a:solidFill>
                  <a:srgbClr val="0D1B2A"/>
                </a:solidFill>
                <a:latin typeface="Calibri"/>
              </a:rPr>
              <a:t>06</a:t>
            </a:r>
          </a:p>
        </p:txBody>
      </p:sp>
      <p:sp>
        <p:nvSpPr>
          <p:cNvPr id="37" name="TextBox 36"/>
          <p:cNvSpPr txBox="1"/>
          <p:nvPr/>
        </p:nvSpPr>
        <p:spPr>
          <a:xfrm>
            <a:off x="6830568" y="4142232"/>
            <a:ext cx="2331720" cy="475488"/>
          </a:xfrm>
          <a:prstGeom prst="rect">
            <a:avLst/>
          </a:prstGeom>
          <a:noFill/>
        </p:spPr>
        <p:txBody>
          <a:bodyPr wrap="square">
            <a:spAutoFit/>
          </a:bodyPr>
          <a:lstStyle/>
          <a:p>
            <a:pPr algn="l"/>
            <a:r>
              <a:rPr sz="1150" b="1" i="0">
                <a:solidFill>
                  <a:srgbClr val="02C39A"/>
                </a:solidFill>
                <a:latin typeface="Calibri"/>
              </a:rPr>
              <a:t>Multi-Signal Scoring
(src/scoring.py)</a:t>
            </a:r>
          </a:p>
        </p:txBody>
      </p:sp>
      <p:sp>
        <p:nvSpPr>
          <p:cNvPr id="38" name="TextBox 37"/>
          <p:cNvSpPr txBox="1"/>
          <p:nvPr/>
        </p:nvSpPr>
        <p:spPr>
          <a:xfrm>
            <a:off x="6830568" y="4617720"/>
            <a:ext cx="4846320" cy="502920"/>
          </a:xfrm>
          <a:prstGeom prst="rect">
            <a:avLst/>
          </a:prstGeom>
          <a:noFill/>
        </p:spPr>
        <p:txBody>
          <a:bodyPr wrap="square">
            <a:spAutoFit/>
          </a:bodyPr>
          <a:lstStyle/>
          <a:p>
            <a:pPr algn="l"/>
            <a:r>
              <a:rPr sz="1000" b="0" i="0">
                <a:solidFill>
                  <a:srgbClr val="F0F4F8"/>
                </a:solidFill>
                <a:latin typeface="Calibri"/>
              </a:rPr>
              <a:t>7-component weighted score + behavioral multiplier for 500 candidates. Top score: 0.8319 before re-ranking. All 500 scored in &lt;0.5 seconds.</a:t>
            </a:r>
          </a:p>
        </p:txBody>
      </p:sp>
      <p:sp>
        <p:nvSpPr>
          <p:cNvPr id="39" name="TextBox 38"/>
          <p:cNvSpPr txBox="1"/>
          <p:nvPr/>
        </p:nvSpPr>
        <p:spPr>
          <a:xfrm>
            <a:off x="6830568" y="5093208"/>
            <a:ext cx="4846320" cy="228600"/>
          </a:xfrm>
          <a:prstGeom prst="rect">
            <a:avLst/>
          </a:prstGeom>
          <a:noFill/>
        </p:spPr>
        <p:txBody>
          <a:bodyPr wrap="square">
            <a:spAutoFit/>
          </a:bodyPr>
          <a:lstStyle/>
          <a:p>
            <a:pPr algn="l"/>
            <a:r>
              <a:rPr sz="900" b="0" i="1">
                <a:solidFill>
                  <a:srgbClr val="8BA8C4"/>
                </a:solidFill>
                <a:latin typeface="Calibri"/>
              </a:rPr>
              <a:t>⚙ score_all() → sorted descending</a:t>
            </a:r>
          </a:p>
        </p:txBody>
      </p:sp>
      <p:sp>
        <p:nvSpPr>
          <p:cNvPr id="40" name="Rounded Rectangle 39"/>
          <p:cNvSpPr/>
          <p:nvPr/>
        </p:nvSpPr>
        <p:spPr>
          <a:xfrm>
            <a:off x="274320" y="54406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20039" y="5550408"/>
            <a:ext cx="548640" cy="548640"/>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5641848"/>
            <a:ext cx="420624" cy="365760"/>
          </a:xfrm>
          <a:prstGeom prst="rect">
            <a:avLst/>
          </a:prstGeom>
          <a:noFill/>
        </p:spPr>
        <p:txBody>
          <a:bodyPr wrap="square">
            <a:spAutoFit/>
          </a:bodyPr>
          <a:lstStyle/>
          <a:p>
            <a:pPr algn="ctr"/>
            <a:r>
              <a:rPr sz="1300" b="1" i="0">
                <a:solidFill>
                  <a:srgbClr val="0D1B2A"/>
                </a:solidFill>
                <a:latin typeface="Calibri"/>
              </a:rPr>
              <a:t>07</a:t>
            </a:r>
          </a:p>
        </p:txBody>
      </p:sp>
      <p:sp>
        <p:nvSpPr>
          <p:cNvPr id="43" name="TextBox 42"/>
          <p:cNvSpPr txBox="1"/>
          <p:nvPr/>
        </p:nvSpPr>
        <p:spPr>
          <a:xfrm>
            <a:off x="932688" y="5513832"/>
            <a:ext cx="2331720" cy="475488"/>
          </a:xfrm>
          <a:prstGeom prst="rect">
            <a:avLst/>
          </a:prstGeom>
          <a:noFill/>
        </p:spPr>
        <p:txBody>
          <a:bodyPr wrap="square">
            <a:spAutoFit/>
          </a:bodyPr>
          <a:lstStyle/>
          <a:p>
            <a:pPr algn="l"/>
            <a:r>
              <a:rPr sz="1150" b="1" i="0">
                <a:solidFill>
                  <a:srgbClr val="CADCFC"/>
                </a:solidFill>
                <a:latin typeface="Calibri"/>
              </a:rPr>
              <a:t>Re-Ranking
(src/reranker.py)</a:t>
            </a:r>
          </a:p>
        </p:txBody>
      </p:sp>
      <p:sp>
        <p:nvSpPr>
          <p:cNvPr id="44" name="TextBox 43"/>
          <p:cNvSpPr txBox="1"/>
          <p:nvPr/>
        </p:nvSpPr>
        <p:spPr>
          <a:xfrm>
            <a:off x="932688" y="5989320"/>
            <a:ext cx="4846320" cy="502920"/>
          </a:xfrm>
          <a:prstGeom prst="rect">
            <a:avLst/>
          </a:prstGeom>
          <a:noFill/>
        </p:spPr>
        <p:txBody>
          <a:bodyPr wrap="square">
            <a:spAutoFit/>
          </a:bodyPr>
          <a:lstStyle/>
          <a:p>
            <a:pPr algn="l"/>
            <a:r>
              <a:rPr sz="1000" b="0" i="0">
                <a:solidFill>
                  <a:srgbClr val="F0F4F8"/>
                </a:solidFill>
                <a:latin typeface="Calibri"/>
              </a:rPr>
              <a:t>JD-specific boosts (×1.08 shipped ranking, ×1.10 hard skill) and penalties (×0.40 consulting-only, ×0.25 bad title, ×0.50 ghost). Top-100 selected.</a:t>
            </a:r>
          </a:p>
        </p:txBody>
      </p:sp>
      <p:sp>
        <p:nvSpPr>
          <p:cNvPr id="45" name="TextBox 44"/>
          <p:cNvSpPr txBox="1"/>
          <p:nvPr/>
        </p:nvSpPr>
        <p:spPr>
          <a:xfrm>
            <a:off x="932688" y="6464808"/>
            <a:ext cx="4846320" cy="228600"/>
          </a:xfrm>
          <a:prstGeom prst="rect">
            <a:avLst/>
          </a:prstGeom>
          <a:noFill/>
        </p:spPr>
        <p:txBody>
          <a:bodyPr wrap="square">
            <a:spAutoFit/>
          </a:bodyPr>
          <a:lstStyle/>
          <a:p>
            <a:pPr algn="l"/>
            <a:r>
              <a:rPr sz="900" b="0" i="1">
                <a:solidFill>
                  <a:srgbClr val="8BA8C4"/>
                </a:solidFill>
                <a:latin typeface="Calibri"/>
              </a:rPr>
              <a:t>⚙ RuleBasedReranker · 0 honeypots in top-100</a:t>
            </a:r>
          </a:p>
        </p:txBody>
      </p:sp>
      <p:sp>
        <p:nvSpPr>
          <p:cNvPr id="46" name="Rounded Rectangle 45"/>
          <p:cNvSpPr/>
          <p:nvPr/>
        </p:nvSpPr>
        <p:spPr>
          <a:xfrm>
            <a:off x="6172200" y="5440680"/>
            <a:ext cx="5669280" cy="1261872"/>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217920" y="5550408"/>
            <a:ext cx="548640" cy="54864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1928" y="5641848"/>
            <a:ext cx="420624" cy="365760"/>
          </a:xfrm>
          <a:prstGeom prst="rect">
            <a:avLst/>
          </a:prstGeom>
          <a:noFill/>
        </p:spPr>
        <p:txBody>
          <a:bodyPr wrap="square">
            <a:spAutoFit/>
          </a:bodyPr>
          <a:lstStyle/>
          <a:p>
            <a:pPr algn="ctr"/>
            <a:r>
              <a:rPr sz="1300" b="1" i="0">
                <a:solidFill>
                  <a:srgbClr val="0D1B2A"/>
                </a:solidFill>
                <a:latin typeface="Calibri"/>
              </a:rPr>
              <a:t>08</a:t>
            </a:r>
          </a:p>
        </p:txBody>
      </p:sp>
      <p:sp>
        <p:nvSpPr>
          <p:cNvPr id="49" name="TextBox 48"/>
          <p:cNvSpPr txBox="1"/>
          <p:nvPr/>
        </p:nvSpPr>
        <p:spPr>
          <a:xfrm>
            <a:off x="6830568" y="5513832"/>
            <a:ext cx="2331720" cy="475488"/>
          </a:xfrm>
          <a:prstGeom prst="rect">
            <a:avLst/>
          </a:prstGeom>
          <a:noFill/>
        </p:spPr>
        <p:txBody>
          <a:bodyPr wrap="square">
            <a:spAutoFit/>
          </a:bodyPr>
          <a:lstStyle/>
          <a:p>
            <a:pPr algn="l"/>
            <a:r>
              <a:rPr sz="1150" b="1" i="0">
                <a:solidFill>
                  <a:srgbClr val="F96167"/>
                </a:solidFill>
                <a:latin typeface="Calibri"/>
              </a:rPr>
              <a:t>Explainability + Output
(src/explainability.py)</a:t>
            </a:r>
          </a:p>
        </p:txBody>
      </p:sp>
      <p:sp>
        <p:nvSpPr>
          <p:cNvPr id="50" name="TextBox 49"/>
          <p:cNvSpPr txBox="1"/>
          <p:nvPr/>
        </p:nvSpPr>
        <p:spPr>
          <a:xfrm>
            <a:off x="6830568" y="5989320"/>
            <a:ext cx="4846320" cy="502920"/>
          </a:xfrm>
          <a:prstGeom prst="rect">
            <a:avLst/>
          </a:prstGeom>
          <a:noFill/>
        </p:spPr>
        <p:txBody>
          <a:bodyPr wrap="square">
            <a:spAutoFit/>
          </a:bodyPr>
          <a:lstStyle/>
          <a:p>
            <a:pPr algn="l"/>
            <a:r>
              <a:rPr sz="1000" b="0" i="0">
                <a:solidFill>
                  <a:srgbClr val="F0F4F8"/>
                </a:solidFill>
                <a:latin typeface="Calibri"/>
              </a:rPr>
              <a:t>Fact-grounded 1–2 sentence reasoning per candidate. CSV written: 100 rows, scores 0.8546–1.0000, monotone ✅, unique IDs/ranks ✅. Validator: ✅ PASS.</a:t>
            </a:r>
          </a:p>
        </p:txBody>
      </p:sp>
      <p:sp>
        <p:nvSpPr>
          <p:cNvPr id="51" name="TextBox 50"/>
          <p:cNvSpPr txBox="1"/>
          <p:nvPr/>
        </p:nvSpPr>
        <p:spPr>
          <a:xfrm>
            <a:off x="6830568" y="6464808"/>
            <a:ext cx="4846320" cy="228600"/>
          </a:xfrm>
          <a:prstGeom prst="rect">
            <a:avLst/>
          </a:prstGeom>
          <a:noFill/>
        </p:spPr>
        <p:txBody>
          <a:bodyPr wrap="square">
            <a:spAutoFit/>
          </a:bodyPr>
          <a:lstStyle/>
          <a:p>
            <a:pPr algn="l"/>
            <a:r>
              <a:rPr sz="900" b="0" i="1">
                <a:solidFill>
                  <a:srgbClr val="8BA8C4"/>
                </a:solidFill>
                <a:latin typeface="Calibri"/>
              </a:rPr>
              <a:t>⚙ ranked_candidates.csv · detailed_report.json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System Architecture</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5-layer modular design — production-ready, FAISS-upgradeable, CPU-only</a:t>
            </a:r>
          </a:p>
        </p:txBody>
      </p:sp>
      <p:sp>
        <p:nvSpPr>
          <p:cNvPr id="4" name="Rounded Rectangle 3"/>
          <p:cNvSpPr/>
          <p:nvPr/>
        </p:nvSpPr>
        <p:spPr>
          <a:xfrm>
            <a:off x="320040" y="1325880"/>
            <a:ext cx="2103120" cy="1527048"/>
          </a:xfrm>
          <a:prstGeom prst="roundRect">
            <a:avLst/>
          </a:prstGeom>
          <a:solidFill>
            <a:srgbClr val="122C44"/>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325880"/>
            <a:ext cx="2103120" cy="347472"/>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 y="1362456"/>
            <a:ext cx="1956815" cy="292608"/>
          </a:xfrm>
          <a:prstGeom prst="rect">
            <a:avLst/>
          </a:prstGeom>
          <a:noFill/>
        </p:spPr>
        <p:txBody>
          <a:bodyPr wrap="square">
            <a:spAutoFit/>
          </a:bodyPr>
          <a:lstStyle/>
          <a:p>
            <a:pPr algn="ctr"/>
            <a:r>
              <a:rPr sz="950" b="1" i="0">
                <a:solidFill>
                  <a:srgbClr val="0D1B2A"/>
                </a:solidFill>
                <a:latin typeface="Calibri"/>
              </a:rPr>
              <a:t>INPUT LAYER</a:t>
            </a:r>
          </a:p>
        </p:txBody>
      </p:sp>
      <p:sp>
        <p:nvSpPr>
          <p:cNvPr id="7" name="Rounded Rectangle 6"/>
          <p:cNvSpPr/>
          <p:nvPr/>
        </p:nvSpPr>
        <p:spPr>
          <a:xfrm>
            <a:off x="411479" y="173736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764792"/>
            <a:ext cx="1828799" cy="237744"/>
          </a:xfrm>
          <a:prstGeom prst="rect">
            <a:avLst/>
          </a:prstGeom>
          <a:noFill/>
        </p:spPr>
        <p:txBody>
          <a:bodyPr wrap="square">
            <a:spAutoFit/>
          </a:bodyPr>
          <a:lstStyle/>
          <a:p>
            <a:pPr algn="l"/>
            <a:r>
              <a:rPr sz="950" b="1" i="0">
                <a:solidFill>
                  <a:srgbClr val="F0C040"/>
                </a:solidFill>
                <a:latin typeface="Calibri"/>
              </a:rPr>
              <a:t>candidates.jsonl (100K)</a:t>
            </a:r>
          </a:p>
        </p:txBody>
      </p:sp>
      <p:sp>
        <p:nvSpPr>
          <p:cNvPr id="9" name="TextBox 8"/>
          <p:cNvSpPr txBox="1"/>
          <p:nvPr/>
        </p:nvSpPr>
        <p:spPr>
          <a:xfrm>
            <a:off x="484632" y="1984248"/>
            <a:ext cx="1828799" cy="219456"/>
          </a:xfrm>
          <a:prstGeom prst="rect">
            <a:avLst/>
          </a:prstGeom>
          <a:noFill/>
        </p:spPr>
        <p:txBody>
          <a:bodyPr wrap="square">
            <a:spAutoFit/>
          </a:bodyPr>
          <a:lstStyle/>
          <a:p>
            <a:pPr algn="l"/>
            <a:r>
              <a:rPr sz="850" b="0" i="0">
                <a:solidFill>
                  <a:srgbClr val="8BA8C4"/>
                </a:solidFill>
                <a:latin typeface="Calibri"/>
              </a:rPr>
              <a:t>Raw JSONL streaming · gzip support</a:t>
            </a:r>
          </a:p>
        </p:txBody>
      </p:sp>
      <p:sp>
        <p:nvSpPr>
          <p:cNvPr id="10" name="Rounded Rectangle 9"/>
          <p:cNvSpPr/>
          <p:nvPr/>
        </p:nvSpPr>
        <p:spPr>
          <a:xfrm>
            <a:off x="411479" y="224028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2267712"/>
            <a:ext cx="1828799" cy="237744"/>
          </a:xfrm>
          <a:prstGeom prst="rect">
            <a:avLst/>
          </a:prstGeom>
          <a:noFill/>
        </p:spPr>
        <p:txBody>
          <a:bodyPr wrap="square">
            <a:spAutoFit/>
          </a:bodyPr>
          <a:lstStyle/>
          <a:p>
            <a:pPr algn="l"/>
            <a:r>
              <a:rPr sz="950" b="1" i="0">
                <a:solidFill>
                  <a:srgbClr val="F0C040"/>
                </a:solidFill>
                <a:latin typeface="Calibri"/>
              </a:rPr>
              <a:t>Job Description Text</a:t>
            </a:r>
          </a:p>
        </p:txBody>
      </p:sp>
      <p:sp>
        <p:nvSpPr>
          <p:cNvPr id="12" name="TextBox 11"/>
          <p:cNvSpPr txBox="1"/>
          <p:nvPr/>
        </p:nvSpPr>
        <p:spPr>
          <a:xfrm>
            <a:off x="484632" y="2487168"/>
            <a:ext cx="1828799" cy="219456"/>
          </a:xfrm>
          <a:prstGeom prst="rect">
            <a:avLst/>
          </a:prstGeom>
          <a:noFill/>
        </p:spPr>
        <p:txBody>
          <a:bodyPr wrap="square">
            <a:spAutoFit/>
          </a:bodyPr>
          <a:lstStyle/>
          <a:p>
            <a:pPr algn="l"/>
            <a:r>
              <a:rPr sz="850" b="0" i="0">
                <a:solidFill>
                  <a:srgbClr val="8BA8C4"/>
                </a:solidFill>
                <a:latin typeface="Calibri"/>
              </a:rPr>
              <a:t>JD_TEXT constant · external file support</a:t>
            </a:r>
          </a:p>
        </p:txBody>
      </p:sp>
      <p:sp>
        <p:nvSpPr>
          <p:cNvPr id="13" name="TextBox 12"/>
          <p:cNvSpPr txBox="1"/>
          <p:nvPr/>
        </p:nvSpPr>
        <p:spPr>
          <a:xfrm>
            <a:off x="2496312" y="1952244"/>
            <a:ext cx="201168" cy="384048"/>
          </a:xfrm>
          <a:prstGeom prst="rect">
            <a:avLst/>
          </a:prstGeom>
          <a:noFill/>
        </p:spPr>
        <p:txBody>
          <a:bodyPr wrap="square">
            <a:spAutoFit/>
          </a:bodyPr>
          <a:lstStyle/>
          <a:p>
            <a:pPr algn="ctr"/>
            <a:r>
              <a:rPr sz="1800" b="1" i="0">
                <a:solidFill>
                  <a:srgbClr val="1C7293"/>
                </a:solidFill>
                <a:latin typeface="Calibri"/>
              </a:rPr>
              <a:t>→</a:t>
            </a:r>
          </a:p>
        </p:txBody>
      </p:sp>
      <p:sp>
        <p:nvSpPr>
          <p:cNvPr id="14" name="Rounded Rectangle 13"/>
          <p:cNvSpPr/>
          <p:nvPr/>
        </p:nvSpPr>
        <p:spPr>
          <a:xfrm>
            <a:off x="2679192" y="1325880"/>
            <a:ext cx="2103120" cy="2029968"/>
          </a:xfrm>
          <a:prstGeom prst="roundRect">
            <a:avLst/>
          </a:prstGeom>
          <a:solidFill>
            <a:srgbClr val="122C44"/>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79192" y="1325880"/>
            <a:ext cx="2103120" cy="347472"/>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52344" y="1362456"/>
            <a:ext cx="1956815" cy="292608"/>
          </a:xfrm>
          <a:prstGeom prst="rect">
            <a:avLst/>
          </a:prstGeom>
          <a:noFill/>
        </p:spPr>
        <p:txBody>
          <a:bodyPr wrap="square">
            <a:spAutoFit/>
          </a:bodyPr>
          <a:lstStyle/>
          <a:p>
            <a:pPr algn="ctr"/>
            <a:r>
              <a:rPr sz="950" b="1" i="0">
                <a:solidFill>
                  <a:srgbClr val="0D1B2A"/>
                </a:solidFill>
                <a:latin typeface="Calibri"/>
              </a:rPr>
              <a:t>PROCESSING LAYER</a:t>
            </a:r>
          </a:p>
        </p:txBody>
      </p:sp>
      <p:sp>
        <p:nvSpPr>
          <p:cNvPr id="17" name="Rounded Rectangle 16"/>
          <p:cNvSpPr/>
          <p:nvPr/>
        </p:nvSpPr>
        <p:spPr>
          <a:xfrm>
            <a:off x="2770632" y="173736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3784" y="1764792"/>
            <a:ext cx="1828799" cy="237744"/>
          </a:xfrm>
          <a:prstGeom prst="rect">
            <a:avLst/>
          </a:prstGeom>
          <a:noFill/>
        </p:spPr>
        <p:txBody>
          <a:bodyPr wrap="square">
            <a:spAutoFit/>
          </a:bodyPr>
          <a:lstStyle/>
          <a:p>
            <a:pPr algn="l"/>
            <a:r>
              <a:rPr sz="950" b="1" i="0">
                <a:solidFill>
                  <a:srgbClr val="02C39A"/>
                </a:solidFill>
                <a:latin typeface="Calibri"/>
              </a:rPr>
              <a:t>src/prefilter.py</a:t>
            </a:r>
          </a:p>
        </p:txBody>
      </p:sp>
      <p:sp>
        <p:nvSpPr>
          <p:cNvPr id="19" name="TextBox 18"/>
          <p:cNvSpPr txBox="1"/>
          <p:nvPr/>
        </p:nvSpPr>
        <p:spPr>
          <a:xfrm>
            <a:off x="2843784" y="1984248"/>
            <a:ext cx="1828799" cy="219456"/>
          </a:xfrm>
          <a:prstGeom prst="rect">
            <a:avLst/>
          </a:prstGeom>
          <a:noFill/>
        </p:spPr>
        <p:txBody>
          <a:bodyPr wrap="square">
            <a:spAutoFit/>
          </a:bodyPr>
          <a:lstStyle/>
          <a:p>
            <a:pPr algn="l"/>
            <a:r>
              <a:rPr sz="850" b="0" i="0">
                <a:solidFill>
                  <a:srgbClr val="8BA8C4"/>
                </a:solidFill>
                <a:latin typeface="Calibri"/>
              </a:rPr>
              <a:t>Stage-0 keyword scan → 8K candidates</a:t>
            </a:r>
          </a:p>
        </p:txBody>
      </p:sp>
      <p:sp>
        <p:nvSpPr>
          <p:cNvPr id="20" name="Rounded Rectangle 19"/>
          <p:cNvSpPr/>
          <p:nvPr/>
        </p:nvSpPr>
        <p:spPr>
          <a:xfrm>
            <a:off x="2770632" y="224028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43784" y="2267712"/>
            <a:ext cx="1828799" cy="237744"/>
          </a:xfrm>
          <a:prstGeom prst="rect">
            <a:avLst/>
          </a:prstGeom>
          <a:noFill/>
        </p:spPr>
        <p:txBody>
          <a:bodyPr wrap="square">
            <a:spAutoFit/>
          </a:bodyPr>
          <a:lstStyle/>
          <a:p>
            <a:pPr algn="l"/>
            <a:r>
              <a:rPr sz="950" b="1" i="0">
                <a:solidFill>
                  <a:srgbClr val="02C39A"/>
                </a:solidFill>
                <a:latin typeface="Calibri"/>
              </a:rPr>
              <a:t>src/candidate_parser.py</a:t>
            </a:r>
          </a:p>
        </p:txBody>
      </p:sp>
      <p:sp>
        <p:nvSpPr>
          <p:cNvPr id="22" name="TextBox 21"/>
          <p:cNvSpPr txBox="1"/>
          <p:nvPr/>
        </p:nvSpPr>
        <p:spPr>
          <a:xfrm>
            <a:off x="2843784" y="2487168"/>
            <a:ext cx="1828799" cy="219456"/>
          </a:xfrm>
          <a:prstGeom prst="rect">
            <a:avLst/>
          </a:prstGeom>
          <a:noFill/>
        </p:spPr>
        <p:txBody>
          <a:bodyPr wrap="square">
            <a:spAutoFit/>
          </a:bodyPr>
          <a:lstStyle/>
          <a:p>
            <a:pPr algn="l"/>
            <a:r>
              <a:rPr sz="850" b="0" i="0">
                <a:solidFill>
                  <a:srgbClr val="8BA8C4"/>
                </a:solidFill>
                <a:latin typeface="Calibri"/>
              </a:rPr>
              <a:t>30+ feature extraction · honeypot detection</a:t>
            </a:r>
          </a:p>
        </p:txBody>
      </p:sp>
      <p:sp>
        <p:nvSpPr>
          <p:cNvPr id="23" name="Rounded Rectangle 22"/>
          <p:cNvSpPr/>
          <p:nvPr/>
        </p:nvSpPr>
        <p:spPr>
          <a:xfrm>
            <a:off x="2770632" y="274320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43784" y="2770632"/>
            <a:ext cx="1828799" cy="237744"/>
          </a:xfrm>
          <a:prstGeom prst="rect">
            <a:avLst/>
          </a:prstGeom>
          <a:noFill/>
        </p:spPr>
        <p:txBody>
          <a:bodyPr wrap="square">
            <a:spAutoFit/>
          </a:bodyPr>
          <a:lstStyle/>
          <a:p>
            <a:pPr algn="l"/>
            <a:r>
              <a:rPr sz="950" b="1" i="0">
                <a:solidFill>
                  <a:srgbClr val="02C39A"/>
                </a:solidFill>
                <a:latin typeface="Calibri"/>
              </a:rPr>
              <a:t>src/jd_parser.py</a:t>
            </a:r>
          </a:p>
        </p:txBody>
      </p:sp>
      <p:sp>
        <p:nvSpPr>
          <p:cNvPr id="25" name="TextBox 24"/>
          <p:cNvSpPr txBox="1"/>
          <p:nvPr/>
        </p:nvSpPr>
        <p:spPr>
          <a:xfrm>
            <a:off x="2843784" y="2990088"/>
            <a:ext cx="1828799" cy="219456"/>
          </a:xfrm>
          <a:prstGeom prst="rect">
            <a:avLst/>
          </a:prstGeom>
          <a:noFill/>
        </p:spPr>
        <p:txBody>
          <a:bodyPr wrap="square">
            <a:spAutoFit/>
          </a:bodyPr>
          <a:lstStyle/>
          <a:p>
            <a:pPr algn="l"/>
            <a:r>
              <a:rPr sz="850" b="0" i="0">
                <a:solidFill>
                  <a:srgbClr val="8BA8C4"/>
                </a:solidFill>
                <a:latin typeface="Calibri"/>
              </a:rPr>
              <a:t>29 skills · 6 locations · disqualifiers</a:t>
            </a:r>
          </a:p>
        </p:txBody>
      </p:sp>
      <p:sp>
        <p:nvSpPr>
          <p:cNvPr id="26" name="TextBox 25"/>
          <p:cNvSpPr txBox="1"/>
          <p:nvPr/>
        </p:nvSpPr>
        <p:spPr>
          <a:xfrm>
            <a:off x="4855464" y="2203704"/>
            <a:ext cx="201168" cy="384048"/>
          </a:xfrm>
          <a:prstGeom prst="rect">
            <a:avLst/>
          </a:prstGeom>
          <a:noFill/>
        </p:spPr>
        <p:txBody>
          <a:bodyPr wrap="square">
            <a:spAutoFit/>
          </a:bodyPr>
          <a:lstStyle/>
          <a:p>
            <a:pPr algn="ctr"/>
            <a:r>
              <a:rPr sz="1800" b="1" i="0">
                <a:solidFill>
                  <a:srgbClr val="1C7293"/>
                </a:solidFill>
                <a:latin typeface="Calibri"/>
              </a:rPr>
              <a:t>→</a:t>
            </a:r>
          </a:p>
        </p:txBody>
      </p:sp>
      <p:sp>
        <p:nvSpPr>
          <p:cNvPr id="27" name="Rounded Rectangle 26"/>
          <p:cNvSpPr/>
          <p:nvPr/>
        </p:nvSpPr>
        <p:spPr>
          <a:xfrm>
            <a:off x="5038344" y="1325880"/>
            <a:ext cx="2103120" cy="1527048"/>
          </a:xfrm>
          <a:prstGeom prst="roundRect">
            <a:avLst/>
          </a:prstGeom>
          <a:solidFill>
            <a:srgbClr val="122C44"/>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38344" y="1325880"/>
            <a:ext cx="2103120" cy="34747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11496" y="1362456"/>
            <a:ext cx="1956815" cy="292608"/>
          </a:xfrm>
          <a:prstGeom prst="rect">
            <a:avLst/>
          </a:prstGeom>
          <a:noFill/>
        </p:spPr>
        <p:txBody>
          <a:bodyPr wrap="square">
            <a:spAutoFit/>
          </a:bodyPr>
          <a:lstStyle/>
          <a:p>
            <a:pPr algn="ctr"/>
            <a:r>
              <a:rPr sz="950" b="1" i="0">
                <a:solidFill>
                  <a:srgbClr val="0D1B2A"/>
                </a:solidFill>
                <a:latin typeface="Calibri"/>
              </a:rPr>
              <a:t>RETRIEVAL LAYER</a:t>
            </a:r>
          </a:p>
        </p:txBody>
      </p:sp>
      <p:sp>
        <p:nvSpPr>
          <p:cNvPr id="30" name="Rounded Rectangle 29"/>
          <p:cNvSpPr/>
          <p:nvPr/>
        </p:nvSpPr>
        <p:spPr>
          <a:xfrm>
            <a:off x="5129783" y="173736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02936" y="1764792"/>
            <a:ext cx="1828799" cy="237744"/>
          </a:xfrm>
          <a:prstGeom prst="rect">
            <a:avLst/>
          </a:prstGeom>
          <a:noFill/>
        </p:spPr>
        <p:txBody>
          <a:bodyPr wrap="square">
            <a:spAutoFit/>
          </a:bodyPr>
          <a:lstStyle/>
          <a:p>
            <a:pPr algn="l"/>
            <a:r>
              <a:rPr sz="950" b="1" i="0">
                <a:solidFill>
                  <a:srgbClr val="CADCFC"/>
                </a:solidFill>
                <a:latin typeface="Calibri"/>
              </a:rPr>
              <a:t>src/embeddings.py</a:t>
            </a:r>
          </a:p>
        </p:txBody>
      </p:sp>
      <p:sp>
        <p:nvSpPr>
          <p:cNvPr id="32" name="TextBox 31"/>
          <p:cNvSpPr txBox="1"/>
          <p:nvPr/>
        </p:nvSpPr>
        <p:spPr>
          <a:xfrm>
            <a:off x="5202936" y="1984248"/>
            <a:ext cx="1828799" cy="219456"/>
          </a:xfrm>
          <a:prstGeom prst="rect">
            <a:avLst/>
          </a:prstGeom>
          <a:noFill/>
        </p:spPr>
        <p:txBody>
          <a:bodyPr wrap="square">
            <a:spAutoFit/>
          </a:bodyPr>
          <a:lstStyle/>
          <a:p>
            <a:pPr algn="l"/>
            <a:r>
              <a:rPr sz="850" b="0" i="0">
                <a:solidFill>
                  <a:srgbClr val="8BA8C4"/>
                </a:solidFill>
                <a:latin typeface="Calibri"/>
              </a:rPr>
              <a:t>TF-IDF bigram (vocab 19,728) · FAISS drop-in</a:t>
            </a:r>
          </a:p>
        </p:txBody>
      </p:sp>
      <p:sp>
        <p:nvSpPr>
          <p:cNvPr id="33" name="Rounded Rectangle 32"/>
          <p:cNvSpPr/>
          <p:nvPr/>
        </p:nvSpPr>
        <p:spPr>
          <a:xfrm>
            <a:off x="5129783" y="224028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02936" y="2267712"/>
            <a:ext cx="1828799" cy="237744"/>
          </a:xfrm>
          <a:prstGeom prst="rect">
            <a:avLst/>
          </a:prstGeom>
          <a:noFill/>
        </p:spPr>
        <p:txBody>
          <a:bodyPr wrap="square">
            <a:spAutoFit/>
          </a:bodyPr>
          <a:lstStyle/>
          <a:p>
            <a:pPr algn="l"/>
            <a:r>
              <a:rPr sz="950" b="1" i="0">
                <a:solidFill>
                  <a:srgbClr val="CADCFC"/>
                </a:solidFill>
                <a:latin typeface="Calibri"/>
              </a:rPr>
              <a:t>src/retrieval.py</a:t>
            </a:r>
          </a:p>
        </p:txBody>
      </p:sp>
      <p:sp>
        <p:nvSpPr>
          <p:cNvPr id="35" name="TextBox 34"/>
          <p:cNvSpPr txBox="1"/>
          <p:nvPr/>
        </p:nvSpPr>
        <p:spPr>
          <a:xfrm>
            <a:off x="5202936" y="2487168"/>
            <a:ext cx="1828799" cy="219456"/>
          </a:xfrm>
          <a:prstGeom prst="rect">
            <a:avLst/>
          </a:prstGeom>
          <a:noFill/>
        </p:spPr>
        <p:txBody>
          <a:bodyPr wrap="square">
            <a:spAutoFit/>
          </a:bodyPr>
          <a:lstStyle/>
          <a:p>
            <a:pPr algn="l"/>
            <a:r>
              <a:rPr sz="850" b="0" i="0">
                <a:solidFill>
                  <a:srgbClr val="8BA8C4"/>
                </a:solidFill>
                <a:latin typeface="Calibri"/>
              </a:rPr>
              <a:t>Cosine similarity · top-500 returned</a:t>
            </a:r>
          </a:p>
        </p:txBody>
      </p:sp>
      <p:sp>
        <p:nvSpPr>
          <p:cNvPr id="36" name="TextBox 35"/>
          <p:cNvSpPr txBox="1"/>
          <p:nvPr/>
        </p:nvSpPr>
        <p:spPr>
          <a:xfrm>
            <a:off x="7214616" y="1952244"/>
            <a:ext cx="201168" cy="384048"/>
          </a:xfrm>
          <a:prstGeom prst="rect">
            <a:avLst/>
          </a:prstGeom>
          <a:noFill/>
        </p:spPr>
        <p:txBody>
          <a:bodyPr wrap="square">
            <a:spAutoFit/>
          </a:bodyPr>
          <a:lstStyle/>
          <a:p>
            <a:pPr algn="ctr"/>
            <a:r>
              <a:rPr sz="1800" b="1" i="0">
                <a:solidFill>
                  <a:srgbClr val="1C7293"/>
                </a:solidFill>
                <a:latin typeface="Calibri"/>
              </a:rPr>
              <a:t>→</a:t>
            </a:r>
          </a:p>
        </p:txBody>
      </p:sp>
      <p:sp>
        <p:nvSpPr>
          <p:cNvPr id="37" name="Rounded Rectangle 36"/>
          <p:cNvSpPr/>
          <p:nvPr/>
        </p:nvSpPr>
        <p:spPr>
          <a:xfrm>
            <a:off x="7397496" y="1325880"/>
            <a:ext cx="2103120" cy="2029968"/>
          </a:xfrm>
          <a:prstGeom prst="roundRect">
            <a:avLst/>
          </a:prstGeom>
          <a:solidFill>
            <a:srgbClr val="122C44"/>
          </a:solidFill>
          <a:ln w="9525">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97496" y="1325880"/>
            <a:ext cx="2103120" cy="347472"/>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70648" y="1362456"/>
            <a:ext cx="1956815" cy="292608"/>
          </a:xfrm>
          <a:prstGeom prst="rect">
            <a:avLst/>
          </a:prstGeom>
          <a:noFill/>
        </p:spPr>
        <p:txBody>
          <a:bodyPr wrap="square">
            <a:spAutoFit/>
          </a:bodyPr>
          <a:lstStyle/>
          <a:p>
            <a:pPr algn="ctr"/>
            <a:r>
              <a:rPr sz="950" b="1" i="0">
                <a:solidFill>
                  <a:srgbClr val="0D1B2A"/>
                </a:solidFill>
                <a:latin typeface="Calibri"/>
              </a:rPr>
              <a:t>RANKING LAYER</a:t>
            </a:r>
          </a:p>
        </p:txBody>
      </p:sp>
      <p:sp>
        <p:nvSpPr>
          <p:cNvPr id="40" name="Rounded Rectangle 39"/>
          <p:cNvSpPr/>
          <p:nvPr/>
        </p:nvSpPr>
        <p:spPr>
          <a:xfrm>
            <a:off x="7488936" y="173736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62088" y="1764792"/>
            <a:ext cx="1828799" cy="237744"/>
          </a:xfrm>
          <a:prstGeom prst="rect">
            <a:avLst/>
          </a:prstGeom>
          <a:noFill/>
        </p:spPr>
        <p:txBody>
          <a:bodyPr wrap="square">
            <a:spAutoFit/>
          </a:bodyPr>
          <a:lstStyle/>
          <a:p>
            <a:pPr algn="l"/>
            <a:r>
              <a:rPr sz="950" b="1" i="0">
                <a:solidFill>
                  <a:srgbClr val="F96167"/>
                </a:solidFill>
                <a:latin typeface="Calibri"/>
              </a:rPr>
              <a:t>src/scoring.py</a:t>
            </a:r>
          </a:p>
        </p:txBody>
      </p:sp>
      <p:sp>
        <p:nvSpPr>
          <p:cNvPr id="42" name="TextBox 41"/>
          <p:cNvSpPr txBox="1"/>
          <p:nvPr/>
        </p:nvSpPr>
        <p:spPr>
          <a:xfrm>
            <a:off x="7562088" y="1984248"/>
            <a:ext cx="1828799" cy="219456"/>
          </a:xfrm>
          <a:prstGeom prst="rect">
            <a:avLst/>
          </a:prstGeom>
          <a:noFill/>
        </p:spPr>
        <p:txBody>
          <a:bodyPr wrap="square">
            <a:spAutoFit/>
          </a:bodyPr>
          <a:lstStyle/>
          <a:p>
            <a:pPr algn="l"/>
            <a:r>
              <a:rPr sz="850" b="0" i="0">
                <a:solidFill>
                  <a:srgbClr val="8BA8C4"/>
                </a:solidFill>
                <a:latin typeface="Calibri"/>
              </a:rPr>
              <a:t>7-component scorer · behavioral multiplier</a:t>
            </a:r>
          </a:p>
        </p:txBody>
      </p:sp>
      <p:sp>
        <p:nvSpPr>
          <p:cNvPr id="43" name="Rounded Rectangle 42"/>
          <p:cNvSpPr/>
          <p:nvPr/>
        </p:nvSpPr>
        <p:spPr>
          <a:xfrm>
            <a:off x="7488936" y="224028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62088" y="2267712"/>
            <a:ext cx="1828799" cy="237744"/>
          </a:xfrm>
          <a:prstGeom prst="rect">
            <a:avLst/>
          </a:prstGeom>
          <a:noFill/>
        </p:spPr>
        <p:txBody>
          <a:bodyPr wrap="square">
            <a:spAutoFit/>
          </a:bodyPr>
          <a:lstStyle/>
          <a:p>
            <a:pPr algn="l"/>
            <a:r>
              <a:rPr sz="950" b="1" i="0">
                <a:solidFill>
                  <a:srgbClr val="F96167"/>
                </a:solidFill>
                <a:latin typeface="Calibri"/>
              </a:rPr>
              <a:t>src/reranker.py</a:t>
            </a:r>
          </a:p>
        </p:txBody>
      </p:sp>
      <p:sp>
        <p:nvSpPr>
          <p:cNvPr id="45" name="TextBox 44"/>
          <p:cNvSpPr txBox="1"/>
          <p:nvPr/>
        </p:nvSpPr>
        <p:spPr>
          <a:xfrm>
            <a:off x="7562088" y="2487168"/>
            <a:ext cx="1828799" cy="219456"/>
          </a:xfrm>
          <a:prstGeom prst="rect">
            <a:avLst/>
          </a:prstGeom>
          <a:noFill/>
        </p:spPr>
        <p:txBody>
          <a:bodyPr wrap="square">
            <a:spAutoFit/>
          </a:bodyPr>
          <a:lstStyle/>
          <a:p>
            <a:pPr algn="l"/>
            <a:r>
              <a:rPr sz="850" b="0" i="0">
                <a:solidFill>
                  <a:srgbClr val="8BA8C4"/>
                </a:solidFill>
                <a:latin typeface="Calibri"/>
              </a:rPr>
              <a:t>JD-specific boosts · ghost/honeypot filters</a:t>
            </a:r>
          </a:p>
        </p:txBody>
      </p:sp>
      <p:sp>
        <p:nvSpPr>
          <p:cNvPr id="46" name="Rounded Rectangle 45"/>
          <p:cNvSpPr/>
          <p:nvPr/>
        </p:nvSpPr>
        <p:spPr>
          <a:xfrm>
            <a:off x="7488936" y="274320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62088" y="2770632"/>
            <a:ext cx="1828799" cy="237744"/>
          </a:xfrm>
          <a:prstGeom prst="rect">
            <a:avLst/>
          </a:prstGeom>
          <a:noFill/>
        </p:spPr>
        <p:txBody>
          <a:bodyPr wrap="square">
            <a:spAutoFit/>
          </a:bodyPr>
          <a:lstStyle/>
          <a:p>
            <a:pPr algn="l"/>
            <a:r>
              <a:rPr sz="950" b="1" i="0">
                <a:solidFill>
                  <a:srgbClr val="F96167"/>
                </a:solidFill>
                <a:latin typeface="Calibri"/>
              </a:rPr>
              <a:t>src/explainability.py</a:t>
            </a:r>
          </a:p>
        </p:txBody>
      </p:sp>
      <p:sp>
        <p:nvSpPr>
          <p:cNvPr id="48" name="TextBox 47"/>
          <p:cNvSpPr txBox="1"/>
          <p:nvPr/>
        </p:nvSpPr>
        <p:spPr>
          <a:xfrm>
            <a:off x="7562088" y="2990088"/>
            <a:ext cx="1828799" cy="219456"/>
          </a:xfrm>
          <a:prstGeom prst="rect">
            <a:avLst/>
          </a:prstGeom>
          <a:noFill/>
        </p:spPr>
        <p:txBody>
          <a:bodyPr wrap="square">
            <a:spAutoFit/>
          </a:bodyPr>
          <a:lstStyle/>
          <a:p>
            <a:pPr algn="l"/>
            <a:r>
              <a:rPr sz="850" b="0" i="0">
                <a:solidFill>
                  <a:srgbClr val="8BA8C4"/>
                </a:solidFill>
                <a:latin typeface="Calibri"/>
              </a:rPr>
              <a:t>Fact-grounded reasoning per candidate</a:t>
            </a:r>
          </a:p>
        </p:txBody>
      </p:sp>
      <p:sp>
        <p:nvSpPr>
          <p:cNvPr id="49" name="TextBox 48"/>
          <p:cNvSpPr txBox="1"/>
          <p:nvPr/>
        </p:nvSpPr>
        <p:spPr>
          <a:xfrm>
            <a:off x="9573768" y="2203704"/>
            <a:ext cx="201168" cy="384048"/>
          </a:xfrm>
          <a:prstGeom prst="rect">
            <a:avLst/>
          </a:prstGeom>
          <a:noFill/>
        </p:spPr>
        <p:txBody>
          <a:bodyPr wrap="square">
            <a:spAutoFit/>
          </a:bodyPr>
          <a:lstStyle/>
          <a:p>
            <a:pPr algn="ctr"/>
            <a:r>
              <a:rPr sz="1800" b="1" i="0">
                <a:solidFill>
                  <a:srgbClr val="1C7293"/>
                </a:solidFill>
                <a:latin typeface="Calibri"/>
              </a:rPr>
              <a:t>→</a:t>
            </a:r>
          </a:p>
        </p:txBody>
      </p:sp>
      <p:sp>
        <p:nvSpPr>
          <p:cNvPr id="50" name="Rounded Rectangle 49"/>
          <p:cNvSpPr/>
          <p:nvPr/>
        </p:nvSpPr>
        <p:spPr>
          <a:xfrm>
            <a:off x="9756648" y="1325880"/>
            <a:ext cx="2103120" cy="2029968"/>
          </a:xfrm>
          <a:prstGeom prst="roundRect">
            <a:avLst/>
          </a:prstGeom>
          <a:solidFill>
            <a:srgbClr val="122C44"/>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756648" y="1325880"/>
            <a:ext cx="2103120" cy="347472"/>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29800" y="1362456"/>
            <a:ext cx="1956815" cy="292608"/>
          </a:xfrm>
          <a:prstGeom prst="rect">
            <a:avLst/>
          </a:prstGeom>
          <a:noFill/>
        </p:spPr>
        <p:txBody>
          <a:bodyPr wrap="square">
            <a:spAutoFit/>
          </a:bodyPr>
          <a:lstStyle/>
          <a:p>
            <a:pPr algn="ctr"/>
            <a:r>
              <a:rPr sz="950" b="1" i="0">
                <a:solidFill>
                  <a:srgbClr val="0D1B2A"/>
                </a:solidFill>
                <a:latin typeface="Calibri"/>
              </a:rPr>
              <a:t>OUTPUT LAYER</a:t>
            </a:r>
          </a:p>
        </p:txBody>
      </p:sp>
      <p:sp>
        <p:nvSpPr>
          <p:cNvPr id="53" name="Rounded Rectangle 52"/>
          <p:cNvSpPr/>
          <p:nvPr/>
        </p:nvSpPr>
        <p:spPr>
          <a:xfrm>
            <a:off x="9848088" y="173736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21240" y="1764792"/>
            <a:ext cx="1828799" cy="237744"/>
          </a:xfrm>
          <a:prstGeom prst="rect">
            <a:avLst/>
          </a:prstGeom>
          <a:noFill/>
        </p:spPr>
        <p:txBody>
          <a:bodyPr wrap="square">
            <a:spAutoFit/>
          </a:bodyPr>
          <a:lstStyle/>
          <a:p>
            <a:pPr algn="l"/>
            <a:r>
              <a:rPr sz="950" b="1" i="0">
                <a:solidFill>
                  <a:srgbClr val="F0C040"/>
                </a:solidFill>
                <a:latin typeface="Calibri"/>
              </a:rPr>
              <a:t>ranked_candidates.csv</a:t>
            </a:r>
          </a:p>
        </p:txBody>
      </p:sp>
      <p:sp>
        <p:nvSpPr>
          <p:cNvPr id="55" name="TextBox 54"/>
          <p:cNvSpPr txBox="1"/>
          <p:nvPr/>
        </p:nvSpPr>
        <p:spPr>
          <a:xfrm>
            <a:off x="9921240" y="1984248"/>
            <a:ext cx="1828799" cy="219456"/>
          </a:xfrm>
          <a:prstGeom prst="rect">
            <a:avLst/>
          </a:prstGeom>
          <a:noFill/>
        </p:spPr>
        <p:txBody>
          <a:bodyPr wrap="square">
            <a:spAutoFit/>
          </a:bodyPr>
          <a:lstStyle/>
          <a:p>
            <a:pPr algn="l"/>
            <a:r>
              <a:rPr sz="850" b="0" i="0">
                <a:solidFill>
                  <a:srgbClr val="8BA8C4"/>
                </a:solidFill>
                <a:latin typeface="Calibri"/>
              </a:rPr>
              <a:t>100 rows · scores 0.8546–1.0000 · validator ✅</a:t>
            </a:r>
          </a:p>
        </p:txBody>
      </p:sp>
      <p:sp>
        <p:nvSpPr>
          <p:cNvPr id="56" name="Rounded Rectangle 55"/>
          <p:cNvSpPr/>
          <p:nvPr/>
        </p:nvSpPr>
        <p:spPr>
          <a:xfrm>
            <a:off x="9848088" y="224028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21240" y="2267712"/>
            <a:ext cx="1828799" cy="237744"/>
          </a:xfrm>
          <a:prstGeom prst="rect">
            <a:avLst/>
          </a:prstGeom>
          <a:noFill/>
        </p:spPr>
        <p:txBody>
          <a:bodyPr wrap="square">
            <a:spAutoFit/>
          </a:bodyPr>
          <a:lstStyle/>
          <a:p>
            <a:pPr algn="l"/>
            <a:r>
              <a:rPr sz="950" b="1" i="0">
                <a:solidFill>
                  <a:srgbClr val="F0C040"/>
                </a:solidFill>
                <a:latin typeface="Calibri"/>
              </a:rPr>
              <a:t>detailed_report.json</a:t>
            </a:r>
          </a:p>
        </p:txBody>
      </p:sp>
      <p:sp>
        <p:nvSpPr>
          <p:cNvPr id="58" name="TextBox 57"/>
          <p:cNvSpPr txBox="1"/>
          <p:nvPr/>
        </p:nvSpPr>
        <p:spPr>
          <a:xfrm>
            <a:off x="9921240" y="2487168"/>
            <a:ext cx="1828799" cy="219456"/>
          </a:xfrm>
          <a:prstGeom prst="rect">
            <a:avLst/>
          </a:prstGeom>
          <a:noFill/>
        </p:spPr>
        <p:txBody>
          <a:bodyPr wrap="square">
            <a:spAutoFit/>
          </a:bodyPr>
          <a:lstStyle/>
          <a:p>
            <a:pPr algn="l"/>
            <a:r>
              <a:rPr sz="850" b="0" i="0">
                <a:solidFill>
                  <a:srgbClr val="8BA8C4"/>
                </a:solidFill>
                <a:latin typeface="Calibri"/>
              </a:rPr>
              <a:t>7 component scores + features per candidate</a:t>
            </a:r>
          </a:p>
        </p:txBody>
      </p:sp>
      <p:sp>
        <p:nvSpPr>
          <p:cNvPr id="59" name="Rounded Rectangle 58"/>
          <p:cNvSpPr/>
          <p:nvPr/>
        </p:nvSpPr>
        <p:spPr>
          <a:xfrm>
            <a:off x="9848088" y="2743200"/>
            <a:ext cx="1920239" cy="448056"/>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21240" y="2770632"/>
            <a:ext cx="1828799" cy="237744"/>
          </a:xfrm>
          <a:prstGeom prst="rect">
            <a:avLst/>
          </a:prstGeom>
          <a:noFill/>
        </p:spPr>
        <p:txBody>
          <a:bodyPr wrap="square">
            <a:spAutoFit/>
          </a:bodyPr>
          <a:lstStyle/>
          <a:p>
            <a:pPr algn="l"/>
            <a:r>
              <a:rPr sz="950" b="1" i="0">
                <a:solidFill>
                  <a:srgbClr val="F0C040"/>
                </a:solidFill>
                <a:latin typeface="Calibri"/>
              </a:rPr>
              <a:t>src/evaluation.py</a:t>
            </a:r>
          </a:p>
        </p:txBody>
      </p:sp>
      <p:sp>
        <p:nvSpPr>
          <p:cNvPr id="61" name="TextBox 60"/>
          <p:cNvSpPr txBox="1"/>
          <p:nvPr/>
        </p:nvSpPr>
        <p:spPr>
          <a:xfrm>
            <a:off x="9921240" y="2990088"/>
            <a:ext cx="1828799" cy="219456"/>
          </a:xfrm>
          <a:prstGeom prst="rect">
            <a:avLst/>
          </a:prstGeom>
          <a:noFill/>
        </p:spPr>
        <p:txBody>
          <a:bodyPr wrap="square">
            <a:spAutoFit/>
          </a:bodyPr>
          <a:lstStyle/>
          <a:p>
            <a:pPr algn="l"/>
            <a:r>
              <a:rPr sz="850" b="0" i="0">
                <a:solidFill>
                  <a:srgbClr val="8BA8C4"/>
                </a:solidFill>
                <a:latin typeface="Calibri"/>
              </a:rPr>
              <a:t>NDCG@K · MAP · Precision@K metrics</a:t>
            </a:r>
          </a:p>
        </p:txBody>
      </p:sp>
      <p:sp>
        <p:nvSpPr>
          <p:cNvPr id="62" name="Rounded Rectangle 61"/>
          <p:cNvSpPr/>
          <p:nvPr/>
        </p:nvSpPr>
        <p:spPr>
          <a:xfrm>
            <a:off x="320040" y="5623560"/>
            <a:ext cx="11548872" cy="1005840"/>
          </a:xfrm>
          <a:prstGeom prst="roundRect">
            <a:avLst/>
          </a:prstGeom>
          <a:solidFill>
            <a:srgbClr val="0D1B2A"/>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75488" y="5715000"/>
            <a:ext cx="1097280" cy="320040"/>
          </a:xfrm>
          <a:prstGeom prst="rect">
            <a:avLst/>
          </a:prstGeom>
          <a:noFill/>
        </p:spPr>
        <p:txBody>
          <a:bodyPr wrap="square">
            <a:spAutoFit/>
          </a:bodyPr>
          <a:lstStyle/>
          <a:p>
            <a:pPr algn="l"/>
            <a:r>
              <a:rPr sz="1100" b="1" i="0">
                <a:solidFill>
                  <a:srgbClr val="F0C040"/>
                </a:solidFill>
                <a:latin typeface="Calibri"/>
              </a:rPr>
              <a:t>Data Flow:</a:t>
            </a:r>
          </a:p>
        </p:txBody>
      </p:sp>
      <p:sp>
        <p:nvSpPr>
          <p:cNvPr id="64" name="TextBox 63"/>
          <p:cNvSpPr txBox="1"/>
          <p:nvPr/>
        </p:nvSpPr>
        <p:spPr>
          <a:xfrm>
            <a:off x="1627632" y="5715000"/>
            <a:ext cx="10058400" cy="320040"/>
          </a:xfrm>
          <a:prstGeom prst="rect">
            <a:avLst/>
          </a:prstGeom>
          <a:noFill/>
        </p:spPr>
        <p:txBody>
          <a:bodyPr wrap="square">
            <a:spAutoFit/>
          </a:bodyPr>
          <a:lstStyle/>
          <a:p>
            <a:pPr algn="l"/>
            <a:r>
              <a:rPr sz="1100" b="0" i="0">
                <a:solidFill>
                  <a:srgbClr val="F0F4F8"/>
                </a:solidFill>
                <a:latin typeface="Calibri"/>
              </a:rPr>
              <a:t>100K candidates.jsonl  →  [prefilter: 12.3s]  →  8K ML candidates  →  [parse: 2.0s]  →  30+ features  →  [TF-IDF: 5.2s]  →  Top-500  →  [score+rerank: 0.7s]  →  Top-100 with reasoning  ·  Total: 22 seconds</a:t>
            </a:r>
          </a:p>
        </p:txBody>
      </p:sp>
      <p:sp>
        <p:nvSpPr>
          <p:cNvPr id="65" name="TextBox 64"/>
          <p:cNvSpPr txBox="1"/>
          <p:nvPr/>
        </p:nvSpPr>
        <p:spPr>
          <a:xfrm>
            <a:off x="475488" y="6080760"/>
            <a:ext cx="11247120" cy="411480"/>
          </a:xfrm>
          <a:prstGeom prst="rect">
            <a:avLst/>
          </a:prstGeom>
          <a:noFill/>
        </p:spPr>
        <p:txBody>
          <a:bodyPr wrap="square">
            <a:spAutoFit/>
          </a:bodyPr>
          <a:lstStyle/>
          <a:p>
            <a:pPr algn="ctr"/>
            <a:r>
              <a:rPr sz="1200" b="1" i="0">
                <a:solidFill>
                  <a:srgbClr val="02C39A"/>
                </a:solidFill>
                <a:latin typeface="Calibri"/>
              </a:rPr>
              <a:t>⚡ CPU-only · No GPU · No network calls · ≤4 GB RAM · &lt;22 seconds wall-clock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Results &amp; Evaluation</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Actual metrics from ranked_candidates.csv and detailed_report.json</a:t>
            </a:r>
          </a:p>
        </p:txBody>
      </p:sp>
      <p:sp>
        <p:nvSpPr>
          <p:cNvPr id="4" name="Rounded Rectangle 3"/>
          <p:cNvSpPr/>
          <p:nvPr/>
        </p:nvSpPr>
        <p:spPr>
          <a:xfrm>
            <a:off x="320040"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1417320"/>
            <a:ext cx="1664208" cy="566928"/>
          </a:xfrm>
          <a:prstGeom prst="rect">
            <a:avLst/>
          </a:prstGeom>
          <a:noFill/>
        </p:spPr>
        <p:txBody>
          <a:bodyPr wrap="square">
            <a:spAutoFit/>
          </a:bodyPr>
          <a:lstStyle/>
          <a:p>
            <a:pPr algn="ctr"/>
            <a:r>
              <a:rPr sz="2300" b="1" i="0">
                <a:solidFill>
                  <a:srgbClr val="F0C040"/>
                </a:solidFill>
                <a:latin typeface="Calibri"/>
              </a:rPr>
              <a:t>22 sec</a:t>
            </a:r>
          </a:p>
        </p:txBody>
      </p:sp>
      <p:sp>
        <p:nvSpPr>
          <p:cNvPr id="6" name="TextBox 5"/>
          <p:cNvSpPr txBox="1"/>
          <p:nvPr/>
        </p:nvSpPr>
        <p:spPr>
          <a:xfrm>
            <a:off x="411479" y="1975104"/>
            <a:ext cx="1664208" cy="502920"/>
          </a:xfrm>
          <a:prstGeom prst="rect">
            <a:avLst/>
          </a:prstGeom>
          <a:noFill/>
        </p:spPr>
        <p:txBody>
          <a:bodyPr wrap="square">
            <a:spAutoFit/>
          </a:bodyPr>
          <a:lstStyle/>
          <a:p>
            <a:pPr algn="ctr"/>
            <a:r>
              <a:rPr sz="950" b="0" i="0">
                <a:solidFill>
                  <a:srgbClr val="8BA8C4"/>
                </a:solidFill>
                <a:latin typeface="Calibri"/>
              </a:rPr>
              <a:t>Total Runtime
(100K candidates)</a:t>
            </a:r>
          </a:p>
        </p:txBody>
      </p:sp>
      <p:sp>
        <p:nvSpPr>
          <p:cNvPr id="7" name="Rounded Rectangle 6"/>
          <p:cNvSpPr/>
          <p:nvPr/>
        </p:nvSpPr>
        <p:spPr>
          <a:xfrm>
            <a:off x="2295144"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6584" y="1417320"/>
            <a:ext cx="1664208" cy="566928"/>
          </a:xfrm>
          <a:prstGeom prst="rect">
            <a:avLst/>
          </a:prstGeom>
          <a:noFill/>
        </p:spPr>
        <p:txBody>
          <a:bodyPr wrap="square">
            <a:spAutoFit/>
          </a:bodyPr>
          <a:lstStyle/>
          <a:p>
            <a:pPr algn="ctr"/>
            <a:r>
              <a:rPr sz="2300" b="1" i="0">
                <a:solidFill>
                  <a:srgbClr val="02C39A"/>
                </a:solidFill>
                <a:latin typeface="Calibri"/>
              </a:rPr>
              <a:t>0.9044</a:t>
            </a:r>
          </a:p>
        </p:txBody>
      </p:sp>
      <p:sp>
        <p:nvSpPr>
          <p:cNvPr id="9" name="TextBox 8"/>
          <p:cNvSpPr txBox="1"/>
          <p:nvPr/>
        </p:nvSpPr>
        <p:spPr>
          <a:xfrm>
            <a:off x="2386584" y="1975104"/>
            <a:ext cx="1664208" cy="502920"/>
          </a:xfrm>
          <a:prstGeom prst="rect">
            <a:avLst/>
          </a:prstGeom>
          <a:noFill/>
        </p:spPr>
        <p:txBody>
          <a:bodyPr wrap="square">
            <a:spAutoFit/>
          </a:bodyPr>
          <a:lstStyle/>
          <a:p>
            <a:pPr algn="ctr"/>
            <a:r>
              <a:rPr sz="950" b="0" i="0">
                <a:solidFill>
                  <a:srgbClr val="8BA8C4"/>
                </a:solidFill>
                <a:latin typeface="Calibri"/>
              </a:rPr>
              <a:t>Avg Score
(Top 100)</a:t>
            </a:r>
          </a:p>
        </p:txBody>
      </p:sp>
      <p:sp>
        <p:nvSpPr>
          <p:cNvPr id="10" name="Rounded Rectangle 9"/>
          <p:cNvSpPr/>
          <p:nvPr/>
        </p:nvSpPr>
        <p:spPr>
          <a:xfrm>
            <a:off x="4270248"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417320"/>
            <a:ext cx="1664208" cy="566928"/>
          </a:xfrm>
          <a:prstGeom prst="rect">
            <a:avLst/>
          </a:prstGeom>
          <a:noFill/>
        </p:spPr>
        <p:txBody>
          <a:bodyPr wrap="square">
            <a:spAutoFit/>
          </a:bodyPr>
          <a:lstStyle/>
          <a:p>
            <a:pPr algn="ctr"/>
            <a:r>
              <a:rPr sz="2300" b="1" i="0">
                <a:solidFill>
                  <a:srgbClr val="CADCFC"/>
                </a:solidFill>
                <a:latin typeface="Calibri"/>
              </a:rPr>
              <a:t>0.9895</a:t>
            </a:r>
          </a:p>
        </p:txBody>
      </p:sp>
      <p:sp>
        <p:nvSpPr>
          <p:cNvPr id="12" name="TextBox 11"/>
          <p:cNvSpPr txBox="1"/>
          <p:nvPr/>
        </p:nvSpPr>
        <p:spPr>
          <a:xfrm>
            <a:off x="4361688" y="1975104"/>
            <a:ext cx="1664208" cy="502920"/>
          </a:xfrm>
          <a:prstGeom prst="rect">
            <a:avLst/>
          </a:prstGeom>
          <a:noFill/>
        </p:spPr>
        <p:txBody>
          <a:bodyPr wrap="square">
            <a:spAutoFit/>
          </a:bodyPr>
          <a:lstStyle/>
          <a:p>
            <a:pPr algn="ctr"/>
            <a:r>
              <a:rPr sz="950" b="0" i="0">
                <a:solidFill>
                  <a:srgbClr val="8BA8C4"/>
                </a:solidFill>
                <a:latin typeface="Calibri"/>
              </a:rPr>
              <a:t>Avg Score
(Top 10)</a:t>
            </a:r>
          </a:p>
        </p:txBody>
      </p:sp>
      <p:sp>
        <p:nvSpPr>
          <p:cNvPr id="13" name="Rounded Rectangle 12"/>
          <p:cNvSpPr/>
          <p:nvPr/>
        </p:nvSpPr>
        <p:spPr>
          <a:xfrm>
            <a:off x="6245352"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1664208" cy="566928"/>
          </a:xfrm>
          <a:prstGeom prst="rect">
            <a:avLst/>
          </a:prstGeom>
          <a:noFill/>
        </p:spPr>
        <p:txBody>
          <a:bodyPr wrap="square">
            <a:spAutoFit/>
          </a:bodyPr>
          <a:lstStyle/>
          <a:p>
            <a:pPr algn="ctr"/>
            <a:r>
              <a:rPr sz="2300" b="1" i="0">
                <a:solidFill>
                  <a:srgbClr val="02C39A"/>
                </a:solidFill>
                <a:latin typeface="Calibri"/>
              </a:rPr>
              <a:t>100/100</a:t>
            </a:r>
          </a:p>
        </p:txBody>
      </p:sp>
      <p:sp>
        <p:nvSpPr>
          <p:cNvPr id="15" name="TextBox 14"/>
          <p:cNvSpPr txBox="1"/>
          <p:nvPr/>
        </p:nvSpPr>
        <p:spPr>
          <a:xfrm>
            <a:off x="6336792" y="1975104"/>
            <a:ext cx="1664208" cy="502920"/>
          </a:xfrm>
          <a:prstGeom prst="rect">
            <a:avLst/>
          </a:prstGeom>
          <a:noFill/>
        </p:spPr>
        <p:txBody>
          <a:bodyPr wrap="square">
            <a:spAutoFit/>
          </a:bodyPr>
          <a:lstStyle/>
          <a:p>
            <a:pPr algn="ctr"/>
            <a:r>
              <a:rPr sz="950" b="0" i="0">
                <a:solidFill>
                  <a:srgbClr val="8BA8C4"/>
                </a:solidFill>
                <a:latin typeface="Calibri"/>
              </a:rPr>
              <a:t>Shipped Ranking
System (Top 100)</a:t>
            </a:r>
          </a:p>
        </p:txBody>
      </p:sp>
      <p:sp>
        <p:nvSpPr>
          <p:cNvPr id="16" name="Rounded Rectangle 15"/>
          <p:cNvSpPr/>
          <p:nvPr/>
        </p:nvSpPr>
        <p:spPr>
          <a:xfrm>
            <a:off x="8220456"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1417320"/>
            <a:ext cx="1664208" cy="566928"/>
          </a:xfrm>
          <a:prstGeom prst="rect">
            <a:avLst/>
          </a:prstGeom>
          <a:noFill/>
        </p:spPr>
        <p:txBody>
          <a:bodyPr wrap="square">
            <a:spAutoFit/>
          </a:bodyPr>
          <a:lstStyle/>
          <a:p>
            <a:pPr algn="ctr"/>
            <a:r>
              <a:rPr sz="2300" b="1" i="0">
                <a:solidFill>
                  <a:srgbClr val="F96167"/>
                </a:solidFill>
                <a:latin typeface="Calibri"/>
              </a:rPr>
              <a:t>0</a:t>
            </a:r>
          </a:p>
        </p:txBody>
      </p:sp>
      <p:sp>
        <p:nvSpPr>
          <p:cNvPr id="18" name="TextBox 17"/>
          <p:cNvSpPr txBox="1"/>
          <p:nvPr/>
        </p:nvSpPr>
        <p:spPr>
          <a:xfrm>
            <a:off x="8311896" y="1975104"/>
            <a:ext cx="1664208" cy="502920"/>
          </a:xfrm>
          <a:prstGeom prst="rect">
            <a:avLst/>
          </a:prstGeom>
          <a:noFill/>
        </p:spPr>
        <p:txBody>
          <a:bodyPr wrap="square">
            <a:spAutoFit/>
          </a:bodyPr>
          <a:lstStyle/>
          <a:p>
            <a:pPr algn="ctr"/>
            <a:r>
              <a:rPr sz="950" b="0" i="0">
                <a:solidFill>
                  <a:srgbClr val="8BA8C4"/>
                </a:solidFill>
                <a:latin typeface="Calibri"/>
              </a:rPr>
              <a:t>Honeypots
in Top-100</a:t>
            </a:r>
          </a:p>
        </p:txBody>
      </p:sp>
      <p:sp>
        <p:nvSpPr>
          <p:cNvPr id="19" name="Rounded Rectangle 18"/>
          <p:cNvSpPr/>
          <p:nvPr/>
        </p:nvSpPr>
        <p:spPr>
          <a:xfrm>
            <a:off x="10195560" y="1325880"/>
            <a:ext cx="1847088" cy="12344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87000" y="1417320"/>
            <a:ext cx="1664208" cy="566928"/>
          </a:xfrm>
          <a:prstGeom prst="rect">
            <a:avLst/>
          </a:prstGeom>
          <a:noFill/>
        </p:spPr>
        <p:txBody>
          <a:bodyPr wrap="square">
            <a:spAutoFit/>
          </a:bodyPr>
          <a:lstStyle/>
          <a:p>
            <a:pPr algn="ctr"/>
            <a:r>
              <a:rPr sz="2300" b="1" i="0">
                <a:solidFill>
                  <a:srgbClr val="F0C040"/>
                </a:solidFill>
                <a:latin typeface="Calibri"/>
              </a:rPr>
              <a:t>✅ PASS</a:t>
            </a:r>
          </a:p>
        </p:txBody>
      </p:sp>
      <p:sp>
        <p:nvSpPr>
          <p:cNvPr id="21" name="TextBox 20"/>
          <p:cNvSpPr txBox="1"/>
          <p:nvPr/>
        </p:nvSpPr>
        <p:spPr>
          <a:xfrm>
            <a:off x="10287000" y="1975104"/>
            <a:ext cx="1664208" cy="502920"/>
          </a:xfrm>
          <a:prstGeom prst="rect">
            <a:avLst/>
          </a:prstGeom>
          <a:noFill/>
        </p:spPr>
        <p:txBody>
          <a:bodyPr wrap="square">
            <a:spAutoFit/>
          </a:bodyPr>
          <a:lstStyle/>
          <a:p>
            <a:pPr algn="ctr"/>
            <a:r>
              <a:rPr sz="950" b="0" i="0">
                <a:solidFill>
                  <a:srgbClr val="8BA8C4"/>
                </a:solidFill>
                <a:latin typeface="Calibri"/>
              </a:rPr>
              <a:t>Official
Validator</a:t>
            </a:r>
          </a:p>
        </p:txBody>
      </p:sp>
      <p:sp>
        <p:nvSpPr>
          <p:cNvPr id="22" name="Rounded Rectangle 21"/>
          <p:cNvSpPr/>
          <p:nvPr/>
        </p:nvSpPr>
        <p:spPr>
          <a:xfrm>
            <a:off x="320040" y="2761488"/>
            <a:ext cx="5349240" cy="379476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2871216"/>
            <a:ext cx="5120640" cy="384048"/>
          </a:xfrm>
          <a:prstGeom prst="rect">
            <a:avLst/>
          </a:prstGeom>
          <a:noFill/>
        </p:spPr>
        <p:txBody>
          <a:bodyPr wrap="square">
            <a:spAutoFit/>
          </a:bodyPr>
          <a:lstStyle/>
          <a:p>
            <a:pPr algn="l"/>
            <a:r>
              <a:rPr sz="1300" b="1" i="0">
                <a:solidFill>
                  <a:srgbClr val="F0C040"/>
                </a:solidFill>
                <a:latin typeface="Calibri"/>
              </a:rPr>
              <a:t>📊  Avg Component Scores — Top 100 Candidates</a:t>
            </a:r>
          </a:p>
        </p:txBody>
      </p:sp>
      <p:sp>
        <p:nvSpPr>
          <p:cNvPr id="24" name="Rectangle 23"/>
          <p:cNvSpPr/>
          <p:nvPr/>
        </p:nvSpPr>
        <p:spPr>
          <a:xfrm>
            <a:off x="1828800" y="3364992"/>
            <a:ext cx="3625047" cy="237744"/>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346704"/>
            <a:ext cx="1298448" cy="274320"/>
          </a:xfrm>
          <a:prstGeom prst="rect">
            <a:avLst/>
          </a:prstGeom>
          <a:noFill/>
        </p:spPr>
        <p:txBody>
          <a:bodyPr wrap="square">
            <a:spAutoFit/>
          </a:bodyPr>
          <a:lstStyle/>
          <a:p>
            <a:pPr algn="l"/>
            <a:r>
              <a:rPr sz="1100" b="0" i="0">
                <a:solidFill>
                  <a:srgbClr val="F0F4F8"/>
                </a:solidFill>
                <a:latin typeface="Calibri"/>
              </a:rPr>
              <a:t>Domain</a:t>
            </a:r>
          </a:p>
        </p:txBody>
      </p:sp>
      <p:sp>
        <p:nvSpPr>
          <p:cNvPr id="26" name="TextBox 25"/>
          <p:cNvSpPr txBox="1"/>
          <p:nvPr/>
        </p:nvSpPr>
        <p:spPr>
          <a:xfrm>
            <a:off x="5526999" y="3346704"/>
            <a:ext cx="548640" cy="274320"/>
          </a:xfrm>
          <a:prstGeom prst="rect">
            <a:avLst/>
          </a:prstGeom>
          <a:noFill/>
        </p:spPr>
        <p:txBody>
          <a:bodyPr wrap="square">
            <a:spAutoFit/>
          </a:bodyPr>
          <a:lstStyle/>
          <a:p>
            <a:pPr algn="l"/>
            <a:r>
              <a:rPr sz="1100" b="1" i="0">
                <a:solidFill>
                  <a:srgbClr val="F96167"/>
                </a:solidFill>
                <a:latin typeface="Calibri"/>
              </a:rPr>
              <a:t>0.9911</a:t>
            </a:r>
          </a:p>
        </p:txBody>
      </p:sp>
      <p:sp>
        <p:nvSpPr>
          <p:cNvPr id="27" name="Rectangle 26"/>
          <p:cNvSpPr/>
          <p:nvPr/>
        </p:nvSpPr>
        <p:spPr>
          <a:xfrm>
            <a:off x="1828800" y="3822191"/>
            <a:ext cx="3501420" cy="237744"/>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803903"/>
            <a:ext cx="1298448" cy="274320"/>
          </a:xfrm>
          <a:prstGeom prst="rect">
            <a:avLst/>
          </a:prstGeom>
          <a:noFill/>
        </p:spPr>
        <p:txBody>
          <a:bodyPr wrap="square">
            <a:spAutoFit/>
          </a:bodyPr>
          <a:lstStyle/>
          <a:p>
            <a:pPr algn="l"/>
            <a:r>
              <a:rPr sz="1100" b="0" i="0">
                <a:solidFill>
                  <a:srgbClr val="F0F4F8"/>
                </a:solidFill>
                <a:latin typeface="Calibri"/>
              </a:rPr>
              <a:t>Career Growth</a:t>
            </a:r>
          </a:p>
        </p:txBody>
      </p:sp>
      <p:sp>
        <p:nvSpPr>
          <p:cNvPr id="29" name="TextBox 28"/>
          <p:cNvSpPr txBox="1"/>
          <p:nvPr/>
        </p:nvSpPr>
        <p:spPr>
          <a:xfrm>
            <a:off x="5403372" y="3803903"/>
            <a:ext cx="548640" cy="274320"/>
          </a:xfrm>
          <a:prstGeom prst="rect">
            <a:avLst/>
          </a:prstGeom>
          <a:noFill/>
        </p:spPr>
        <p:txBody>
          <a:bodyPr wrap="square">
            <a:spAutoFit/>
          </a:bodyPr>
          <a:lstStyle/>
          <a:p>
            <a:pPr algn="l"/>
            <a:r>
              <a:rPr sz="1100" b="1" i="0">
                <a:solidFill>
                  <a:srgbClr val="02C39A"/>
                </a:solidFill>
                <a:latin typeface="Calibri"/>
              </a:rPr>
              <a:t>0.9573</a:t>
            </a:r>
          </a:p>
        </p:txBody>
      </p:sp>
      <p:sp>
        <p:nvSpPr>
          <p:cNvPr id="30" name="Rectangle 29"/>
          <p:cNvSpPr/>
          <p:nvPr/>
        </p:nvSpPr>
        <p:spPr>
          <a:xfrm>
            <a:off x="1828800" y="4279392"/>
            <a:ext cx="3542385" cy="23774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261103"/>
            <a:ext cx="1298448" cy="274320"/>
          </a:xfrm>
          <a:prstGeom prst="rect">
            <a:avLst/>
          </a:prstGeom>
          <a:noFill/>
        </p:spPr>
        <p:txBody>
          <a:bodyPr wrap="square">
            <a:spAutoFit/>
          </a:bodyPr>
          <a:lstStyle/>
          <a:p>
            <a:pPr algn="l"/>
            <a:r>
              <a:rPr sz="1100" b="0" i="0">
                <a:solidFill>
                  <a:srgbClr val="F0F4F8"/>
                </a:solidFill>
                <a:latin typeface="Calibri"/>
              </a:rPr>
              <a:t>Education</a:t>
            </a:r>
          </a:p>
        </p:txBody>
      </p:sp>
      <p:sp>
        <p:nvSpPr>
          <p:cNvPr id="32" name="TextBox 31"/>
          <p:cNvSpPr txBox="1"/>
          <p:nvPr/>
        </p:nvSpPr>
        <p:spPr>
          <a:xfrm>
            <a:off x="5444337" y="4261103"/>
            <a:ext cx="548640" cy="274320"/>
          </a:xfrm>
          <a:prstGeom prst="rect">
            <a:avLst/>
          </a:prstGeom>
          <a:noFill/>
        </p:spPr>
        <p:txBody>
          <a:bodyPr wrap="square">
            <a:spAutoFit/>
          </a:bodyPr>
          <a:lstStyle/>
          <a:p>
            <a:pPr algn="l"/>
            <a:r>
              <a:rPr sz="1100" b="1" i="0">
                <a:solidFill>
                  <a:srgbClr val="CADCFC"/>
                </a:solidFill>
                <a:latin typeface="Calibri"/>
              </a:rPr>
              <a:t>0.9685</a:t>
            </a:r>
          </a:p>
        </p:txBody>
      </p:sp>
      <p:sp>
        <p:nvSpPr>
          <p:cNvPr id="33" name="Rectangle 32"/>
          <p:cNvSpPr/>
          <p:nvPr/>
        </p:nvSpPr>
        <p:spPr>
          <a:xfrm>
            <a:off x="1828800" y="4736592"/>
            <a:ext cx="3555187" cy="237744"/>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4718303"/>
            <a:ext cx="1298448" cy="274320"/>
          </a:xfrm>
          <a:prstGeom prst="rect">
            <a:avLst/>
          </a:prstGeom>
          <a:noFill/>
        </p:spPr>
        <p:txBody>
          <a:bodyPr wrap="square">
            <a:spAutoFit/>
          </a:bodyPr>
          <a:lstStyle/>
          <a:p>
            <a:pPr algn="l"/>
            <a:r>
              <a:rPr sz="1100" b="0" i="0">
                <a:solidFill>
                  <a:srgbClr val="F0F4F8"/>
                </a:solidFill>
                <a:latin typeface="Calibri"/>
              </a:rPr>
              <a:t>Location</a:t>
            </a:r>
          </a:p>
        </p:txBody>
      </p:sp>
      <p:sp>
        <p:nvSpPr>
          <p:cNvPr id="35" name="TextBox 34"/>
          <p:cNvSpPr txBox="1"/>
          <p:nvPr/>
        </p:nvSpPr>
        <p:spPr>
          <a:xfrm>
            <a:off x="5457139" y="4718303"/>
            <a:ext cx="548640" cy="274320"/>
          </a:xfrm>
          <a:prstGeom prst="rect">
            <a:avLst/>
          </a:prstGeom>
          <a:noFill/>
        </p:spPr>
        <p:txBody>
          <a:bodyPr wrap="square">
            <a:spAutoFit/>
          </a:bodyPr>
          <a:lstStyle/>
          <a:p>
            <a:pPr algn="l"/>
            <a:r>
              <a:rPr sz="1100" b="1" i="0">
                <a:solidFill>
                  <a:srgbClr val="F0C040"/>
                </a:solidFill>
                <a:latin typeface="Calibri"/>
              </a:rPr>
              <a:t>0.9720</a:t>
            </a:r>
          </a:p>
        </p:txBody>
      </p:sp>
      <p:sp>
        <p:nvSpPr>
          <p:cNvPr id="36" name="Rectangle 35"/>
          <p:cNvSpPr/>
          <p:nvPr/>
        </p:nvSpPr>
        <p:spPr>
          <a:xfrm>
            <a:off x="1828800" y="5193792"/>
            <a:ext cx="3452408" cy="237744"/>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5175503"/>
            <a:ext cx="1298448" cy="274320"/>
          </a:xfrm>
          <a:prstGeom prst="rect">
            <a:avLst/>
          </a:prstGeom>
          <a:noFill/>
        </p:spPr>
        <p:txBody>
          <a:bodyPr wrap="square">
            <a:spAutoFit/>
          </a:bodyPr>
          <a:lstStyle/>
          <a:p>
            <a:pPr algn="l"/>
            <a:r>
              <a:rPr sz="1100" b="0" i="0">
                <a:solidFill>
                  <a:srgbClr val="F0F4F8"/>
                </a:solidFill>
                <a:latin typeface="Calibri"/>
              </a:rPr>
              <a:t>Experience</a:t>
            </a:r>
          </a:p>
        </p:txBody>
      </p:sp>
      <p:sp>
        <p:nvSpPr>
          <p:cNvPr id="38" name="TextBox 37"/>
          <p:cNvSpPr txBox="1"/>
          <p:nvPr/>
        </p:nvSpPr>
        <p:spPr>
          <a:xfrm>
            <a:off x="5354360" y="5175503"/>
            <a:ext cx="548640" cy="274320"/>
          </a:xfrm>
          <a:prstGeom prst="rect">
            <a:avLst/>
          </a:prstGeom>
          <a:noFill/>
        </p:spPr>
        <p:txBody>
          <a:bodyPr wrap="square">
            <a:spAutoFit/>
          </a:bodyPr>
          <a:lstStyle/>
          <a:p>
            <a:pPr algn="l"/>
            <a:r>
              <a:rPr sz="1100" b="1" i="0">
                <a:solidFill>
                  <a:srgbClr val="02C39A"/>
                </a:solidFill>
                <a:latin typeface="Calibri"/>
              </a:rPr>
              <a:t>0.9439</a:t>
            </a:r>
          </a:p>
        </p:txBody>
      </p:sp>
      <p:sp>
        <p:nvSpPr>
          <p:cNvPr id="39" name="Rectangle 38"/>
          <p:cNvSpPr/>
          <p:nvPr/>
        </p:nvSpPr>
        <p:spPr>
          <a:xfrm>
            <a:off x="1828800" y="5650992"/>
            <a:ext cx="2618841" cy="237744"/>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488" y="5632703"/>
            <a:ext cx="1298448" cy="274320"/>
          </a:xfrm>
          <a:prstGeom prst="rect">
            <a:avLst/>
          </a:prstGeom>
          <a:noFill/>
        </p:spPr>
        <p:txBody>
          <a:bodyPr wrap="square">
            <a:spAutoFit/>
          </a:bodyPr>
          <a:lstStyle/>
          <a:p>
            <a:pPr algn="l"/>
            <a:r>
              <a:rPr sz="1100" b="0" i="0">
                <a:solidFill>
                  <a:srgbClr val="F0F4F8"/>
                </a:solidFill>
                <a:latin typeface="Calibri"/>
              </a:rPr>
              <a:t>Behavioral</a:t>
            </a:r>
          </a:p>
        </p:txBody>
      </p:sp>
      <p:sp>
        <p:nvSpPr>
          <p:cNvPr id="41" name="TextBox 40"/>
          <p:cNvSpPr txBox="1"/>
          <p:nvPr/>
        </p:nvSpPr>
        <p:spPr>
          <a:xfrm>
            <a:off x="4520793" y="5632703"/>
            <a:ext cx="548640" cy="274320"/>
          </a:xfrm>
          <a:prstGeom prst="rect">
            <a:avLst/>
          </a:prstGeom>
          <a:noFill/>
        </p:spPr>
        <p:txBody>
          <a:bodyPr wrap="square">
            <a:spAutoFit/>
          </a:bodyPr>
          <a:lstStyle/>
          <a:p>
            <a:pPr algn="l"/>
            <a:r>
              <a:rPr sz="1100" b="1" i="0">
                <a:solidFill>
                  <a:srgbClr val="F0C040"/>
                </a:solidFill>
                <a:latin typeface="Calibri"/>
              </a:rPr>
              <a:t>0.7160</a:t>
            </a:r>
          </a:p>
        </p:txBody>
      </p:sp>
      <p:sp>
        <p:nvSpPr>
          <p:cNvPr id="42" name="Rectangle 41"/>
          <p:cNvSpPr/>
          <p:nvPr/>
        </p:nvSpPr>
        <p:spPr>
          <a:xfrm>
            <a:off x="1828800" y="6108192"/>
            <a:ext cx="2457541" cy="237744"/>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6089903"/>
            <a:ext cx="1298448" cy="274320"/>
          </a:xfrm>
          <a:prstGeom prst="rect">
            <a:avLst/>
          </a:prstGeom>
          <a:noFill/>
        </p:spPr>
        <p:txBody>
          <a:bodyPr wrap="square">
            <a:spAutoFit/>
          </a:bodyPr>
          <a:lstStyle/>
          <a:p>
            <a:pPr algn="l"/>
            <a:r>
              <a:rPr sz="1100" b="0" i="0">
                <a:solidFill>
                  <a:srgbClr val="F0F4F8"/>
                </a:solidFill>
                <a:latin typeface="Calibri"/>
              </a:rPr>
              <a:t>Skill Match</a:t>
            </a:r>
          </a:p>
        </p:txBody>
      </p:sp>
      <p:sp>
        <p:nvSpPr>
          <p:cNvPr id="44" name="TextBox 43"/>
          <p:cNvSpPr txBox="1"/>
          <p:nvPr/>
        </p:nvSpPr>
        <p:spPr>
          <a:xfrm>
            <a:off x="4359493" y="6089903"/>
            <a:ext cx="548640" cy="274320"/>
          </a:xfrm>
          <a:prstGeom prst="rect">
            <a:avLst/>
          </a:prstGeom>
          <a:noFill/>
        </p:spPr>
        <p:txBody>
          <a:bodyPr wrap="square">
            <a:spAutoFit/>
          </a:bodyPr>
          <a:lstStyle/>
          <a:p>
            <a:pPr algn="l"/>
            <a:r>
              <a:rPr sz="1100" b="1" i="0">
                <a:solidFill>
                  <a:srgbClr val="F96167"/>
                </a:solidFill>
                <a:latin typeface="Calibri"/>
              </a:rPr>
              <a:t>0.6719</a:t>
            </a:r>
          </a:p>
        </p:txBody>
      </p:sp>
      <p:sp>
        <p:nvSpPr>
          <p:cNvPr id="45" name="TextBox 44"/>
          <p:cNvSpPr txBox="1"/>
          <p:nvPr/>
        </p:nvSpPr>
        <p:spPr>
          <a:xfrm>
            <a:off x="475488" y="6355080"/>
            <a:ext cx="5120640" cy="256032"/>
          </a:xfrm>
          <a:prstGeom prst="rect">
            <a:avLst/>
          </a:prstGeom>
          <a:noFill/>
        </p:spPr>
        <p:txBody>
          <a:bodyPr wrap="square">
            <a:spAutoFit/>
          </a:bodyPr>
          <a:lstStyle/>
          <a:p>
            <a:pPr algn="l"/>
            <a:r>
              <a:rPr sz="950" b="0" i="1">
                <a:solidFill>
                  <a:srgbClr val="8BA8C4"/>
                </a:solidFill>
                <a:latin typeface="Calibri"/>
              </a:rPr>
              <a:t>Behavioral scores lower due to notice period and inactivity filters — by design.</a:t>
            </a:r>
          </a:p>
        </p:txBody>
      </p:sp>
      <p:sp>
        <p:nvSpPr>
          <p:cNvPr id="46" name="Rounded Rectangle 45"/>
          <p:cNvSpPr/>
          <p:nvPr/>
        </p:nvSpPr>
        <p:spPr>
          <a:xfrm>
            <a:off x="5870448" y="2761488"/>
            <a:ext cx="6016752" cy="379476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16752" y="2871216"/>
            <a:ext cx="5715000" cy="384048"/>
          </a:xfrm>
          <a:prstGeom prst="rect">
            <a:avLst/>
          </a:prstGeom>
          <a:noFill/>
        </p:spPr>
        <p:txBody>
          <a:bodyPr wrap="square">
            <a:spAutoFit/>
          </a:bodyPr>
          <a:lstStyle/>
          <a:p>
            <a:pPr algn="l"/>
            <a:r>
              <a:rPr sz="1300" b="1" i="0">
                <a:solidFill>
                  <a:srgbClr val="F0C040"/>
                </a:solidFill>
                <a:latin typeface="Calibri"/>
              </a:rPr>
              <a:t>🏆  Top-10 Ranked Candidates (Actual Output)</a:t>
            </a:r>
          </a:p>
        </p:txBody>
      </p:sp>
      <p:sp>
        <p:nvSpPr>
          <p:cNvPr id="48" name="Rectangle 47"/>
          <p:cNvSpPr/>
          <p:nvPr/>
        </p:nvSpPr>
        <p:spPr>
          <a:xfrm>
            <a:off x="5870448" y="3246120"/>
            <a:ext cx="6016752" cy="310896"/>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0" y="3273552"/>
            <a:ext cx="256032" cy="256032"/>
          </a:xfrm>
          <a:prstGeom prst="rect">
            <a:avLst/>
          </a:prstGeom>
          <a:noFill/>
        </p:spPr>
        <p:txBody>
          <a:bodyPr wrap="square">
            <a:spAutoFit/>
          </a:bodyPr>
          <a:lstStyle/>
          <a:p>
            <a:pPr algn="l"/>
            <a:r>
              <a:rPr sz="1000" b="1" i="0">
                <a:solidFill>
                  <a:srgbClr val="FFFFFF"/>
                </a:solidFill>
                <a:latin typeface="Calibri"/>
              </a:rPr>
              <a:t>#</a:t>
            </a:r>
          </a:p>
        </p:txBody>
      </p:sp>
      <p:sp>
        <p:nvSpPr>
          <p:cNvPr id="50" name="TextBox 49"/>
          <p:cNvSpPr txBox="1"/>
          <p:nvPr/>
        </p:nvSpPr>
        <p:spPr>
          <a:xfrm>
            <a:off x="6236208" y="3273552"/>
            <a:ext cx="1389888" cy="256032"/>
          </a:xfrm>
          <a:prstGeom prst="rect">
            <a:avLst/>
          </a:prstGeom>
          <a:noFill/>
        </p:spPr>
        <p:txBody>
          <a:bodyPr wrap="square">
            <a:spAutoFit/>
          </a:bodyPr>
          <a:lstStyle/>
          <a:p>
            <a:pPr algn="l"/>
            <a:r>
              <a:rPr sz="1000" b="1" i="0">
                <a:solidFill>
                  <a:srgbClr val="FFFFFF"/>
                </a:solidFill>
                <a:latin typeface="Calibri"/>
              </a:rPr>
              <a:t>Title</a:t>
            </a:r>
          </a:p>
        </p:txBody>
      </p:sp>
      <p:sp>
        <p:nvSpPr>
          <p:cNvPr id="51" name="TextBox 50"/>
          <p:cNvSpPr txBox="1"/>
          <p:nvPr/>
        </p:nvSpPr>
        <p:spPr>
          <a:xfrm>
            <a:off x="7662672" y="3273552"/>
            <a:ext cx="548640" cy="256032"/>
          </a:xfrm>
          <a:prstGeom prst="rect">
            <a:avLst/>
          </a:prstGeom>
          <a:noFill/>
        </p:spPr>
        <p:txBody>
          <a:bodyPr wrap="square">
            <a:spAutoFit/>
          </a:bodyPr>
          <a:lstStyle/>
          <a:p>
            <a:pPr algn="l"/>
            <a:r>
              <a:rPr sz="1000" b="1" i="0">
                <a:solidFill>
                  <a:srgbClr val="FFFFFF"/>
                </a:solidFill>
                <a:latin typeface="Calibri"/>
              </a:rPr>
              <a:t>YOE</a:t>
            </a:r>
          </a:p>
        </p:txBody>
      </p:sp>
      <p:sp>
        <p:nvSpPr>
          <p:cNvPr id="52" name="TextBox 51"/>
          <p:cNvSpPr txBox="1"/>
          <p:nvPr/>
        </p:nvSpPr>
        <p:spPr>
          <a:xfrm>
            <a:off x="8247888" y="3273552"/>
            <a:ext cx="777240" cy="256032"/>
          </a:xfrm>
          <a:prstGeom prst="rect">
            <a:avLst/>
          </a:prstGeom>
          <a:noFill/>
        </p:spPr>
        <p:txBody>
          <a:bodyPr wrap="square">
            <a:spAutoFit/>
          </a:bodyPr>
          <a:lstStyle/>
          <a:p>
            <a:pPr algn="l"/>
            <a:r>
              <a:rPr sz="1000" b="1" i="0">
                <a:solidFill>
                  <a:srgbClr val="FFFFFF"/>
                </a:solidFill>
                <a:latin typeface="Calibri"/>
              </a:rPr>
              <a:t>Company</a:t>
            </a:r>
          </a:p>
        </p:txBody>
      </p:sp>
      <p:sp>
        <p:nvSpPr>
          <p:cNvPr id="53" name="TextBox 52"/>
          <p:cNvSpPr txBox="1"/>
          <p:nvPr/>
        </p:nvSpPr>
        <p:spPr>
          <a:xfrm>
            <a:off x="9070848" y="3273552"/>
            <a:ext cx="658368" cy="256032"/>
          </a:xfrm>
          <a:prstGeom prst="rect">
            <a:avLst/>
          </a:prstGeom>
          <a:noFill/>
        </p:spPr>
        <p:txBody>
          <a:bodyPr wrap="square">
            <a:spAutoFit/>
          </a:bodyPr>
          <a:lstStyle/>
          <a:p>
            <a:pPr algn="l"/>
            <a:r>
              <a:rPr sz="1000" b="1" i="0">
                <a:solidFill>
                  <a:srgbClr val="FFFFFF"/>
                </a:solidFill>
                <a:latin typeface="Calibri"/>
              </a:rPr>
              <a:t>Score</a:t>
            </a:r>
          </a:p>
        </p:txBody>
      </p:sp>
      <p:sp>
        <p:nvSpPr>
          <p:cNvPr id="54" name="Rectangle 53"/>
          <p:cNvSpPr/>
          <p:nvPr/>
        </p:nvSpPr>
        <p:spPr>
          <a:xfrm>
            <a:off x="5870448" y="3566160"/>
            <a:ext cx="6016752" cy="2834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0" y="3593591"/>
            <a:ext cx="256032" cy="237744"/>
          </a:xfrm>
          <a:prstGeom prst="rect">
            <a:avLst/>
          </a:prstGeom>
          <a:noFill/>
        </p:spPr>
        <p:txBody>
          <a:bodyPr wrap="square">
            <a:spAutoFit/>
          </a:bodyPr>
          <a:lstStyle/>
          <a:p>
            <a:pPr algn="l"/>
            <a:r>
              <a:rPr sz="1000" b="1" i="0">
                <a:solidFill>
                  <a:srgbClr val="F0C040"/>
                </a:solidFill>
                <a:latin typeface="Calibri"/>
              </a:rPr>
              <a:t>1</a:t>
            </a:r>
          </a:p>
        </p:txBody>
      </p:sp>
      <p:sp>
        <p:nvSpPr>
          <p:cNvPr id="56" name="TextBox 55"/>
          <p:cNvSpPr txBox="1"/>
          <p:nvPr/>
        </p:nvSpPr>
        <p:spPr>
          <a:xfrm>
            <a:off x="6236208" y="3593591"/>
            <a:ext cx="1371600" cy="237744"/>
          </a:xfrm>
          <a:prstGeom prst="rect">
            <a:avLst/>
          </a:prstGeom>
          <a:noFill/>
        </p:spPr>
        <p:txBody>
          <a:bodyPr wrap="square">
            <a:spAutoFit/>
          </a:bodyPr>
          <a:lstStyle/>
          <a:p>
            <a:pPr algn="l"/>
            <a:r>
              <a:rPr sz="950" b="0" i="0">
                <a:solidFill>
                  <a:srgbClr val="FFFFFF"/>
                </a:solidFill>
                <a:latin typeface="Calibri"/>
              </a:rPr>
              <a:t>ML Engineer</a:t>
            </a:r>
          </a:p>
        </p:txBody>
      </p:sp>
      <p:sp>
        <p:nvSpPr>
          <p:cNvPr id="57" name="TextBox 56"/>
          <p:cNvSpPr txBox="1"/>
          <p:nvPr/>
        </p:nvSpPr>
        <p:spPr>
          <a:xfrm>
            <a:off x="7662672" y="3593591"/>
            <a:ext cx="530352" cy="237744"/>
          </a:xfrm>
          <a:prstGeom prst="rect">
            <a:avLst/>
          </a:prstGeom>
          <a:noFill/>
        </p:spPr>
        <p:txBody>
          <a:bodyPr wrap="square">
            <a:spAutoFit/>
          </a:bodyPr>
          <a:lstStyle/>
          <a:p>
            <a:pPr algn="ctr"/>
            <a:r>
              <a:rPr sz="1000" b="0" i="0">
                <a:solidFill>
                  <a:srgbClr val="8BA8C4"/>
                </a:solidFill>
                <a:latin typeface="Calibri"/>
              </a:rPr>
              <a:t>4.6</a:t>
            </a:r>
          </a:p>
        </p:txBody>
      </p:sp>
      <p:sp>
        <p:nvSpPr>
          <p:cNvPr id="58" name="TextBox 57"/>
          <p:cNvSpPr txBox="1"/>
          <p:nvPr/>
        </p:nvSpPr>
        <p:spPr>
          <a:xfrm>
            <a:off x="8247888" y="3593591"/>
            <a:ext cx="768096" cy="237744"/>
          </a:xfrm>
          <a:prstGeom prst="rect">
            <a:avLst/>
          </a:prstGeom>
          <a:noFill/>
        </p:spPr>
        <p:txBody>
          <a:bodyPr wrap="square">
            <a:spAutoFit/>
          </a:bodyPr>
          <a:lstStyle/>
          <a:p>
            <a:pPr algn="l"/>
            <a:r>
              <a:rPr sz="950" b="0" i="0">
                <a:solidFill>
                  <a:srgbClr val="CADCFC"/>
                </a:solidFill>
                <a:latin typeface="Calibri"/>
              </a:rPr>
              <a:t>Krutrim</a:t>
            </a:r>
          </a:p>
        </p:txBody>
      </p:sp>
      <p:sp>
        <p:nvSpPr>
          <p:cNvPr id="59" name="TextBox 58"/>
          <p:cNvSpPr txBox="1"/>
          <p:nvPr/>
        </p:nvSpPr>
        <p:spPr>
          <a:xfrm>
            <a:off x="9052560" y="3593591"/>
            <a:ext cx="777240" cy="237744"/>
          </a:xfrm>
          <a:prstGeom prst="rect">
            <a:avLst/>
          </a:prstGeom>
          <a:noFill/>
        </p:spPr>
        <p:txBody>
          <a:bodyPr wrap="square">
            <a:spAutoFit/>
          </a:bodyPr>
          <a:lstStyle/>
          <a:p>
            <a:pPr algn="l"/>
            <a:r>
              <a:rPr sz="1000" b="1" i="0">
                <a:solidFill>
                  <a:srgbClr val="02C39A"/>
                </a:solidFill>
                <a:latin typeface="Calibri"/>
              </a:rPr>
              <a:t>1.0000</a:t>
            </a:r>
          </a:p>
        </p:txBody>
      </p:sp>
      <p:sp>
        <p:nvSpPr>
          <p:cNvPr id="60" name="Rectangle 59"/>
          <p:cNvSpPr/>
          <p:nvPr/>
        </p:nvSpPr>
        <p:spPr>
          <a:xfrm>
            <a:off x="5870448" y="3867911"/>
            <a:ext cx="6016752" cy="283464"/>
          </a:xfrm>
          <a:prstGeom prst="rect">
            <a:avLst/>
          </a:prstGeom>
          <a:solidFill>
            <a:srgbClr val="12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0" y="3895344"/>
            <a:ext cx="256032" cy="237744"/>
          </a:xfrm>
          <a:prstGeom prst="rect">
            <a:avLst/>
          </a:prstGeom>
          <a:noFill/>
        </p:spPr>
        <p:txBody>
          <a:bodyPr wrap="square">
            <a:spAutoFit/>
          </a:bodyPr>
          <a:lstStyle/>
          <a:p>
            <a:pPr algn="l"/>
            <a:r>
              <a:rPr sz="1000" b="1" i="0">
                <a:solidFill>
                  <a:srgbClr val="F0C040"/>
                </a:solidFill>
                <a:latin typeface="Calibri"/>
              </a:rPr>
              <a:t>2</a:t>
            </a:r>
          </a:p>
        </p:txBody>
      </p:sp>
      <p:sp>
        <p:nvSpPr>
          <p:cNvPr id="62" name="TextBox 61"/>
          <p:cNvSpPr txBox="1"/>
          <p:nvPr/>
        </p:nvSpPr>
        <p:spPr>
          <a:xfrm>
            <a:off x="6236208" y="3895344"/>
            <a:ext cx="1371600" cy="237744"/>
          </a:xfrm>
          <a:prstGeom prst="rect">
            <a:avLst/>
          </a:prstGeom>
          <a:noFill/>
        </p:spPr>
        <p:txBody>
          <a:bodyPr wrap="square">
            <a:spAutoFit/>
          </a:bodyPr>
          <a:lstStyle/>
          <a:p>
            <a:pPr algn="l"/>
            <a:r>
              <a:rPr sz="950" b="0" i="0">
                <a:solidFill>
                  <a:srgbClr val="FFFFFF"/>
                </a:solidFill>
                <a:latin typeface="Calibri"/>
              </a:rPr>
              <a:t>Staff ML Engineer</a:t>
            </a:r>
          </a:p>
        </p:txBody>
      </p:sp>
      <p:sp>
        <p:nvSpPr>
          <p:cNvPr id="63" name="TextBox 62"/>
          <p:cNvSpPr txBox="1"/>
          <p:nvPr/>
        </p:nvSpPr>
        <p:spPr>
          <a:xfrm>
            <a:off x="7662672" y="3895344"/>
            <a:ext cx="530352" cy="237744"/>
          </a:xfrm>
          <a:prstGeom prst="rect">
            <a:avLst/>
          </a:prstGeom>
          <a:noFill/>
        </p:spPr>
        <p:txBody>
          <a:bodyPr wrap="square">
            <a:spAutoFit/>
          </a:bodyPr>
          <a:lstStyle/>
          <a:p>
            <a:pPr algn="ctr"/>
            <a:r>
              <a:rPr sz="1000" b="0" i="0">
                <a:solidFill>
                  <a:srgbClr val="8BA8C4"/>
                </a:solidFill>
                <a:latin typeface="Calibri"/>
              </a:rPr>
              <a:t>7.0</a:t>
            </a:r>
          </a:p>
        </p:txBody>
      </p:sp>
      <p:sp>
        <p:nvSpPr>
          <p:cNvPr id="64" name="TextBox 63"/>
          <p:cNvSpPr txBox="1"/>
          <p:nvPr/>
        </p:nvSpPr>
        <p:spPr>
          <a:xfrm>
            <a:off x="8247888" y="3895344"/>
            <a:ext cx="768096" cy="237744"/>
          </a:xfrm>
          <a:prstGeom prst="rect">
            <a:avLst/>
          </a:prstGeom>
          <a:noFill/>
        </p:spPr>
        <p:txBody>
          <a:bodyPr wrap="square">
            <a:spAutoFit/>
          </a:bodyPr>
          <a:lstStyle/>
          <a:p>
            <a:pPr algn="l"/>
            <a:r>
              <a:rPr sz="950" b="0" i="0">
                <a:solidFill>
                  <a:srgbClr val="CADCFC"/>
                </a:solidFill>
                <a:latin typeface="Calibri"/>
              </a:rPr>
              <a:t>Paytm</a:t>
            </a:r>
          </a:p>
        </p:txBody>
      </p:sp>
      <p:sp>
        <p:nvSpPr>
          <p:cNvPr id="65" name="TextBox 64"/>
          <p:cNvSpPr txBox="1"/>
          <p:nvPr/>
        </p:nvSpPr>
        <p:spPr>
          <a:xfrm>
            <a:off x="9052560" y="3895344"/>
            <a:ext cx="777240" cy="237744"/>
          </a:xfrm>
          <a:prstGeom prst="rect">
            <a:avLst/>
          </a:prstGeom>
          <a:noFill/>
        </p:spPr>
        <p:txBody>
          <a:bodyPr wrap="square">
            <a:spAutoFit/>
          </a:bodyPr>
          <a:lstStyle/>
          <a:p>
            <a:pPr algn="l"/>
            <a:r>
              <a:rPr sz="1000" b="1" i="0">
                <a:solidFill>
                  <a:srgbClr val="02C39A"/>
                </a:solidFill>
                <a:latin typeface="Calibri"/>
              </a:rPr>
              <a:t>1.0000</a:t>
            </a:r>
          </a:p>
        </p:txBody>
      </p:sp>
      <p:sp>
        <p:nvSpPr>
          <p:cNvPr id="66" name="Rectangle 65"/>
          <p:cNvSpPr/>
          <p:nvPr/>
        </p:nvSpPr>
        <p:spPr>
          <a:xfrm>
            <a:off x="5870448" y="4169663"/>
            <a:ext cx="6016752" cy="2834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0" y="4197096"/>
            <a:ext cx="256032" cy="237744"/>
          </a:xfrm>
          <a:prstGeom prst="rect">
            <a:avLst/>
          </a:prstGeom>
          <a:noFill/>
        </p:spPr>
        <p:txBody>
          <a:bodyPr wrap="square">
            <a:spAutoFit/>
          </a:bodyPr>
          <a:lstStyle/>
          <a:p>
            <a:pPr algn="l"/>
            <a:r>
              <a:rPr sz="1000" b="1" i="0">
                <a:solidFill>
                  <a:srgbClr val="F0C040"/>
                </a:solidFill>
                <a:latin typeface="Calibri"/>
              </a:rPr>
              <a:t>3</a:t>
            </a:r>
          </a:p>
        </p:txBody>
      </p:sp>
      <p:sp>
        <p:nvSpPr>
          <p:cNvPr id="68" name="TextBox 67"/>
          <p:cNvSpPr txBox="1"/>
          <p:nvPr/>
        </p:nvSpPr>
        <p:spPr>
          <a:xfrm>
            <a:off x="6236208" y="4197096"/>
            <a:ext cx="1371600" cy="237744"/>
          </a:xfrm>
          <a:prstGeom prst="rect">
            <a:avLst/>
          </a:prstGeom>
          <a:noFill/>
        </p:spPr>
        <p:txBody>
          <a:bodyPr wrap="square">
            <a:spAutoFit/>
          </a:bodyPr>
          <a:lstStyle/>
          <a:p>
            <a:pPr algn="l"/>
            <a:r>
              <a:rPr sz="950" b="0" i="0">
                <a:solidFill>
                  <a:srgbClr val="FFFFFF"/>
                </a:solidFill>
                <a:latin typeface="Calibri"/>
              </a:rPr>
              <a:t>Lead AI Engineer</a:t>
            </a:r>
          </a:p>
        </p:txBody>
      </p:sp>
      <p:sp>
        <p:nvSpPr>
          <p:cNvPr id="69" name="TextBox 68"/>
          <p:cNvSpPr txBox="1"/>
          <p:nvPr/>
        </p:nvSpPr>
        <p:spPr>
          <a:xfrm>
            <a:off x="7662672" y="4197096"/>
            <a:ext cx="530352" cy="237744"/>
          </a:xfrm>
          <a:prstGeom prst="rect">
            <a:avLst/>
          </a:prstGeom>
          <a:noFill/>
        </p:spPr>
        <p:txBody>
          <a:bodyPr wrap="square">
            <a:spAutoFit/>
          </a:bodyPr>
          <a:lstStyle/>
          <a:p>
            <a:pPr algn="ctr"/>
            <a:r>
              <a:rPr sz="1000" b="0" i="0">
                <a:solidFill>
                  <a:srgbClr val="8BA8C4"/>
                </a:solidFill>
                <a:latin typeface="Calibri"/>
              </a:rPr>
              <a:t>6.7</a:t>
            </a:r>
          </a:p>
        </p:txBody>
      </p:sp>
      <p:sp>
        <p:nvSpPr>
          <p:cNvPr id="70" name="TextBox 69"/>
          <p:cNvSpPr txBox="1"/>
          <p:nvPr/>
        </p:nvSpPr>
        <p:spPr>
          <a:xfrm>
            <a:off x="8247888" y="4197096"/>
            <a:ext cx="768096" cy="237744"/>
          </a:xfrm>
          <a:prstGeom prst="rect">
            <a:avLst/>
          </a:prstGeom>
          <a:noFill/>
        </p:spPr>
        <p:txBody>
          <a:bodyPr wrap="square">
            <a:spAutoFit/>
          </a:bodyPr>
          <a:lstStyle/>
          <a:p>
            <a:pPr algn="l"/>
            <a:r>
              <a:rPr sz="950" b="0" i="0">
                <a:solidFill>
                  <a:srgbClr val="CADCFC"/>
                </a:solidFill>
                <a:latin typeface="Calibri"/>
              </a:rPr>
              <a:t>Razorpay</a:t>
            </a:r>
          </a:p>
        </p:txBody>
      </p:sp>
      <p:sp>
        <p:nvSpPr>
          <p:cNvPr id="71" name="TextBox 70"/>
          <p:cNvSpPr txBox="1"/>
          <p:nvPr/>
        </p:nvSpPr>
        <p:spPr>
          <a:xfrm>
            <a:off x="9052560" y="4197096"/>
            <a:ext cx="777240" cy="237744"/>
          </a:xfrm>
          <a:prstGeom prst="rect">
            <a:avLst/>
          </a:prstGeom>
          <a:noFill/>
        </p:spPr>
        <p:txBody>
          <a:bodyPr wrap="square">
            <a:spAutoFit/>
          </a:bodyPr>
          <a:lstStyle/>
          <a:p>
            <a:pPr algn="l"/>
            <a:r>
              <a:rPr sz="1000" b="1" i="0">
                <a:solidFill>
                  <a:srgbClr val="02C39A"/>
                </a:solidFill>
                <a:latin typeface="Calibri"/>
              </a:rPr>
              <a:t>1.0000</a:t>
            </a:r>
          </a:p>
        </p:txBody>
      </p:sp>
      <p:sp>
        <p:nvSpPr>
          <p:cNvPr id="72" name="Rectangle 71"/>
          <p:cNvSpPr/>
          <p:nvPr/>
        </p:nvSpPr>
        <p:spPr>
          <a:xfrm>
            <a:off x="5870448" y="4471416"/>
            <a:ext cx="6016752" cy="283464"/>
          </a:xfrm>
          <a:prstGeom prst="rect">
            <a:avLst/>
          </a:prstGeom>
          <a:solidFill>
            <a:srgbClr val="12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600" y="4498848"/>
            <a:ext cx="256032" cy="237744"/>
          </a:xfrm>
          <a:prstGeom prst="rect">
            <a:avLst/>
          </a:prstGeom>
          <a:noFill/>
        </p:spPr>
        <p:txBody>
          <a:bodyPr wrap="square">
            <a:spAutoFit/>
          </a:bodyPr>
          <a:lstStyle/>
          <a:p>
            <a:pPr algn="l"/>
            <a:r>
              <a:rPr sz="1000" b="1" i="0">
                <a:solidFill>
                  <a:srgbClr val="F0C040"/>
                </a:solidFill>
                <a:latin typeface="Calibri"/>
              </a:rPr>
              <a:t>4</a:t>
            </a:r>
          </a:p>
        </p:txBody>
      </p:sp>
      <p:sp>
        <p:nvSpPr>
          <p:cNvPr id="74" name="TextBox 73"/>
          <p:cNvSpPr txBox="1"/>
          <p:nvPr/>
        </p:nvSpPr>
        <p:spPr>
          <a:xfrm>
            <a:off x="6236208" y="4498848"/>
            <a:ext cx="1371600" cy="237744"/>
          </a:xfrm>
          <a:prstGeom prst="rect">
            <a:avLst/>
          </a:prstGeom>
          <a:noFill/>
        </p:spPr>
        <p:txBody>
          <a:bodyPr wrap="square">
            <a:spAutoFit/>
          </a:bodyPr>
          <a:lstStyle/>
          <a:p>
            <a:pPr algn="l"/>
            <a:r>
              <a:rPr sz="950" b="0" i="0">
                <a:solidFill>
                  <a:srgbClr val="FFFFFF"/>
                </a:solidFill>
                <a:latin typeface="Calibri"/>
              </a:rPr>
              <a:t>Senior NLP Engineer</a:t>
            </a:r>
          </a:p>
        </p:txBody>
      </p:sp>
      <p:sp>
        <p:nvSpPr>
          <p:cNvPr id="75" name="TextBox 74"/>
          <p:cNvSpPr txBox="1"/>
          <p:nvPr/>
        </p:nvSpPr>
        <p:spPr>
          <a:xfrm>
            <a:off x="7662672" y="4498848"/>
            <a:ext cx="530352" cy="237744"/>
          </a:xfrm>
          <a:prstGeom prst="rect">
            <a:avLst/>
          </a:prstGeom>
          <a:noFill/>
        </p:spPr>
        <p:txBody>
          <a:bodyPr wrap="square">
            <a:spAutoFit/>
          </a:bodyPr>
          <a:lstStyle/>
          <a:p>
            <a:pPr algn="ctr"/>
            <a:r>
              <a:rPr sz="1000" b="0" i="0">
                <a:solidFill>
                  <a:srgbClr val="8BA8C4"/>
                </a:solidFill>
                <a:latin typeface="Calibri"/>
              </a:rPr>
              <a:t>7.8</a:t>
            </a:r>
          </a:p>
        </p:txBody>
      </p:sp>
      <p:sp>
        <p:nvSpPr>
          <p:cNvPr id="76" name="TextBox 75"/>
          <p:cNvSpPr txBox="1"/>
          <p:nvPr/>
        </p:nvSpPr>
        <p:spPr>
          <a:xfrm>
            <a:off x="8247888" y="4498848"/>
            <a:ext cx="768096" cy="237744"/>
          </a:xfrm>
          <a:prstGeom prst="rect">
            <a:avLst/>
          </a:prstGeom>
          <a:noFill/>
        </p:spPr>
        <p:txBody>
          <a:bodyPr wrap="square">
            <a:spAutoFit/>
          </a:bodyPr>
          <a:lstStyle/>
          <a:p>
            <a:pPr algn="l"/>
            <a:r>
              <a:rPr sz="950" b="0" i="0">
                <a:solidFill>
                  <a:srgbClr val="CADCFC"/>
                </a:solidFill>
                <a:latin typeface="Calibri"/>
              </a:rPr>
              <a:t>Niramai</a:t>
            </a:r>
          </a:p>
        </p:txBody>
      </p:sp>
      <p:sp>
        <p:nvSpPr>
          <p:cNvPr id="77" name="TextBox 76"/>
          <p:cNvSpPr txBox="1"/>
          <p:nvPr/>
        </p:nvSpPr>
        <p:spPr>
          <a:xfrm>
            <a:off x="9052560" y="4498848"/>
            <a:ext cx="777240" cy="237744"/>
          </a:xfrm>
          <a:prstGeom prst="rect">
            <a:avLst/>
          </a:prstGeom>
          <a:noFill/>
        </p:spPr>
        <p:txBody>
          <a:bodyPr wrap="square">
            <a:spAutoFit/>
          </a:bodyPr>
          <a:lstStyle/>
          <a:p>
            <a:pPr algn="l"/>
            <a:r>
              <a:rPr sz="1000" b="1" i="0">
                <a:solidFill>
                  <a:srgbClr val="02C39A"/>
                </a:solidFill>
                <a:latin typeface="Calibri"/>
              </a:rPr>
              <a:t>1.0000</a:t>
            </a:r>
          </a:p>
        </p:txBody>
      </p:sp>
      <p:sp>
        <p:nvSpPr>
          <p:cNvPr id="78" name="Rectangle 77"/>
          <p:cNvSpPr/>
          <p:nvPr/>
        </p:nvSpPr>
        <p:spPr>
          <a:xfrm>
            <a:off x="5870448" y="4773168"/>
            <a:ext cx="6016752" cy="2834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43600" y="4800600"/>
            <a:ext cx="256032" cy="237744"/>
          </a:xfrm>
          <a:prstGeom prst="rect">
            <a:avLst/>
          </a:prstGeom>
          <a:noFill/>
        </p:spPr>
        <p:txBody>
          <a:bodyPr wrap="square">
            <a:spAutoFit/>
          </a:bodyPr>
          <a:lstStyle/>
          <a:p>
            <a:pPr algn="l"/>
            <a:r>
              <a:rPr sz="1000" b="1" i="0">
                <a:solidFill>
                  <a:srgbClr val="F0C040"/>
                </a:solidFill>
                <a:latin typeface="Calibri"/>
              </a:rPr>
              <a:t>5</a:t>
            </a:r>
          </a:p>
        </p:txBody>
      </p:sp>
      <p:sp>
        <p:nvSpPr>
          <p:cNvPr id="80" name="TextBox 79"/>
          <p:cNvSpPr txBox="1"/>
          <p:nvPr/>
        </p:nvSpPr>
        <p:spPr>
          <a:xfrm>
            <a:off x="6236208" y="4800600"/>
            <a:ext cx="1371600" cy="237744"/>
          </a:xfrm>
          <a:prstGeom prst="rect">
            <a:avLst/>
          </a:prstGeom>
          <a:noFill/>
        </p:spPr>
        <p:txBody>
          <a:bodyPr wrap="square">
            <a:spAutoFit/>
          </a:bodyPr>
          <a:lstStyle/>
          <a:p>
            <a:pPr algn="l"/>
            <a:r>
              <a:rPr sz="950" b="0" i="0">
                <a:solidFill>
                  <a:srgbClr val="FFFFFF"/>
                </a:solidFill>
                <a:latin typeface="Calibri"/>
              </a:rPr>
              <a:t>Applied ML Eng.</a:t>
            </a:r>
          </a:p>
        </p:txBody>
      </p:sp>
      <p:sp>
        <p:nvSpPr>
          <p:cNvPr id="81" name="TextBox 80"/>
          <p:cNvSpPr txBox="1"/>
          <p:nvPr/>
        </p:nvSpPr>
        <p:spPr>
          <a:xfrm>
            <a:off x="7662672" y="4800600"/>
            <a:ext cx="530352" cy="237744"/>
          </a:xfrm>
          <a:prstGeom prst="rect">
            <a:avLst/>
          </a:prstGeom>
          <a:noFill/>
        </p:spPr>
        <p:txBody>
          <a:bodyPr wrap="square">
            <a:spAutoFit/>
          </a:bodyPr>
          <a:lstStyle/>
          <a:p>
            <a:pPr algn="ctr"/>
            <a:r>
              <a:rPr sz="1000" b="0" i="0">
                <a:solidFill>
                  <a:srgbClr val="8BA8C4"/>
                </a:solidFill>
                <a:latin typeface="Calibri"/>
              </a:rPr>
              <a:t>6.0</a:t>
            </a:r>
          </a:p>
        </p:txBody>
      </p:sp>
      <p:sp>
        <p:nvSpPr>
          <p:cNvPr id="82" name="TextBox 81"/>
          <p:cNvSpPr txBox="1"/>
          <p:nvPr/>
        </p:nvSpPr>
        <p:spPr>
          <a:xfrm>
            <a:off x="8247888" y="4800600"/>
            <a:ext cx="768096" cy="237744"/>
          </a:xfrm>
          <a:prstGeom prst="rect">
            <a:avLst/>
          </a:prstGeom>
          <a:noFill/>
        </p:spPr>
        <p:txBody>
          <a:bodyPr wrap="square">
            <a:spAutoFit/>
          </a:bodyPr>
          <a:lstStyle/>
          <a:p>
            <a:pPr algn="l"/>
            <a:r>
              <a:rPr sz="950" b="0" i="0">
                <a:solidFill>
                  <a:srgbClr val="CADCFC"/>
                </a:solidFill>
                <a:latin typeface="Calibri"/>
              </a:rPr>
              <a:t>Freshworks</a:t>
            </a:r>
          </a:p>
        </p:txBody>
      </p:sp>
      <p:sp>
        <p:nvSpPr>
          <p:cNvPr id="83" name="TextBox 82"/>
          <p:cNvSpPr txBox="1"/>
          <p:nvPr/>
        </p:nvSpPr>
        <p:spPr>
          <a:xfrm>
            <a:off x="9052560" y="4800600"/>
            <a:ext cx="777240" cy="237744"/>
          </a:xfrm>
          <a:prstGeom prst="rect">
            <a:avLst/>
          </a:prstGeom>
          <a:noFill/>
        </p:spPr>
        <p:txBody>
          <a:bodyPr wrap="square">
            <a:spAutoFit/>
          </a:bodyPr>
          <a:lstStyle/>
          <a:p>
            <a:pPr algn="l"/>
            <a:r>
              <a:rPr sz="1000" b="1" i="0">
                <a:solidFill>
                  <a:srgbClr val="02C39A"/>
                </a:solidFill>
                <a:latin typeface="Calibri"/>
              </a:rPr>
              <a:t>0.9992</a:t>
            </a:r>
          </a:p>
        </p:txBody>
      </p:sp>
      <p:sp>
        <p:nvSpPr>
          <p:cNvPr id="84" name="Rectangle 83"/>
          <p:cNvSpPr/>
          <p:nvPr/>
        </p:nvSpPr>
        <p:spPr>
          <a:xfrm>
            <a:off x="5870448" y="5074920"/>
            <a:ext cx="6016752" cy="283464"/>
          </a:xfrm>
          <a:prstGeom prst="rect">
            <a:avLst/>
          </a:prstGeom>
          <a:solidFill>
            <a:srgbClr val="12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43600" y="5102352"/>
            <a:ext cx="256032" cy="237744"/>
          </a:xfrm>
          <a:prstGeom prst="rect">
            <a:avLst/>
          </a:prstGeom>
          <a:noFill/>
        </p:spPr>
        <p:txBody>
          <a:bodyPr wrap="square">
            <a:spAutoFit/>
          </a:bodyPr>
          <a:lstStyle/>
          <a:p>
            <a:pPr algn="l"/>
            <a:r>
              <a:rPr sz="1000" b="1" i="0">
                <a:solidFill>
                  <a:srgbClr val="F0C040"/>
                </a:solidFill>
                <a:latin typeface="Calibri"/>
              </a:rPr>
              <a:t>6</a:t>
            </a:r>
          </a:p>
        </p:txBody>
      </p:sp>
      <p:sp>
        <p:nvSpPr>
          <p:cNvPr id="86" name="TextBox 85"/>
          <p:cNvSpPr txBox="1"/>
          <p:nvPr/>
        </p:nvSpPr>
        <p:spPr>
          <a:xfrm>
            <a:off x="6236208" y="5102352"/>
            <a:ext cx="1371600" cy="237744"/>
          </a:xfrm>
          <a:prstGeom prst="rect">
            <a:avLst/>
          </a:prstGeom>
          <a:noFill/>
        </p:spPr>
        <p:txBody>
          <a:bodyPr wrap="square">
            <a:spAutoFit/>
          </a:bodyPr>
          <a:lstStyle/>
          <a:p>
            <a:pPr algn="l"/>
            <a:r>
              <a:rPr sz="950" b="0" i="0">
                <a:solidFill>
                  <a:srgbClr val="FFFFFF"/>
                </a:solidFill>
                <a:latin typeface="Calibri"/>
              </a:rPr>
              <a:t>Search Engineer</a:t>
            </a:r>
          </a:p>
        </p:txBody>
      </p:sp>
      <p:sp>
        <p:nvSpPr>
          <p:cNvPr id="87" name="TextBox 86"/>
          <p:cNvSpPr txBox="1"/>
          <p:nvPr/>
        </p:nvSpPr>
        <p:spPr>
          <a:xfrm>
            <a:off x="7662672" y="5102352"/>
            <a:ext cx="530352" cy="237744"/>
          </a:xfrm>
          <a:prstGeom prst="rect">
            <a:avLst/>
          </a:prstGeom>
          <a:noFill/>
        </p:spPr>
        <p:txBody>
          <a:bodyPr wrap="square">
            <a:spAutoFit/>
          </a:bodyPr>
          <a:lstStyle/>
          <a:p>
            <a:pPr algn="ctr"/>
            <a:r>
              <a:rPr sz="1000" b="0" i="0">
                <a:solidFill>
                  <a:srgbClr val="8BA8C4"/>
                </a:solidFill>
                <a:latin typeface="Calibri"/>
              </a:rPr>
              <a:t>7.6</a:t>
            </a:r>
          </a:p>
        </p:txBody>
      </p:sp>
      <p:sp>
        <p:nvSpPr>
          <p:cNvPr id="88" name="TextBox 87"/>
          <p:cNvSpPr txBox="1"/>
          <p:nvPr/>
        </p:nvSpPr>
        <p:spPr>
          <a:xfrm>
            <a:off x="8247888" y="5102352"/>
            <a:ext cx="768096" cy="237744"/>
          </a:xfrm>
          <a:prstGeom prst="rect">
            <a:avLst/>
          </a:prstGeom>
          <a:noFill/>
        </p:spPr>
        <p:txBody>
          <a:bodyPr wrap="square">
            <a:spAutoFit/>
          </a:bodyPr>
          <a:lstStyle/>
          <a:p>
            <a:pPr algn="l"/>
            <a:r>
              <a:rPr sz="950" b="0" i="0">
                <a:solidFill>
                  <a:srgbClr val="CADCFC"/>
                </a:solidFill>
                <a:latin typeface="Calibri"/>
              </a:rPr>
              <a:t>Sarvam AI</a:t>
            </a:r>
          </a:p>
        </p:txBody>
      </p:sp>
      <p:sp>
        <p:nvSpPr>
          <p:cNvPr id="89" name="TextBox 88"/>
          <p:cNvSpPr txBox="1"/>
          <p:nvPr/>
        </p:nvSpPr>
        <p:spPr>
          <a:xfrm>
            <a:off x="9052560" y="5102352"/>
            <a:ext cx="777240" cy="237744"/>
          </a:xfrm>
          <a:prstGeom prst="rect">
            <a:avLst/>
          </a:prstGeom>
          <a:noFill/>
        </p:spPr>
        <p:txBody>
          <a:bodyPr wrap="square">
            <a:spAutoFit/>
          </a:bodyPr>
          <a:lstStyle/>
          <a:p>
            <a:pPr algn="l"/>
            <a:r>
              <a:rPr sz="1000" b="1" i="0">
                <a:solidFill>
                  <a:srgbClr val="02C39A"/>
                </a:solidFill>
                <a:latin typeface="Calibri"/>
              </a:rPr>
              <a:t>0.9948</a:t>
            </a:r>
          </a:p>
        </p:txBody>
      </p:sp>
      <p:sp>
        <p:nvSpPr>
          <p:cNvPr id="90" name="Rectangle 89"/>
          <p:cNvSpPr/>
          <p:nvPr/>
        </p:nvSpPr>
        <p:spPr>
          <a:xfrm>
            <a:off x="5870448" y="5376672"/>
            <a:ext cx="6016752" cy="2834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43600" y="5404104"/>
            <a:ext cx="256032" cy="237744"/>
          </a:xfrm>
          <a:prstGeom prst="rect">
            <a:avLst/>
          </a:prstGeom>
          <a:noFill/>
        </p:spPr>
        <p:txBody>
          <a:bodyPr wrap="square">
            <a:spAutoFit/>
          </a:bodyPr>
          <a:lstStyle/>
          <a:p>
            <a:pPr algn="l"/>
            <a:r>
              <a:rPr sz="1000" b="1" i="0">
                <a:solidFill>
                  <a:srgbClr val="F0C040"/>
                </a:solidFill>
                <a:latin typeface="Calibri"/>
              </a:rPr>
              <a:t>7</a:t>
            </a:r>
          </a:p>
        </p:txBody>
      </p:sp>
      <p:sp>
        <p:nvSpPr>
          <p:cNvPr id="92" name="TextBox 91"/>
          <p:cNvSpPr txBox="1"/>
          <p:nvPr/>
        </p:nvSpPr>
        <p:spPr>
          <a:xfrm>
            <a:off x="6236208" y="5404104"/>
            <a:ext cx="1371600" cy="237744"/>
          </a:xfrm>
          <a:prstGeom prst="rect">
            <a:avLst/>
          </a:prstGeom>
          <a:noFill/>
        </p:spPr>
        <p:txBody>
          <a:bodyPr wrap="square">
            <a:spAutoFit/>
          </a:bodyPr>
          <a:lstStyle/>
          <a:p>
            <a:pPr algn="l"/>
            <a:r>
              <a:rPr sz="950" b="0" i="0">
                <a:solidFill>
                  <a:srgbClr val="FFFFFF"/>
                </a:solidFill>
                <a:latin typeface="Calibri"/>
              </a:rPr>
              <a:t>Sr. ML Engineer</a:t>
            </a:r>
          </a:p>
        </p:txBody>
      </p:sp>
      <p:sp>
        <p:nvSpPr>
          <p:cNvPr id="93" name="TextBox 92"/>
          <p:cNvSpPr txBox="1"/>
          <p:nvPr/>
        </p:nvSpPr>
        <p:spPr>
          <a:xfrm>
            <a:off x="7662672" y="5404104"/>
            <a:ext cx="530352" cy="237744"/>
          </a:xfrm>
          <a:prstGeom prst="rect">
            <a:avLst/>
          </a:prstGeom>
          <a:noFill/>
        </p:spPr>
        <p:txBody>
          <a:bodyPr wrap="square">
            <a:spAutoFit/>
          </a:bodyPr>
          <a:lstStyle/>
          <a:p>
            <a:pPr algn="ctr"/>
            <a:r>
              <a:rPr sz="1000" b="0" i="0">
                <a:solidFill>
                  <a:srgbClr val="8BA8C4"/>
                </a:solidFill>
                <a:latin typeface="Calibri"/>
              </a:rPr>
              <a:t>7.2</a:t>
            </a:r>
          </a:p>
        </p:txBody>
      </p:sp>
      <p:sp>
        <p:nvSpPr>
          <p:cNvPr id="94" name="TextBox 93"/>
          <p:cNvSpPr txBox="1"/>
          <p:nvPr/>
        </p:nvSpPr>
        <p:spPr>
          <a:xfrm>
            <a:off x="8247888" y="5404104"/>
            <a:ext cx="768096" cy="237744"/>
          </a:xfrm>
          <a:prstGeom prst="rect">
            <a:avLst/>
          </a:prstGeom>
          <a:noFill/>
        </p:spPr>
        <p:txBody>
          <a:bodyPr wrap="square">
            <a:spAutoFit/>
          </a:bodyPr>
          <a:lstStyle/>
          <a:p>
            <a:pPr algn="l"/>
            <a:r>
              <a:rPr sz="950" b="0" i="0">
                <a:solidFill>
                  <a:srgbClr val="CADCFC"/>
                </a:solidFill>
                <a:latin typeface="Calibri"/>
              </a:rPr>
              <a:t>Zomato</a:t>
            </a:r>
          </a:p>
        </p:txBody>
      </p:sp>
      <p:sp>
        <p:nvSpPr>
          <p:cNvPr id="95" name="TextBox 94"/>
          <p:cNvSpPr txBox="1"/>
          <p:nvPr/>
        </p:nvSpPr>
        <p:spPr>
          <a:xfrm>
            <a:off x="9052560" y="5404104"/>
            <a:ext cx="777240" cy="237744"/>
          </a:xfrm>
          <a:prstGeom prst="rect">
            <a:avLst/>
          </a:prstGeom>
          <a:noFill/>
        </p:spPr>
        <p:txBody>
          <a:bodyPr wrap="square">
            <a:spAutoFit/>
          </a:bodyPr>
          <a:lstStyle/>
          <a:p>
            <a:pPr algn="l"/>
            <a:r>
              <a:rPr sz="1000" b="1" i="0">
                <a:solidFill>
                  <a:srgbClr val="02C39A"/>
                </a:solidFill>
                <a:latin typeface="Calibri"/>
              </a:rPr>
              <a:t>0.9792</a:t>
            </a:r>
          </a:p>
        </p:txBody>
      </p:sp>
      <p:sp>
        <p:nvSpPr>
          <p:cNvPr id="96" name="Rectangle 95"/>
          <p:cNvSpPr/>
          <p:nvPr/>
        </p:nvSpPr>
        <p:spPr>
          <a:xfrm>
            <a:off x="5870448" y="5678424"/>
            <a:ext cx="6016752" cy="283464"/>
          </a:xfrm>
          <a:prstGeom prst="rect">
            <a:avLst/>
          </a:prstGeom>
          <a:solidFill>
            <a:srgbClr val="12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943600" y="5705856"/>
            <a:ext cx="256032" cy="237744"/>
          </a:xfrm>
          <a:prstGeom prst="rect">
            <a:avLst/>
          </a:prstGeom>
          <a:noFill/>
        </p:spPr>
        <p:txBody>
          <a:bodyPr wrap="square">
            <a:spAutoFit/>
          </a:bodyPr>
          <a:lstStyle/>
          <a:p>
            <a:pPr algn="l"/>
            <a:r>
              <a:rPr sz="1000" b="1" i="0">
                <a:solidFill>
                  <a:srgbClr val="F0C040"/>
                </a:solidFill>
                <a:latin typeface="Calibri"/>
              </a:rPr>
              <a:t>8</a:t>
            </a:r>
          </a:p>
        </p:txBody>
      </p:sp>
      <p:sp>
        <p:nvSpPr>
          <p:cNvPr id="98" name="TextBox 97"/>
          <p:cNvSpPr txBox="1"/>
          <p:nvPr/>
        </p:nvSpPr>
        <p:spPr>
          <a:xfrm>
            <a:off x="6236208" y="5705856"/>
            <a:ext cx="1371600" cy="237744"/>
          </a:xfrm>
          <a:prstGeom prst="rect">
            <a:avLst/>
          </a:prstGeom>
          <a:noFill/>
        </p:spPr>
        <p:txBody>
          <a:bodyPr wrap="square">
            <a:spAutoFit/>
          </a:bodyPr>
          <a:lstStyle/>
          <a:p>
            <a:pPr algn="l"/>
            <a:r>
              <a:rPr sz="950" b="0" i="0">
                <a:solidFill>
                  <a:srgbClr val="FFFFFF"/>
                </a:solidFill>
                <a:latin typeface="Calibri"/>
              </a:rPr>
              <a:t>ML Engineer</a:t>
            </a:r>
          </a:p>
        </p:txBody>
      </p:sp>
      <p:sp>
        <p:nvSpPr>
          <p:cNvPr id="99" name="TextBox 98"/>
          <p:cNvSpPr txBox="1"/>
          <p:nvPr/>
        </p:nvSpPr>
        <p:spPr>
          <a:xfrm>
            <a:off x="7662672" y="5705856"/>
            <a:ext cx="530352" cy="237744"/>
          </a:xfrm>
          <a:prstGeom prst="rect">
            <a:avLst/>
          </a:prstGeom>
          <a:noFill/>
        </p:spPr>
        <p:txBody>
          <a:bodyPr wrap="square">
            <a:spAutoFit/>
          </a:bodyPr>
          <a:lstStyle/>
          <a:p>
            <a:pPr algn="ctr"/>
            <a:r>
              <a:rPr sz="1000" b="0" i="0">
                <a:solidFill>
                  <a:srgbClr val="8BA8C4"/>
                </a:solidFill>
                <a:latin typeface="Calibri"/>
              </a:rPr>
              <a:t>5.7</a:t>
            </a:r>
          </a:p>
        </p:txBody>
      </p:sp>
      <p:sp>
        <p:nvSpPr>
          <p:cNvPr id="100" name="TextBox 99"/>
          <p:cNvSpPr txBox="1"/>
          <p:nvPr/>
        </p:nvSpPr>
        <p:spPr>
          <a:xfrm>
            <a:off x="8247888" y="5705856"/>
            <a:ext cx="768096" cy="237744"/>
          </a:xfrm>
          <a:prstGeom prst="rect">
            <a:avLst/>
          </a:prstGeom>
          <a:noFill/>
        </p:spPr>
        <p:txBody>
          <a:bodyPr wrap="square">
            <a:spAutoFit/>
          </a:bodyPr>
          <a:lstStyle/>
          <a:p>
            <a:pPr algn="l"/>
            <a:r>
              <a:rPr sz="950" b="0" i="0">
                <a:solidFill>
                  <a:srgbClr val="CADCFC"/>
                </a:solidFill>
                <a:latin typeface="Calibri"/>
              </a:rPr>
              <a:t>Verloop.io</a:t>
            </a:r>
          </a:p>
        </p:txBody>
      </p:sp>
      <p:sp>
        <p:nvSpPr>
          <p:cNvPr id="101" name="TextBox 100"/>
          <p:cNvSpPr txBox="1"/>
          <p:nvPr/>
        </p:nvSpPr>
        <p:spPr>
          <a:xfrm>
            <a:off x="9052560" y="5705856"/>
            <a:ext cx="777240" cy="237744"/>
          </a:xfrm>
          <a:prstGeom prst="rect">
            <a:avLst/>
          </a:prstGeom>
          <a:noFill/>
        </p:spPr>
        <p:txBody>
          <a:bodyPr wrap="square">
            <a:spAutoFit/>
          </a:bodyPr>
          <a:lstStyle/>
          <a:p>
            <a:pPr algn="l"/>
            <a:r>
              <a:rPr sz="1000" b="1" i="0">
                <a:solidFill>
                  <a:srgbClr val="02C39A"/>
                </a:solidFill>
                <a:latin typeface="Calibri"/>
              </a:rPr>
              <a:t>0.9764</a:t>
            </a:r>
          </a:p>
        </p:txBody>
      </p:sp>
      <p:sp>
        <p:nvSpPr>
          <p:cNvPr id="102" name="Rectangle 101"/>
          <p:cNvSpPr/>
          <p:nvPr/>
        </p:nvSpPr>
        <p:spPr>
          <a:xfrm>
            <a:off x="5870448" y="5980176"/>
            <a:ext cx="6016752" cy="28346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943600" y="6007608"/>
            <a:ext cx="256032" cy="237744"/>
          </a:xfrm>
          <a:prstGeom prst="rect">
            <a:avLst/>
          </a:prstGeom>
          <a:noFill/>
        </p:spPr>
        <p:txBody>
          <a:bodyPr wrap="square">
            <a:spAutoFit/>
          </a:bodyPr>
          <a:lstStyle/>
          <a:p>
            <a:pPr algn="l"/>
            <a:r>
              <a:rPr sz="1000" b="1" i="0">
                <a:solidFill>
                  <a:srgbClr val="F0C040"/>
                </a:solidFill>
                <a:latin typeface="Calibri"/>
              </a:rPr>
              <a:t>9</a:t>
            </a:r>
          </a:p>
        </p:txBody>
      </p:sp>
      <p:sp>
        <p:nvSpPr>
          <p:cNvPr id="104" name="TextBox 103"/>
          <p:cNvSpPr txBox="1"/>
          <p:nvPr/>
        </p:nvSpPr>
        <p:spPr>
          <a:xfrm>
            <a:off x="6236208" y="6007608"/>
            <a:ext cx="1371600" cy="237744"/>
          </a:xfrm>
          <a:prstGeom prst="rect">
            <a:avLst/>
          </a:prstGeom>
          <a:noFill/>
        </p:spPr>
        <p:txBody>
          <a:bodyPr wrap="square">
            <a:spAutoFit/>
          </a:bodyPr>
          <a:lstStyle/>
          <a:p>
            <a:pPr algn="l"/>
            <a:r>
              <a:rPr sz="950" b="0" i="0">
                <a:solidFill>
                  <a:srgbClr val="FFFFFF"/>
                </a:solidFill>
                <a:latin typeface="Calibri"/>
              </a:rPr>
              <a:t>Applied ML Eng.</a:t>
            </a:r>
          </a:p>
        </p:txBody>
      </p:sp>
      <p:sp>
        <p:nvSpPr>
          <p:cNvPr id="105" name="TextBox 104"/>
          <p:cNvSpPr txBox="1"/>
          <p:nvPr/>
        </p:nvSpPr>
        <p:spPr>
          <a:xfrm>
            <a:off x="7662672" y="6007608"/>
            <a:ext cx="530352" cy="237744"/>
          </a:xfrm>
          <a:prstGeom prst="rect">
            <a:avLst/>
          </a:prstGeom>
          <a:noFill/>
        </p:spPr>
        <p:txBody>
          <a:bodyPr wrap="square">
            <a:spAutoFit/>
          </a:bodyPr>
          <a:lstStyle/>
          <a:p>
            <a:pPr algn="ctr"/>
            <a:r>
              <a:rPr sz="1000" b="0" i="0">
                <a:solidFill>
                  <a:srgbClr val="8BA8C4"/>
                </a:solidFill>
                <a:latin typeface="Calibri"/>
              </a:rPr>
              <a:t>5.8</a:t>
            </a:r>
          </a:p>
        </p:txBody>
      </p:sp>
      <p:sp>
        <p:nvSpPr>
          <p:cNvPr id="106" name="TextBox 105"/>
          <p:cNvSpPr txBox="1"/>
          <p:nvPr/>
        </p:nvSpPr>
        <p:spPr>
          <a:xfrm>
            <a:off x="8247888" y="6007608"/>
            <a:ext cx="768096" cy="237744"/>
          </a:xfrm>
          <a:prstGeom prst="rect">
            <a:avLst/>
          </a:prstGeom>
          <a:noFill/>
        </p:spPr>
        <p:txBody>
          <a:bodyPr wrap="square">
            <a:spAutoFit/>
          </a:bodyPr>
          <a:lstStyle/>
          <a:p>
            <a:pPr algn="l"/>
            <a:r>
              <a:rPr sz="950" b="0" i="0">
                <a:solidFill>
                  <a:srgbClr val="CADCFC"/>
                </a:solidFill>
                <a:latin typeface="Calibri"/>
              </a:rPr>
              <a:t>Saarthi.ai</a:t>
            </a:r>
          </a:p>
        </p:txBody>
      </p:sp>
      <p:sp>
        <p:nvSpPr>
          <p:cNvPr id="107" name="TextBox 106"/>
          <p:cNvSpPr txBox="1"/>
          <p:nvPr/>
        </p:nvSpPr>
        <p:spPr>
          <a:xfrm>
            <a:off x="9052560" y="6007608"/>
            <a:ext cx="777240" cy="237744"/>
          </a:xfrm>
          <a:prstGeom prst="rect">
            <a:avLst/>
          </a:prstGeom>
          <a:noFill/>
        </p:spPr>
        <p:txBody>
          <a:bodyPr wrap="square">
            <a:spAutoFit/>
          </a:bodyPr>
          <a:lstStyle/>
          <a:p>
            <a:pPr algn="l"/>
            <a:r>
              <a:rPr sz="1000" b="1" i="0">
                <a:solidFill>
                  <a:srgbClr val="02C39A"/>
                </a:solidFill>
                <a:latin typeface="Calibri"/>
              </a:rPr>
              <a:t>0.9740</a:t>
            </a:r>
          </a:p>
        </p:txBody>
      </p:sp>
      <p:sp>
        <p:nvSpPr>
          <p:cNvPr id="108" name="Rectangle 107"/>
          <p:cNvSpPr/>
          <p:nvPr/>
        </p:nvSpPr>
        <p:spPr>
          <a:xfrm>
            <a:off x="5870448" y="6281928"/>
            <a:ext cx="6016752" cy="283464"/>
          </a:xfrm>
          <a:prstGeom prst="rect">
            <a:avLst/>
          </a:prstGeom>
          <a:solidFill>
            <a:srgbClr val="12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943600" y="6309360"/>
            <a:ext cx="256032" cy="237744"/>
          </a:xfrm>
          <a:prstGeom prst="rect">
            <a:avLst/>
          </a:prstGeom>
          <a:noFill/>
        </p:spPr>
        <p:txBody>
          <a:bodyPr wrap="square">
            <a:spAutoFit/>
          </a:bodyPr>
          <a:lstStyle/>
          <a:p>
            <a:pPr algn="l"/>
            <a:r>
              <a:rPr sz="1000" b="1" i="0">
                <a:solidFill>
                  <a:srgbClr val="F0C040"/>
                </a:solidFill>
                <a:latin typeface="Calibri"/>
              </a:rPr>
              <a:t>10</a:t>
            </a:r>
          </a:p>
        </p:txBody>
      </p:sp>
      <p:sp>
        <p:nvSpPr>
          <p:cNvPr id="110" name="TextBox 109"/>
          <p:cNvSpPr txBox="1"/>
          <p:nvPr/>
        </p:nvSpPr>
        <p:spPr>
          <a:xfrm>
            <a:off x="6236208" y="6309360"/>
            <a:ext cx="1371600" cy="237744"/>
          </a:xfrm>
          <a:prstGeom prst="rect">
            <a:avLst/>
          </a:prstGeom>
          <a:noFill/>
        </p:spPr>
        <p:txBody>
          <a:bodyPr wrap="square">
            <a:spAutoFit/>
          </a:bodyPr>
          <a:lstStyle/>
          <a:p>
            <a:pPr algn="l"/>
            <a:r>
              <a:rPr sz="950" b="0" i="0">
                <a:solidFill>
                  <a:srgbClr val="FFFFFF"/>
                </a:solidFill>
                <a:latin typeface="Calibri"/>
              </a:rPr>
              <a:t>Recsys Engineer</a:t>
            </a:r>
          </a:p>
        </p:txBody>
      </p:sp>
      <p:sp>
        <p:nvSpPr>
          <p:cNvPr id="111" name="TextBox 110"/>
          <p:cNvSpPr txBox="1"/>
          <p:nvPr/>
        </p:nvSpPr>
        <p:spPr>
          <a:xfrm>
            <a:off x="7662672" y="6309360"/>
            <a:ext cx="530352" cy="237744"/>
          </a:xfrm>
          <a:prstGeom prst="rect">
            <a:avLst/>
          </a:prstGeom>
          <a:noFill/>
        </p:spPr>
        <p:txBody>
          <a:bodyPr wrap="square">
            <a:spAutoFit/>
          </a:bodyPr>
          <a:lstStyle/>
          <a:p>
            <a:pPr algn="ctr"/>
            <a:r>
              <a:rPr sz="1000" b="0" i="0">
                <a:solidFill>
                  <a:srgbClr val="8BA8C4"/>
                </a:solidFill>
                <a:latin typeface="Calibri"/>
              </a:rPr>
              <a:t>8.0</a:t>
            </a:r>
          </a:p>
        </p:txBody>
      </p:sp>
      <p:sp>
        <p:nvSpPr>
          <p:cNvPr id="112" name="TextBox 111"/>
          <p:cNvSpPr txBox="1"/>
          <p:nvPr/>
        </p:nvSpPr>
        <p:spPr>
          <a:xfrm>
            <a:off x="8247888" y="6309360"/>
            <a:ext cx="768096" cy="237744"/>
          </a:xfrm>
          <a:prstGeom prst="rect">
            <a:avLst/>
          </a:prstGeom>
          <a:noFill/>
        </p:spPr>
        <p:txBody>
          <a:bodyPr wrap="square">
            <a:spAutoFit/>
          </a:bodyPr>
          <a:lstStyle/>
          <a:p>
            <a:pPr algn="l"/>
            <a:r>
              <a:rPr sz="950" b="0" i="0">
                <a:solidFill>
                  <a:srgbClr val="CADCFC"/>
                </a:solidFill>
                <a:latin typeface="Calibri"/>
              </a:rPr>
              <a:t>CRED</a:t>
            </a:r>
          </a:p>
        </p:txBody>
      </p:sp>
      <p:sp>
        <p:nvSpPr>
          <p:cNvPr id="113" name="TextBox 112"/>
          <p:cNvSpPr txBox="1"/>
          <p:nvPr/>
        </p:nvSpPr>
        <p:spPr>
          <a:xfrm>
            <a:off x="9052560" y="6309360"/>
            <a:ext cx="777240" cy="237744"/>
          </a:xfrm>
          <a:prstGeom prst="rect">
            <a:avLst/>
          </a:prstGeom>
          <a:noFill/>
        </p:spPr>
        <p:txBody>
          <a:bodyPr wrap="square">
            <a:spAutoFit/>
          </a:bodyPr>
          <a:lstStyle/>
          <a:p>
            <a:pPr algn="l"/>
            <a:r>
              <a:rPr sz="1000" b="1" i="0">
                <a:solidFill>
                  <a:srgbClr val="02C39A"/>
                </a:solidFill>
                <a:latin typeface="Calibri"/>
              </a:rPr>
              <a:t>0.9716</a:t>
            </a:r>
          </a:p>
        </p:txBody>
      </p:sp>
      <p:sp>
        <p:nvSpPr>
          <p:cNvPr id="114" name="TextBox 113"/>
          <p:cNvSpPr txBox="1"/>
          <p:nvPr/>
        </p:nvSpPr>
        <p:spPr>
          <a:xfrm>
            <a:off x="5870448" y="6455664"/>
            <a:ext cx="5943600" cy="256032"/>
          </a:xfrm>
          <a:prstGeom prst="rect">
            <a:avLst/>
          </a:prstGeom>
          <a:noFill/>
        </p:spPr>
        <p:txBody>
          <a:bodyPr wrap="square">
            <a:spAutoFit/>
          </a:bodyPr>
          <a:lstStyle/>
          <a:p>
            <a:pPr algn="l"/>
            <a:r>
              <a:rPr sz="1000" b="0" i="1">
                <a:solidFill>
                  <a:srgbClr val="8BA8C4"/>
                </a:solidFill>
                <a:latin typeface="Calibri"/>
              </a:rPr>
              <a:t>77/100 candidates in preferred 5–9 YOE band · Avg YOE: 6.5 years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Evaluation Metrics</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Hackathon composite: 0.50×NDCG@10 + 0.30×NDCG@50 + 0.15×MAP + 0.05×P@10</a:t>
            </a:r>
          </a:p>
        </p:txBody>
      </p:sp>
      <p:sp>
        <p:nvSpPr>
          <p:cNvPr id="4" name="Rounded Rectangle 3"/>
          <p:cNvSpPr/>
          <p:nvPr/>
        </p:nvSpPr>
        <p:spPr>
          <a:xfrm>
            <a:off x="411480" y="1353312"/>
            <a:ext cx="5394960" cy="516636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0"/>
            <a:ext cx="5120640" cy="411480"/>
          </a:xfrm>
          <a:prstGeom prst="rect">
            <a:avLst/>
          </a:prstGeom>
          <a:noFill/>
        </p:spPr>
        <p:txBody>
          <a:bodyPr wrap="square">
            <a:spAutoFit/>
          </a:bodyPr>
          <a:lstStyle/>
          <a:p>
            <a:pPr algn="l"/>
            <a:r>
              <a:rPr sz="1400" b="1" i="0">
                <a:solidFill>
                  <a:srgbClr val="F0C040"/>
                </a:solidFill>
                <a:latin typeface="Calibri"/>
              </a:rPr>
              <a:t>📈  Score Distribution Analysis</a:t>
            </a:r>
          </a:p>
        </p:txBody>
      </p:sp>
      <p:sp>
        <p:nvSpPr>
          <p:cNvPr id="6" name="TextBox 5"/>
          <p:cNvSpPr txBox="1"/>
          <p:nvPr/>
        </p:nvSpPr>
        <p:spPr>
          <a:xfrm>
            <a:off x="566928" y="1965960"/>
            <a:ext cx="5120640" cy="292608"/>
          </a:xfrm>
          <a:prstGeom prst="rect">
            <a:avLst/>
          </a:prstGeom>
          <a:noFill/>
        </p:spPr>
        <p:txBody>
          <a:bodyPr wrap="square">
            <a:spAutoFit/>
          </a:bodyPr>
          <a:lstStyle/>
          <a:p>
            <a:pPr algn="l"/>
            <a:r>
              <a:rPr sz="1050" b="1" i="0">
                <a:solidFill>
                  <a:srgbClr val="8BA8C4"/>
                </a:solidFill>
                <a:latin typeface="Calibri"/>
              </a:rPr>
              <a:t>Score Range     Candidates    Visual</a:t>
            </a:r>
          </a:p>
        </p:txBody>
      </p:sp>
      <p:sp>
        <p:nvSpPr>
          <p:cNvPr id="7" name="TextBox 6"/>
          <p:cNvSpPr txBox="1"/>
          <p:nvPr/>
        </p:nvSpPr>
        <p:spPr>
          <a:xfrm>
            <a:off x="566928" y="2331720"/>
            <a:ext cx="1188720" cy="320040"/>
          </a:xfrm>
          <a:prstGeom prst="rect">
            <a:avLst/>
          </a:prstGeom>
          <a:noFill/>
        </p:spPr>
        <p:txBody>
          <a:bodyPr wrap="square">
            <a:spAutoFit/>
          </a:bodyPr>
          <a:lstStyle/>
          <a:p>
            <a:pPr algn="l"/>
            <a:r>
              <a:rPr sz="1200" b="0" i="0">
                <a:solidFill>
                  <a:srgbClr val="FFFFFF"/>
                </a:solidFill>
                <a:latin typeface="Calibri"/>
              </a:rPr>
              <a:t>0.95–1.00</a:t>
            </a:r>
          </a:p>
        </p:txBody>
      </p:sp>
      <p:sp>
        <p:nvSpPr>
          <p:cNvPr id="8" name="TextBox 7"/>
          <p:cNvSpPr txBox="1"/>
          <p:nvPr/>
        </p:nvSpPr>
        <p:spPr>
          <a:xfrm>
            <a:off x="1828800" y="2331720"/>
            <a:ext cx="548640" cy="320040"/>
          </a:xfrm>
          <a:prstGeom prst="rect">
            <a:avLst/>
          </a:prstGeom>
          <a:noFill/>
        </p:spPr>
        <p:txBody>
          <a:bodyPr wrap="square">
            <a:spAutoFit/>
          </a:bodyPr>
          <a:lstStyle/>
          <a:p>
            <a:pPr algn="ctr"/>
            <a:r>
              <a:rPr sz="1200" b="1" i="0">
                <a:solidFill>
                  <a:srgbClr val="02C39A"/>
                </a:solidFill>
                <a:latin typeface="Calibri"/>
              </a:rPr>
              <a:t>16</a:t>
            </a:r>
          </a:p>
        </p:txBody>
      </p:sp>
      <p:sp>
        <p:nvSpPr>
          <p:cNvPr id="9" name="Rectangle 8"/>
          <p:cNvSpPr/>
          <p:nvPr/>
        </p:nvSpPr>
        <p:spPr>
          <a:xfrm>
            <a:off x="2423160" y="2368296"/>
            <a:ext cx="1053388" cy="256032"/>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953512"/>
            <a:ext cx="1188720" cy="320040"/>
          </a:xfrm>
          <a:prstGeom prst="rect">
            <a:avLst/>
          </a:prstGeom>
          <a:noFill/>
        </p:spPr>
        <p:txBody>
          <a:bodyPr wrap="square">
            <a:spAutoFit/>
          </a:bodyPr>
          <a:lstStyle/>
          <a:p>
            <a:pPr algn="l"/>
            <a:r>
              <a:rPr sz="1200" b="0" i="0">
                <a:solidFill>
                  <a:srgbClr val="FFFFFF"/>
                </a:solidFill>
                <a:latin typeface="Calibri"/>
              </a:rPr>
              <a:t>0.90–0.95</a:t>
            </a:r>
          </a:p>
        </p:txBody>
      </p:sp>
      <p:sp>
        <p:nvSpPr>
          <p:cNvPr id="11" name="TextBox 10"/>
          <p:cNvSpPr txBox="1"/>
          <p:nvPr/>
        </p:nvSpPr>
        <p:spPr>
          <a:xfrm>
            <a:off x="1828800" y="2953512"/>
            <a:ext cx="548640" cy="320040"/>
          </a:xfrm>
          <a:prstGeom prst="rect">
            <a:avLst/>
          </a:prstGeom>
          <a:noFill/>
        </p:spPr>
        <p:txBody>
          <a:bodyPr wrap="square">
            <a:spAutoFit/>
          </a:bodyPr>
          <a:lstStyle/>
          <a:p>
            <a:pPr algn="ctr"/>
            <a:r>
              <a:rPr sz="1200" b="1" i="0">
                <a:solidFill>
                  <a:srgbClr val="CADCFC"/>
                </a:solidFill>
                <a:latin typeface="Calibri"/>
              </a:rPr>
              <a:t>29</a:t>
            </a:r>
          </a:p>
        </p:txBody>
      </p:sp>
      <p:sp>
        <p:nvSpPr>
          <p:cNvPr id="12" name="Rectangle 11"/>
          <p:cNvSpPr/>
          <p:nvPr/>
        </p:nvSpPr>
        <p:spPr>
          <a:xfrm>
            <a:off x="2423160" y="2990088"/>
            <a:ext cx="1909267" cy="2560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575304"/>
            <a:ext cx="1188720" cy="320040"/>
          </a:xfrm>
          <a:prstGeom prst="rect">
            <a:avLst/>
          </a:prstGeom>
          <a:noFill/>
        </p:spPr>
        <p:txBody>
          <a:bodyPr wrap="square">
            <a:spAutoFit/>
          </a:bodyPr>
          <a:lstStyle/>
          <a:p>
            <a:pPr algn="l"/>
            <a:r>
              <a:rPr sz="1200" b="0" i="0">
                <a:solidFill>
                  <a:srgbClr val="FFFFFF"/>
                </a:solidFill>
                <a:latin typeface="Calibri"/>
              </a:rPr>
              <a:t>0.85–0.90</a:t>
            </a:r>
          </a:p>
        </p:txBody>
      </p:sp>
      <p:sp>
        <p:nvSpPr>
          <p:cNvPr id="14" name="TextBox 13"/>
          <p:cNvSpPr txBox="1"/>
          <p:nvPr/>
        </p:nvSpPr>
        <p:spPr>
          <a:xfrm>
            <a:off x="1828800" y="3575304"/>
            <a:ext cx="548640" cy="320040"/>
          </a:xfrm>
          <a:prstGeom prst="rect">
            <a:avLst/>
          </a:prstGeom>
          <a:noFill/>
        </p:spPr>
        <p:txBody>
          <a:bodyPr wrap="square">
            <a:spAutoFit/>
          </a:bodyPr>
          <a:lstStyle/>
          <a:p>
            <a:pPr algn="ctr"/>
            <a:r>
              <a:rPr sz="1200" b="1" i="0">
                <a:solidFill>
                  <a:srgbClr val="F0C040"/>
                </a:solidFill>
                <a:latin typeface="Calibri"/>
              </a:rPr>
              <a:t>55</a:t>
            </a:r>
          </a:p>
        </p:txBody>
      </p:sp>
      <p:sp>
        <p:nvSpPr>
          <p:cNvPr id="15" name="Rectangle 14"/>
          <p:cNvSpPr/>
          <p:nvPr/>
        </p:nvSpPr>
        <p:spPr>
          <a:xfrm>
            <a:off x="2423160" y="3611880"/>
            <a:ext cx="3621023" cy="256032"/>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4041648"/>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078224"/>
            <a:ext cx="1417320" cy="219456"/>
          </a:xfrm>
          <a:prstGeom prst="rect">
            <a:avLst/>
          </a:prstGeom>
          <a:noFill/>
        </p:spPr>
        <p:txBody>
          <a:bodyPr wrap="square">
            <a:spAutoFit/>
          </a:bodyPr>
          <a:lstStyle/>
          <a:p>
            <a:pPr algn="l"/>
            <a:r>
              <a:rPr sz="950" b="0" i="0">
                <a:solidFill>
                  <a:srgbClr val="8BA8C4"/>
                </a:solidFill>
                <a:latin typeface="Calibri"/>
              </a:rPr>
              <a:t>Score Range</a:t>
            </a:r>
          </a:p>
        </p:txBody>
      </p:sp>
      <p:sp>
        <p:nvSpPr>
          <p:cNvPr id="18" name="TextBox 17"/>
          <p:cNvSpPr txBox="1"/>
          <p:nvPr/>
        </p:nvSpPr>
        <p:spPr>
          <a:xfrm>
            <a:off x="658368" y="4279392"/>
            <a:ext cx="2286000" cy="219456"/>
          </a:xfrm>
          <a:prstGeom prst="rect">
            <a:avLst/>
          </a:prstGeom>
          <a:noFill/>
        </p:spPr>
        <p:txBody>
          <a:bodyPr wrap="square">
            <a:spAutoFit/>
          </a:bodyPr>
          <a:lstStyle/>
          <a:p>
            <a:pPr algn="l"/>
            <a:r>
              <a:rPr sz="1100" b="1" i="0">
                <a:solidFill>
                  <a:srgbClr val="02C39A"/>
                </a:solidFill>
                <a:latin typeface="Calibri"/>
              </a:rPr>
              <a:t>0.8546 – 1.0000</a:t>
            </a:r>
          </a:p>
        </p:txBody>
      </p:sp>
      <p:sp>
        <p:nvSpPr>
          <p:cNvPr id="19" name="Rounded Rectangle 18"/>
          <p:cNvSpPr/>
          <p:nvPr/>
        </p:nvSpPr>
        <p:spPr>
          <a:xfrm>
            <a:off x="3200400" y="4041648"/>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4078224"/>
            <a:ext cx="1417320" cy="219456"/>
          </a:xfrm>
          <a:prstGeom prst="rect">
            <a:avLst/>
          </a:prstGeom>
          <a:noFill/>
        </p:spPr>
        <p:txBody>
          <a:bodyPr wrap="square">
            <a:spAutoFit/>
          </a:bodyPr>
          <a:lstStyle/>
          <a:p>
            <a:pPr algn="l"/>
            <a:r>
              <a:rPr sz="950" b="0" i="0">
                <a:solidFill>
                  <a:srgbClr val="8BA8C4"/>
                </a:solidFill>
                <a:latin typeface="Calibri"/>
              </a:rPr>
              <a:t>Mean Score</a:t>
            </a:r>
          </a:p>
        </p:txBody>
      </p:sp>
      <p:sp>
        <p:nvSpPr>
          <p:cNvPr id="21" name="TextBox 20"/>
          <p:cNvSpPr txBox="1"/>
          <p:nvPr/>
        </p:nvSpPr>
        <p:spPr>
          <a:xfrm>
            <a:off x="3291840" y="4279392"/>
            <a:ext cx="2286000" cy="219456"/>
          </a:xfrm>
          <a:prstGeom prst="rect">
            <a:avLst/>
          </a:prstGeom>
          <a:noFill/>
        </p:spPr>
        <p:txBody>
          <a:bodyPr wrap="square">
            <a:spAutoFit/>
          </a:bodyPr>
          <a:lstStyle/>
          <a:p>
            <a:pPr algn="l"/>
            <a:r>
              <a:rPr sz="1100" b="1" i="0">
                <a:solidFill>
                  <a:srgbClr val="F0C040"/>
                </a:solidFill>
                <a:latin typeface="Calibri"/>
              </a:rPr>
              <a:t>0.9044</a:t>
            </a:r>
          </a:p>
        </p:txBody>
      </p:sp>
      <p:sp>
        <p:nvSpPr>
          <p:cNvPr id="22" name="Rounded Rectangle 21"/>
          <p:cNvSpPr/>
          <p:nvPr/>
        </p:nvSpPr>
        <p:spPr>
          <a:xfrm>
            <a:off x="566928" y="4608576"/>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645152"/>
            <a:ext cx="1417320" cy="219456"/>
          </a:xfrm>
          <a:prstGeom prst="rect">
            <a:avLst/>
          </a:prstGeom>
          <a:noFill/>
        </p:spPr>
        <p:txBody>
          <a:bodyPr wrap="square">
            <a:spAutoFit/>
          </a:bodyPr>
          <a:lstStyle/>
          <a:p>
            <a:pPr algn="l"/>
            <a:r>
              <a:rPr sz="950" b="0" i="0">
                <a:solidFill>
                  <a:srgbClr val="8BA8C4"/>
                </a:solidFill>
                <a:latin typeface="Calibri"/>
              </a:rPr>
              <a:t>Top-5 Avg</a:t>
            </a:r>
          </a:p>
        </p:txBody>
      </p:sp>
      <p:sp>
        <p:nvSpPr>
          <p:cNvPr id="24" name="TextBox 23"/>
          <p:cNvSpPr txBox="1"/>
          <p:nvPr/>
        </p:nvSpPr>
        <p:spPr>
          <a:xfrm>
            <a:off x="658368" y="4846320"/>
            <a:ext cx="2286000" cy="219456"/>
          </a:xfrm>
          <a:prstGeom prst="rect">
            <a:avLst/>
          </a:prstGeom>
          <a:noFill/>
        </p:spPr>
        <p:txBody>
          <a:bodyPr wrap="square">
            <a:spAutoFit/>
          </a:bodyPr>
          <a:lstStyle/>
          <a:p>
            <a:pPr algn="l"/>
            <a:r>
              <a:rPr sz="1100" b="1" i="0">
                <a:solidFill>
                  <a:srgbClr val="02C39A"/>
                </a:solidFill>
                <a:latin typeface="Calibri"/>
              </a:rPr>
              <a:t>0.9998</a:t>
            </a:r>
          </a:p>
        </p:txBody>
      </p:sp>
      <p:sp>
        <p:nvSpPr>
          <p:cNvPr id="25" name="Rounded Rectangle 24"/>
          <p:cNvSpPr/>
          <p:nvPr/>
        </p:nvSpPr>
        <p:spPr>
          <a:xfrm>
            <a:off x="3200400" y="4608576"/>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0" y="4645152"/>
            <a:ext cx="1417320" cy="219456"/>
          </a:xfrm>
          <a:prstGeom prst="rect">
            <a:avLst/>
          </a:prstGeom>
          <a:noFill/>
        </p:spPr>
        <p:txBody>
          <a:bodyPr wrap="square">
            <a:spAutoFit/>
          </a:bodyPr>
          <a:lstStyle/>
          <a:p>
            <a:pPr algn="l"/>
            <a:r>
              <a:rPr sz="950" b="0" i="0">
                <a:solidFill>
                  <a:srgbClr val="8BA8C4"/>
                </a:solidFill>
                <a:latin typeface="Calibri"/>
              </a:rPr>
              <a:t>Monotone Check</a:t>
            </a:r>
          </a:p>
        </p:txBody>
      </p:sp>
      <p:sp>
        <p:nvSpPr>
          <p:cNvPr id="27" name="TextBox 26"/>
          <p:cNvSpPr txBox="1"/>
          <p:nvPr/>
        </p:nvSpPr>
        <p:spPr>
          <a:xfrm>
            <a:off x="3291840" y="4846320"/>
            <a:ext cx="2286000" cy="219456"/>
          </a:xfrm>
          <a:prstGeom prst="rect">
            <a:avLst/>
          </a:prstGeom>
          <a:noFill/>
        </p:spPr>
        <p:txBody>
          <a:bodyPr wrap="square">
            <a:spAutoFit/>
          </a:bodyPr>
          <a:lstStyle/>
          <a:p>
            <a:pPr algn="l"/>
            <a:r>
              <a:rPr sz="1100" b="1" i="0">
                <a:solidFill>
                  <a:srgbClr val="02C39A"/>
                </a:solidFill>
                <a:latin typeface="Calibri"/>
              </a:rPr>
              <a:t>✅ PASS</a:t>
            </a:r>
          </a:p>
        </p:txBody>
      </p:sp>
      <p:sp>
        <p:nvSpPr>
          <p:cNvPr id="28" name="Rounded Rectangle 27"/>
          <p:cNvSpPr/>
          <p:nvPr/>
        </p:nvSpPr>
        <p:spPr>
          <a:xfrm>
            <a:off x="566928" y="5175504"/>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212080"/>
            <a:ext cx="1417320" cy="219456"/>
          </a:xfrm>
          <a:prstGeom prst="rect">
            <a:avLst/>
          </a:prstGeom>
          <a:noFill/>
        </p:spPr>
        <p:txBody>
          <a:bodyPr wrap="square">
            <a:spAutoFit/>
          </a:bodyPr>
          <a:lstStyle/>
          <a:p>
            <a:pPr algn="l"/>
            <a:r>
              <a:rPr sz="950" b="0" i="0">
                <a:solidFill>
                  <a:srgbClr val="8BA8C4"/>
                </a:solidFill>
                <a:latin typeface="Calibri"/>
              </a:rPr>
              <a:t>Unique IDs</a:t>
            </a:r>
          </a:p>
        </p:txBody>
      </p:sp>
      <p:sp>
        <p:nvSpPr>
          <p:cNvPr id="30" name="TextBox 29"/>
          <p:cNvSpPr txBox="1"/>
          <p:nvPr/>
        </p:nvSpPr>
        <p:spPr>
          <a:xfrm>
            <a:off x="658368" y="5413248"/>
            <a:ext cx="2286000" cy="219456"/>
          </a:xfrm>
          <a:prstGeom prst="rect">
            <a:avLst/>
          </a:prstGeom>
          <a:noFill/>
        </p:spPr>
        <p:txBody>
          <a:bodyPr wrap="square">
            <a:spAutoFit/>
          </a:bodyPr>
          <a:lstStyle/>
          <a:p>
            <a:pPr algn="l"/>
            <a:r>
              <a:rPr sz="1100" b="1" i="0">
                <a:solidFill>
                  <a:srgbClr val="CADCFC"/>
                </a:solidFill>
                <a:latin typeface="Calibri"/>
              </a:rPr>
              <a:t>100 / 100</a:t>
            </a:r>
          </a:p>
        </p:txBody>
      </p:sp>
      <p:sp>
        <p:nvSpPr>
          <p:cNvPr id="31" name="Rounded Rectangle 30"/>
          <p:cNvSpPr/>
          <p:nvPr/>
        </p:nvSpPr>
        <p:spPr>
          <a:xfrm>
            <a:off x="3200400" y="5175504"/>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91840" y="5212080"/>
            <a:ext cx="1417320" cy="219456"/>
          </a:xfrm>
          <a:prstGeom prst="rect">
            <a:avLst/>
          </a:prstGeom>
          <a:noFill/>
        </p:spPr>
        <p:txBody>
          <a:bodyPr wrap="square">
            <a:spAutoFit/>
          </a:bodyPr>
          <a:lstStyle/>
          <a:p>
            <a:pPr algn="l"/>
            <a:r>
              <a:rPr sz="950" b="0" i="0">
                <a:solidFill>
                  <a:srgbClr val="8BA8C4"/>
                </a:solidFill>
                <a:latin typeface="Calibri"/>
              </a:rPr>
              <a:t>Unique Ranks</a:t>
            </a:r>
          </a:p>
        </p:txBody>
      </p:sp>
      <p:sp>
        <p:nvSpPr>
          <p:cNvPr id="33" name="TextBox 32"/>
          <p:cNvSpPr txBox="1"/>
          <p:nvPr/>
        </p:nvSpPr>
        <p:spPr>
          <a:xfrm>
            <a:off x="3291840" y="5413248"/>
            <a:ext cx="2286000" cy="219456"/>
          </a:xfrm>
          <a:prstGeom prst="rect">
            <a:avLst/>
          </a:prstGeom>
          <a:noFill/>
        </p:spPr>
        <p:txBody>
          <a:bodyPr wrap="square">
            <a:spAutoFit/>
          </a:bodyPr>
          <a:lstStyle/>
          <a:p>
            <a:pPr algn="l"/>
            <a:r>
              <a:rPr sz="1100" b="1" i="0">
                <a:solidFill>
                  <a:srgbClr val="CADCFC"/>
                </a:solidFill>
                <a:latin typeface="Calibri"/>
              </a:rPr>
              <a:t>100 / 100</a:t>
            </a:r>
          </a:p>
        </p:txBody>
      </p:sp>
      <p:sp>
        <p:nvSpPr>
          <p:cNvPr id="34" name="Rounded Rectangle 33"/>
          <p:cNvSpPr/>
          <p:nvPr/>
        </p:nvSpPr>
        <p:spPr>
          <a:xfrm>
            <a:off x="566928" y="5742431"/>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779007"/>
            <a:ext cx="1417320" cy="219456"/>
          </a:xfrm>
          <a:prstGeom prst="rect">
            <a:avLst/>
          </a:prstGeom>
          <a:noFill/>
        </p:spPr>
        <p:txBody>
          <a:bodyPr wrap="square">
            <a:spAutoFit/>
          </a:bodyPr>
          <a:lstStyle/>
          <a:p>
            <a:pPr algn="l"/>
            <a:r>
              <a:rPr sz="950" b="0" i="0">
                <a:solidFill>
                  <a:srgbClr val="8BA8C4"/>
                </a:solidFill>
                <a:latin typeface="Calibri"/>
              </a:rPr>
              <a:t>Honeypots (top-100)</a:t>
            </a:r>
          </a:p>
        </p:txBody>
      </p:sp>
      <p:sp>
        <p:nvSpPr>
          <p:cNvPr id="36" name="TextBox 35"/>
          <p:cNvSpPr txBox="1"/>
          <p:nvPr/>
        </p:nvSpPr>
        <p:spPr>
          <a:xfrm>
            <a:off x="658368" y="5980175"/>
            <a:ext cx="2286000" cy="219456"/>
          </a:xfrm>
          <a:prstGeom prst="rect">
            <a:avLst/>
          </a:prstGeom>
          <a:noFill/>
        </p:spPr>
        <p:txBody>
          <a:bodyPr wrap="square">
            <a:spAutoFit/>
          </a:bodyPr>
          <a:lstStyle/>
          <a:p>
            <a:pPr algn="l"/>
            <a:r>
              <a:rPr sz="1100" b="1" i="0">
                <a:solidFill>
                  <a:srgbClr val="F96167"/>
                </a:solidFill>
                <a:latin typeface="Calibri"/>
              </a:rPr>
              <a:t>0</a:t>
            </a:r>
          </a:p>
        </p:txBody>
      </p:sp>
      <p:sp>
        <p:nvSpPr>
          <p:cNvPr id="37" name="Rounded Rectangle 36"/>
          <p:cNvSpPr/>
          <p:nvPr/>
        </p:nvSpPr>
        <p:spPr>
          <a:xfrm>
            <a:off x="3200400" y="5742431"/>
            <a:ext cx="2468880" cy="47548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0" y="5779007"/>
            <a:ext cx="1417320" cy="219456"/>
          </a:xfrm>
          <a:prstGeom prst="rect">
            <a:avLst/>
          </a:prstGeom>
          <a:noFill/>
        </p:spPr>
        <p:txBody>
          <a:bodyPr wrap="square">
            <a:spAutoFit/>
          </a:bodyPr>
          <a:lstStyle/>
          <a:p>
            <a:pPr algn="l"/>
            <a:r>
              <a:rPr sz="950" b="0" i="0">
                <a:solidFill>
                  <a:srgbClr val="8BA8C4"/>
                </a:solidFill>
                <a:latin typeface="Calibri"/>
              </a:rPr>
              <a:t>Prod. ML (top-100)</a:t>
            </a:r>
          </a:p>
        </p:txBody>
      </p:sp>
      <p:sp>
        <p:nvSpPr>
          <p:cNvPr id="39" name="TextBox 38"/>
          <p:cNvSpPr txBox="1"/>
          <p:nvPr/>
        </p:nvSpPr>
        <p:spPr>
          <a:xfrm>
            <a:off x="3291840" y="5980175"/>
            <a:ext cx="2286000" cy="219456"/>
          </a:xfrm>
          <a:prstGeom prst="rect">
            <a:avLst/>
          </a:prstGeom>
          <a:noFill/>
        </p:spPr>
        <p:txBody>
          <a:bodyPr wrap="square">
            <a:spAutoFit/>
          </a:bodyPr>
          <a:lstStyle/>
          <a:p>
            <a:pPr algn="l"/>
            <a:r>
              <a:rPr sz="1100" b="1" i="0">
                <a:solidFill>
                  <a:srgbClr val="02C39A"/>
                </a:solidFill>
                <a:latin typeface="Calibri"/>
              </a:rPr>
              <a:t>94 / 100</a:t>
            </a:r>
          </a:p>
        </p:txBody>
      </p:sp>
      <p:sp>
        <p:nvSpPr>
          <p:cNvPr id="40" name="Rounded Rectangle 39"/>
          <p:cNvSpPr/>
          <p:nvPr/>
        </p:nvSpPr>
        <p:spPr>
          <a:xfrm>
            <a:off x="5989320" y="1353312"/>
            <a:ext cx="5897880" cy="516636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44768" y="1463040"/>
            <a:ext cx="5623560" cy="411480"/>
          </a:xfrm>
          <a:prstGeom prst="rect">
            <a:avLst/>
          </a:prstGeom>
          <a:noFill/>
        </p:spPr>
        <p:txBody>
          <a:bodyPr wrap="square">
            <a:spAutoFit/>
          </a:bodyPr>
          <a:lstStyle/>
          <a:p>
            <a:pPr algn="l"/>
            <a:r>
              <a:rPr sz="1400" b="1" i="0">
                <a:solidFill>
                  <a:srgbClr val="F0C040"/>
                </a:solidFill>
                <a:latin typeface="Calibri"/>
              </a:rPr>
              <a:t>📐  Metric Definitions &amp; Formula</a:t>
            </a:r>
          </a:p>
        </p:txBody>
      </p:sp>
      <p:sp>
        <p:nvSpPr>
          <p:cNvPr id="42" name="Rounded Rectangle 41"/>
          <p:cNvSpPr/>
          <p:nvPr/>
        </p:nvSpPr>
        <p:spPr>
          <a:xfrm>
            <a:off x="6108192" y="1938528"/>
            <a:ext cx="5650992" cy="111556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36208" y="2011680"/>
            <a:ext cx="1371600" cy="457200"/>
          </a:xfrm>
          <a:prstGeom prst="rect">
            <a:avLst/>
          </a:prstGeom>
          <a:noFill/>
        </p:spPr>
        <p:txBody>
          <a:bodyPr wrap="square">
            <a:spAutoFit/>
          </a:bodyPr>
          <a:lstStyle/>
          <a:p>
            <a:pPr algn="l"/>
            <a:r>
              <a:rPr sz="1200" b="1" i="0">
                <a:solidFill>
                  <a:srgbClr val="02C39A"/>
                </a:solidFill>
                <a:latin typeface="Calibri"/>
              </a:rPr>
              <a:t>NDCG@K</a:t>
            </a:r>
          </a:p>
        </p:txBody>
      </p:sp>
      <p:sp>
        <p:nvSpPr>
          <p:cNvPr id="44" name="TextBox 43"/>
          <p:cNvSpPr txBox="1"/>
          <p:nvPr/>
        </p:nvSpPr>
        <p:spPr>
          <a:xfrm>
            <a:off x="7635240" y="2011680"/>
            <a:ext cx="4005072" cy="987552"/>
          </a:xfrm>
          <a:prstGeom prst="rect">
            <a:avLst/>
          </a:prstGeom>
          <a:noFill/>
        </p:spPr>
        <p:txBody>
          <a:bodyPr wrap="square">
            <a:spAutoFit/>
          </a:bodyPr>
          <a:lstStyle/>
          <a:p>
            <a:pPr algn="l"/>
            <a:r>
              <a:rPr sz="1050" b="0" i="0">
                <a:solidFill>
                  <a:srgbClr val="F0F4F8"/>
                </a:solidFill>
                <a:latin typeface="Calibri"/>
              </a:rPr>
              <a:t>Normalised Discounted Cumulative Gain at rank K.
Measures quality of ordering: correct candidates at top positions earn more.
NDCG@10 weight: 50% — the most important metric.</a:t>
            </a:r>
          </a:p>
        </p:txBody>
      </p:sp>
      <p:sp>
        <p:nvSpPr>
          <p:cNvPr id="45" name="Rounded Rectangle 44"/>
          <p:cNvSpPr/>
          <p:nvPr/>
        </p:nvSpPr>
        <p:spPr>
          <a:xfrm>
            <a:off x="6108192" y="3108960"/>
            <a:ext cx="5650992" cy="111556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36208" y="3182112"/>
            <a:ext cx="1371600" cy="457200"/>
          </a:xfrm>
          <a:prstGeom prst="rect">
            <a:avLst/>
          </a:prstGeom>
          <a:noFill/>
        </p:spPr>
        <p:txBody>
          <a:bodyPr wrap="square">
            <a:spAutoFit/>
          </a:bodyPr>
          <a:lstStyle/>
          <a:p>
            <a:pPr algn="l"/>
            <a:r>
              <a:rPr sz="1200" b="1" i="0">
                <a:solidFill>
                  <a:srgbClr val="F0C040"/>
                </a:solidFill>
                <a:latin typeface="Calibri"/>
              </a:rPr>
              <a:t>MAP</a:t>
            </a:r>
          </a:p>
        </p:txBody>
      </p:sp>
      <p:sp>
        <p:nvSpPr>
          <p:cNvPr id="47" name="TextBox 46"/>
          <p:cNvSpPr txBox="1"/>
          <p:nvPr/>
        </p:nvSpPr>
        <p:spPr>
          <a:xfrm>
            <a:off x="7635240" y="3182112"/>
            <a:ext cx="4005072" cy="987552"/>
          </a:xfrm>
          <a:prstGeom prst="rect">
            <a:avLst/>
          </a:prstGeom>
          <a:noFill/>
        </p:spPr>
        <p:txBody>
          <a:bodyPr wrap="square">
            <a:spAutoFit/>
          </a:bodyPr>
          <a:lstStyle/>
          <a:p>
            <a:pPr algn="l"/>
            <a:r>
              <a:rPr sz="1050" b="0" i="0">
                <a:solidFill>
                  <a:srgbClr val="F0F4F8"/>
                </a:solidFill>
                <a:latin typeface="Calibri"/>
              </a:rPr>
              <a:t>Mean Average Precision — average of precision scores after each
relevant candidate is retrieved. Rewards consistent precision.
MAP weight: 15%.</a:t>
            </a:r>
          </a:p>
        </p:txBody>
      </p:sp>
      <p:sp>
        <p:nvSpPr>
          <p:cNvPr id="48" name="Rounded Rectangle 47"/>
          <p:cNvSpPr/>
          <p:nvPr/>
        </p:nvSpPr>
        <p:spPr>
          <a:xfrm>
            <a:off x="6108192" y="4279392"/>
            <a:ext cx="5650992" cy="111556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6208" y="4352544"/>
            <a:ext cx="1371600" cy="457200"/>
          </a:xfrm>
          <a:prstGeom prst="rect">
            <a:avLst/>
          </a:prstGeom>
          <a:noFill/>
        </p:spPr>
        <p:txBody>
          <a:bodyPr wrap="square">
            <a:spAutoFit/>
          </a:bodyPr>
          <a:lstStyle/>
          <a:p>
            <a:pPr algn="l"/>
            <a:r>
              <a:rPr sz="1200" b="1" i="0">
                <a:solidFill>
                  <a:srgbClr val="CADCFC"/>
                </a:solidFill>
                <a:latin typeface="Calibri"/>
              </a:rPr>
              <a:t>P@10</a:t>
            </a:r>
          </a:p>
        </p:txBody>
      </p:sp>
      <p:sp>
        <p:nvSpPr>
          <p:cNvPr id="50" name="TextBox 49"/>
          <p:cNvSpPr txBox="1"/>
          <p:nvPr/>
        </p:nvSpPr>
        <p:spPr>
          <a:xfrm>
            <a:off x="7635240" y="4352544"/>
            <a:ext cx="4005072" cy="987552"/>
          </a:xfrm>
          <a:prstGeom prst="rect">
            <a:avLst/>
          </a:prstGeom>
          <a:noFill/>
        </p:spPr>
        <p:txBody>
          <a:bodyPr wrap="square">
            <a:spAutoFit/>
          </a:bodyPr>
          <a:lstStyle/>
          <a:p>
            <a:pPr algn="l"/>
            <a:r>
              <a:rPr sz="1050" b="0" i="0">
                <a:solidFill>
                  <a:srgbClr val="F0F4F8"/>
                </a:solidFill>
                <a:latin typeface="Calibri"/>
              </a:rPr>
              <a:t>Precision at 10 — fraction of top-10 candidates that are 'relevant'
(tier 3+). Binary relevance check. Weight: 5%.</a:t>
            </a:r>
          </a:p>
        </p:txBody>
      </p:sp>
      <p:sp>
        <p:nvSpPr>
          <p:cNvPr id="51" name="Rounded Rectangle 50"/>
          <p:cNvSpPr/>
          <p:nvPr/>
        </p:nvSpPr>
        <p:spPr>
          <a:xfrm>
            <a:off x="6108192" y="5449824"/>
            <a:ext cx="5650992" cy="1115568"/>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36208" y="5522976"/>
            <a:ext cx="1371600" cy="457200"/>
          </a:xfrm>
          <a:prstGeom prst="rect">
            <a:avLst/>
          </a:prstGeom>
          <a:noFill/>
        </p:spPr>
        <p:txBody>
          <a:bodyPr wrap="square">
            <a:spAutoFit/>
          </a:bodyPr>
          <a:lstStyle/>
          <a:p>
            <a:pPr algn="l"/>
            <a:r>
              <a:rPr sz="1200" b="1" i="0">
                <a:solidFill>
                  <a:srgbClr val="F96167"/>
                </a:solidFill>
                <a:latin typeface="Calibri"/>
              </a:rPr>
              <a:t>Composite
Formula</a:t>
            </a:r>
          </a:p>
        </p:txBody>
      </p:sp>
      <p:sp>
        <p:nvSpPr>
          <p:cNvPr id="53" name="TextBox 52"/>
          <p:cNvSpPr txBox="1"/>
          <p:nvPr/>
        </p:nvSpPr>
        <p:spPr>
          <a:xfrm>
            <a:off x="7635240" y="5522976"/>
            <a:ext cx="4005072" cy="987552"/>
          </a:xfrm>
          <a:prstGeom prst="rect">
            <a:avLst/>
          </a:prstGeom>
          <a:noFill/>
        </p:spPr>
        <p:txBody>
          <a:bodyPr wrap="square">
            <a:spAutoFit/>
          </a:bodyPr>
          <a:lstStyle/>
          <a:p>
            <a:pPr algn="l"/>
            <a:r>
              <a:rPr sz="1050" b="0" i="0">
                <a:solidFill>
                  <a:srgbClr val="F0F4F8"/>
                </a:solidFill>
                <a:latin typeface="Calibri"/>
              </a:rPr>
              <a:t>0.50 × NDCG@10 + 0.30 × NDCG@50 + 0.15 × MAP + 0.05 × P@10
All implemented in src/evaluation.py. Proxy evaluation on our own scores
shows maximum values — true scores computed on hidden ground truth by judges.</a:t>
            </a:r>
          </a:p>
        </p:txBody>
      </p:sp>
      <p:sp>
        <p:nvSpPr>
          <p:cNvPr id="54" name="TextBox 53"/>
          <p:cNvSpPr txBox="1"/>
          <p:nvPr/>
        </p:nvSpPr>
        <p:spPr>
          <a:xfrm>
            <a:off x="6108192" y="5806440"/>
            <a:ext cx="5715000" cy="658368"/>
          </a:xfrm>
          <a:prstGeom prst="rect">
            <a:avLst/>
          </a:prstGeom>
          <a:noFill/>
        </p:spPr>
        <p:txBody>
          <a:bodyPr wrap="square">
            <a:spAutoFit/>
          </a:bodyPr>
          <a:lstStyle/>
          <a:p>
            <a:pPr algn="l"/>
            <a:r>
              <a:rPr sz="1000" b="0" i="1">
                <a:solidFill>
                  <a:srgbClr val="8BA8C4"/>
                </a:solidFill>
                <a:latin typeface="Calibri"/>
              </a:rPr>
              <a:t>Note: Self-evaluation uses score binning as relevance proxy (Grade 0–3).
Official scores computed once by judges on hidden ground truth after submission close.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Technology Stack</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Every technology used in the actual submission — no placeholders</a:t>
            </a:r>
          </a:p>
        </p:txBody>
      </p:sp>
      <p:sp>
        <p:nvSpPr>
          <p:cNvPr id="4" name="Rounded Rectangle 3"/>
          <p:cNvSpPr/>
          <p:nvPr/>
        </p:nvSpPr>
        <p:spPr>
          <a:xfrm>
            <a:off x="320040" y="1325880"/>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93191" y="1408176"/>
            <a:ext cx="438912" cy="438912"/>
          </a:xfrm>
          <a:prstGeom prst="ellipse">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 y="1435607"/>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7" name="TextBox 6"/>
          <p:cNvSpPr txBox="1"/>
          <p:nvPr/>
        </p:nvSpPr>
        <p:spPr>
          <a:xfrm>
            <a:off x="886968" y="1417320"/>
            <a:ext cx="2011680" cy="320040"/>
          </a:xfrm>
          <a:prstGeom prst="rect">
            <a:avLst/>
          </a:prstGeom>
          <a:noFill/>
        </p:spPr>
        <p:txBody>
          <a:bodyPr wrap="square">
            <a:spAutoFit/>
          </a:bodyPr>
          <a:lstStyle/>
          <a:p>
            <a:pPr algn="l"/>
            <a:r>
              <a:rPr sz="1350" b="1" i="0">
                <a:solidFill>
                  <a:srgbClr val="F0C040"/>
                </a:solidFill>
                <a:latin typeface="Calibri"/>
              </a:rPr>
              <a:t>Python 3.12</a:t>
            </a:r>
          </a:p>
        </p:txBody>
      </p:sp>
      <p:sp>
        <p:nvSpPr>
          <p:cNvPr id="8" name="TextBox 7"/>
          <p:cNvSpPr txBox="1"/>
          <p:nvPr/>
        </p:nvSpPr>
        <p:spPr>
          <a:xfrm>
            <a:off x="886968" y="1709928"/>
            <a:ext cx="2999232" cy="256032"/>
          </a:xfrm>
          <a:prstGeom prst="rect">
            <a:avLst/>
          </a:prstGeom>
          <a:noFill/>
        </p:spPr>
        <p:txBody>
          <a:bodyPr wrap="square">
            <a:spAutoFit/>
          </a:bodyPr>
          <a:lstStyle/>
          <a:p>
            <a:pPr algn="l"/>
            <a:r>
              <a:rPr sz="1050" b="1" i="0">
                <a:solidFill>
                  <a:srgbClr val="8BA8C4"/>
                </a:solidFill>
                <a:latin typeface="Calibri"/>
              </a:rPr>
              <a:t>Core language</a:t>
            </a:r>
          </a:p>
        </p:txBody>
      </p:sp>
      <p:sp>
        <p:nvSpPr>
          <p:cNvPr id="9" name="TextBox 8"/>
          <p:cNvSpPr txBox="1"/>
          <p:nvPr/>
        </p:nvSpPr>
        <p:spPr>
          <a:xfrm>
            <a:off x="457200" y="2039112"/>
            <a:ext cx="3456432" cy="896112"/>
          </a:xfrm>
          <a:prstGeom prst="rect">
            <a:avLst/>
          </a:prstGeom>
          <a:noFill/>
        </p:spPr>
        <p:txBody>
          <a:bodyPr wrap="square">
            <a:spAutoFit/>
          </a:bodyPr>
          <a:lstStyle/>
          <a:p>
            <a:pPr algn="l"/>
            <a:r>
              <a:rPr sz="1050" b="0" i="0">
                <a:solidFill>
                  <a:srgbClr val="F0F4F8"/>
                </a:solidFill>
                <a:latin typeface="Calibri"/>
              </a:rPr>
              <a:t>Pipeline orchestration, all modules, CLI entry point (app.py). 2,300+ lines of production-grade code across 12 modules.</a:t>
            </a:r>
          </a:p>
        </p:txBody>
      </p:sp>
      <p:sp>
        <p:nvSpPr>
          <p:cNvPr id="10" name="Rounded Rectangle 9"/>
          <p:cNvSpPr/>
          <p:nvPr/>
        </p:nvSpPr>
        <p:spPr>
          <a:xfrm>
            <a:off x="4251959" y="1325880"/>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25112" y="1408176"/>
            <a:ext cx="438912" cy="43891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9975" y="1435607"/>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13" name="TextBox 12"/>
          <p:cNvSpPr txBox="1"/>
          <p:nvPr/>
        </p:nvSpPr>
        <p:spPr>
          <a:xfrm>
            <a:off x="4818888" y="1417320"/>
            <a:ext cx="2011680" cy="320040"/>
          </a:xfrm>
          <a:prstGeom prst="rect">
            <a:avLst/>
          </a:prstGeom>
          <a:noFill/>
        </p:spPr>
        <p:txBody>
          <a:bodyPr wrap="square">
            <a:spAutoFit/>
          </a:bodyPr>
          <a:lstStyle/>
          <a:p>
            <a:pPr algn="l"/>
            <a:r>
              <a:rPr sz="1350" b="1" i="0">
                <a:solidFill>
                  <a:srgbClr val="02C39A"/>
                </a:solidFill>
                <a:latin typeface="Calibri"/>
              </a:rPr>
              <a:t>Pandas 3.0</a:t>
            </a:r>
          </a:p>
        </p:txBody>
      </p:sp>
      <p:sp>
        <p:nvSpPr>
          <p:cNvPr id="14" name="TextBox 13"/>
          <p:cNvSpPr txBox="1"/>
          <p:nvPr/>
        </p:nvSpPr>
        <p:spPr>
          <a:xfrm>
            <a:off x="4818888" y="1709928"/>
            <a:ext cx="2999232" cy="256032"/>
          </a:xfrm>
          <a:prstGeom prst="rect">
            <a:avLst/>
          </a:prstGeom>
          <a:noFill/>
        </p:spPr>
        <p:txBody>
          <a:bodyPr wrap="square">
            <a:spAutoFit/>
          </a:bodyPr>
          <a:lstStyle/>
          <a:p>
            <a:pPr algn="l"/>
            <a:r>
              <a:rPr sz="1050" b="1" i="0">
                <a:solidFill>
                  <a:srgbClr val="8BA8C4"/>
                </a:solidFill>
                <a:latin typeface="Calibri"/>
              </a:rPr>
              <a:t>Data processing</a:t>
            </a:r>
          </a:p>
        </p:txBody>
      </p:sp>
      <p:sp>
        <p:nvSpPr>
          <p:cNvPr id="15" name="TextBox 14"/>
          <p:cNvSpPr txBox="1"/>
          <p:nvPr/>
        </p:nvSpPr>
        <p:spPr>
          <a:xfrm>
            <a:off x="4389120" y="2039112"/>
            <a:ext cx="3456432" cy="896112"/>
          </a:xfrm>
          <a:prstGeom prst="rect">
            <a:avLst/>
          </a:prstGeom>
          <a:noFill/>
        </p:spPr>
        <p:txBody>
          <a:bodyPr wrap="square">
            <a:spAutoFit/>
          </a:bodyPr>
          <a:lstStyle/>
          <a:p>
            <a:pPr algn="l"/>
            <a:r>
              <a:rPr sz="1050" b="0" i="0">
                <a:solidFill>
                  <a:srgbClr val="F0F4F8"/>
                </a:solidFill>
                <a:latin typeface="Calibri"/>
              </a:rPr>
              <a:t>Flat DataFrame construction from nested JSONL for analysis. Used in data_loader.py for batch processing.</a:t>
            </a:r>
          </a:p>
        </p:txBody>
      </p:sp>
      <p:sp>
        <p:nvSpPr>
          <p:cNvPr id="16" name="Rounded Rectangle 15"/>
          <p:cNvSpPr/>
          <p:nvPr/>
        </p:nvSpPr>
        <p:spPr>
          <a:xfrm>
            <a:off x="8183879" y="1325880"/>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57031" y="1408176"/>
            <a:ext cx="438912" cy="438912"/>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435607"/>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19" name="TextBox 18"/>
          <p:cNvSpPr txBox="1"/>
          <p:nvPr/>
        </p:nvSpPr>
        <p:spPr>
          <a:xfrm>
            <a:off x="8750807" y="1417320"/>
            <a:ext cx="2011680" cy="320040"/>
          </a:xfrm>
          <a:prstGeom prst="rect">
            <a:avLst/>
          </a:prstGeom>
          <a:noFill/>
        </p:spPr>
        <p:txBody>
          <a:bodyPr wrap="square">
            <a:spAutoFit/>
          </a:bodyPr>
          <a:lstStyle/>
          <a:p>
            <a:pPr algn="l"/>
            <a:r>
              <a:rPr sz="1350" b="1" i="0">
                <a:solidFill>
                  <a:srgbClr val="CADCFC"/>
                </a:solidFill>
                <a:latin typeface="Calibri"/>
              </a:rPr>
              <a:t>Scikit-Learn</a:t>
            </a:r>
          </a:p>
        </p:txBody>
      </p:sp>
      <p:sp>
        <p:nvSpPr>
          <p:cNvPr id="20" name="TextBox 19"/>
          <p:cNvSpPr txBox="1"/>
          <p:nvPr/>
        </p:nvSpPr>
        <p:spPr>
          <a:xfrm>
            <a:off x="8750807" y="1709928"/>
            <a:ext cx="2999232" cy="256032"/>
          </a:xfrm>
          <a:prstGeom prst="rect">
            <a:avLst/>
          </a:prstGeom>
          <a:noFill/>
        </p:spPr>
        <p:txBody>
          <a:bodyPr wrap="square">
            <a:spAutoFit/>
          </a:bodyPr>
          <a:lstStyle/>
          <a:p>
            <a:pPr algn="l"/>
            <a:r>
              <a:rPr sz="1050" b="1" i="0">
                <a:solidFill>
                  <a:srgbClr val="8BA8C4"/>
                </a:solidFill>
                <a:latin typeface="Calibri"/>
              </a:rPr>
              <a:t>ML &amp; retrieval</a:t>
            </a:r>
          </a:p>
        </p:txBody>
      </p:sp>
      <p:sp>
        <p:nvSpPr>
          <p:cNvPr id="21" name="TextBox 20"/>
          <p:cNvSpPr txBox="1"/>
          <p:nvPr/>
        </p:nvSpPr>
        <p:spPr>
          <a:xfrm>
            <a:off x="8321040" y="2039112"/>
            <a:ext cx="3456432" cy="896112"/>
          </a:xfrm>
          <a:prstGeom prst="rect">
            <a:avLst/>
          </a:prstGeom>
          <a:noFill/>
        </p:spPr>
        <p:txBody>
          <a:bodyPr wrap="square">
            <a:spAutoFit/>
          </a:bodyPr>
          <a:lstStyle/>
          <a:p>
            <a:pPr algn="l"/>
            <a:r>
              <a:rPr sz="1050" b="0" i="0">
                <a:solidFill>
                  <a:srgbClr val="F0F4F8"/>
                </a:solidFill>
                <a:latin typeface="Calibri"/>
              </a:rPr>
              <a:t>TfidfVectorizer (bigram, sublinear TF, vocab 19,728) + cosine_similarity for candidate-JD similarity scoring.</a:t>
            </a:r>
          </a:p>
        </p:txBody>
      </p:sp>
      <p:sp>
        <p:nvSpPr>
          <p:cNvPr id="22" name="Rounded Rectangle 21"/>
          <p:cNvSpPr/>
          <p:nvPr/>
        </p:nvSpPr>
        <p:spPr>
          <a:xfrm>
            <a:off x="320040" y="3136391"/>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93191" y="3218687"/>
            <a:ext cx="438912" cy="43891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 y="3246120"/>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25" name="TextBox 24"/>
          <p:cNvSpPr txBox="1"/>
          <p:nvPr/>
        </p:nvSpPr>
        <p:spPr>
          <a:xfrm>
            <a:off x="886968" y="3227832"/>
            <a:ext cx="2011680" cy="320040"/>
          </a:xfrm>
          <a:prstGeom prst="rect">
            <a:avLst/>
          </a:prstGeom>
          <a:noFill/>
        </p:spPr>
        <p:txBody>
          <a:bodyPr wrap="square">
            <a:spAutoFit/>
          </a:bodyPr>
          <a:lstStyle/>
          <a:p>
            <a:pPr algn="l"/>
            <a:r>
              <a:rPr sz="1350" b="1" i="0">
                <a:solidFill>
                  <a:srgbClr val="F96167"/>
                </a:solidFill>
                <a:latin typeface="Calibri"/>
              </a:rPr>
              <a:t>NumPy</a:t>
            </a:r>
          </a:p>
        </p:txBody>
      </p:sp>
      <p:sp>
        <p:nvSpPr>
          <p:cNvPr id="26" name="TextBox 25"/>
          <p:cNvSpPr txBox="1"/>
          <p:nvPr/>
        </p:nvSpPr>
        <p:spPr>
          <a:xfrm>
            <a:off x="886968" y="3520439"/>
            <a:ext cx="2999232" cy="256032"/>
          </a:xfrm>
          <a:prstGeom prst="rect">
            <a:avLst/>
          </a:prstGeom>
          <a:noFill/>
        </p:spPr>
        <p:txBody>
          <a:bodyPr wrap="square">
            <a:spAutoFit/>
          </a:bodyPr>
          <a:lstStyle/>
          <a:p>
            <a:pPr algn="l"/>
            <a:r>
              <a:rPr sz="1050" b="1" i="0">
                <a:solidFill>
                  <a:srgbClr val="8BA8C4"/>
                </a:solidFill>
                <a:latin typeface="Calibri"/>
              </a:rPr>
              <a:t>Vector operations</a:t>
            </a:r>
          </a:p>
        </p:txBody>
      </p:sp>
      <p:sp>
        <p:nvSpPr>
          <p:cNvPr id="27" name="TextBox 26"/>
          <p:cNvSpPr txBox="1"/>
          <p:nvPr/>
        </p:nvSpPr>
        <p:spPr>
          <a:xfrm>
            <a:off x="457200" y="3849624"/>
            <a:ext cx="3456432" cy="896112"/>
          </a:xfrm>
          <a:prstGeom prst="rect">
            <a:avLst/>
          </a:prstGeom>
          <a:noFill/>
        </p:spPr>
        <p:txBody>
          <a:bodyPr wrap="square">
            <a:spAutoFit/>
          </a:bodyPr>
          <a:lstStyle/>
          <a:p>
            <a:pPr algn="l"/>
            <a:r>
              <a:rPr sz="1050" b="0" i="0">
                <a:solidFill>
                  <a:srgbClr val="F0F4F8"/>
                </a:solidFill>
                <a:latin typeface="Calibri"/>
              </a:rPr>
              <a:t>Top-K argpartition on similarity arrays, score normalisation, matrix slicing for efficient retrieval.</a:t>
            </a:r>
          </a:p>
        </p:txBody>
      </p:sp>
      <p:sp>
        <p:nvSpPr>
          <p:cNvPr id="28" name="Rounded Rectangle 27"/>
          <p:cNvSpPr/>
          <p:nvPr/>
        </p:nvSpPr>
        <p:spPr>
          <a:xfrm>
            <a:off x="4251959" y="3136391"/>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325112" y="3218687"/>
            <a:ext cx="438912" cy="438912"/>
          </a:xfrm>
          <a:prstGeom prst="ellipse">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9975" y="3246120"/>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31" name="TextBox 30"/>
          <p:cNvSpPr txBox="1"/>
          <p:nvPr/>
        </p:nvSpPr>
        <p:spPr>
          <a:xfrm>
            <a:off x="4818888" y="3227832"/>
            <a:ext cx="2011680" cy="320040"/>
          </a:xfrm>
          <a:prstGeom prst="rect">
            <a:avLst/>
          </a:prstGeom>
          <a:noFill/>
        </p:spPr>
        <p:txBody>
          <a:bodyPr wrap="square">
            <a:spAutoFit/>
          </a:bodyPr>
          <a:lstStyle/>
          <a:p>
            <a:pPr algn="l"/>
            <a:r>
              <a:rPr sz="1350" b="1" i="0">
                <a:solidFill>
                  <a:srgbClr val="F0C040"/>
                </a:solidFill>
                <a:latin typeface="Calibri"/>
              </a:rPr>
              <a:t>FAISS (ready)</a:t>
            </a:r>
          </a:p>
        </p:txBody>
      </p:sp>
      <p:sp>
        <p:nvSpPr>
          <p:cNvPr id="32" name="TextBox 31"/>
          <p:cNvSpPr txBox="1"/>
          <p:nvPr/>
        </p:nvSpPr>
        <p:spPr>
          <a:xfrm>
            <a:off x="4818888" y="3520439"/>
            <a:ext cx="2999232" cy="256032"/>
          </a:xfrm>
          <a:prstGeom prst="rect">
            <a:avLst/>
          </a:prstGeom>
          <a:noFill/>
        </p:spPr>
        <p:txBody>
          <a:bodyPr wrap="square">
            <a:spAutoFit/>
          </a:bodyPr>
          <a:lstStyle/>
          <a:p>
            <a:pPr algn="l"/>
            <a:r>
              <a:rPr sz="1050" b="1" i="0">
                <a:solidFill>
                  <a:srgbClr val="8BA8C4"/>
                </a:solidFill>
                <a:latin typeface="Calibri"/>
              </a:rPr>
              <a:t>ANN search</a:t>
            </a:r>
          </a:p>
        </p:txBody>
      </p:sp>
      <p:sp>
        <p:nvSpPr>
          <p:cNvPr id="33" name="TextBox 32"/>
          <p:cNvSpPr txBox="1"/>
          <p:nvPr/>
        </p:nvSpPr>
        <p:spPr>
          <a:xfrm>
            <a:off x="4389120" y="3849624"/>
            <a:ext cx="3456432" cy="896112"/>
          </a:xfrm>
          <a:prstGeom prst="rect">
            <a:avLst/>
          </a:prstGeom>
          <a:noFill/>
        </p:spPr>
        <p:txBody>
          <a:bodyPr wrap="square">
            <a:spAutoFit/>
          </a:bodyPr>
          <a:lstStyle/>
          <a:p>
            <a:pPr algn="l"/>
            <a:r>
              <a:rPr sz="1050" b="0" i="0">
                <a:solidFill>
                  <a:srgbClr val="F0F4F8"/>
                </a:solidFill>
                <a:latin typeface="Calibri"/>
              </a:rPr>
              <a:t>FaissRetriever class implemented in src/retrieval.py — IVFFlat index, L2 normalisation, 32-probe search. One-line swap.</a:t>
            </a:r>
          </a:p>
        </p:txBody>
      </p:sp>
      <p:sp>
        <p:nvSpPr>
          <p:cNvPr id="34" name="Rounded Rectangle 33"/>
          <p:cNvSpPr/>
          <p:nvPr/>
        </p:nvSpPr>
        <p:spPr>
          <a:xfrm>
            <a:off x="8183879" y="3136391"/>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57031" y="3218687"/>
            <a:ext cx="438912" cy="43891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1896" y="3246120"/>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37" name="TextBox 36"/>
          <p:cNvSpPr txBox="1"/>
          <p:nvPr/>
        </p:nvSpPr>
        <p:spPr>
          <a:xfrm>
            <a:off x="8750807" y="3227832"/>
            <a:ext cx="2011680" cy="320040"/>
          </a:xfrm>
          <a:prstGeom prst="rect">
            <a:avLst/>
          </a:prstGeom>
          <a:noFill/>
        </p:spPr>
        <p:txBody>
          <a:bodyPr wrap="square">
            <a:spAutoFit/>
          </a:bodyPr>
          <a:lstStyle/>
          <a:p>
            <a:pPr algn="l"/>
            <a:r>
              <a:rPr sz="1350" b="1" i="0">
                <a:solidFill>
                  <a:srgbClr val="02C39A"/>
                </a:solidFill>
                <a:latin typeface="Calibri"/>
              </a:rPr>
              <a:t>Sentence-Trans.</a:t>
            </a:r>
          </a:p>
        </p:txBody>
      </p:sp>
      <p:sp>
        <p:nvSpPr>
          <p:cNvPr id="38" name="TextBox 37"/>
          <p:cNvSpPr txBox="1"/>
          <p:nvPr/>
        </p:nvSpPr>
        <p:spPr>
          <a:xfrm>
            <a:off x="8750807" y="3520439"/>
            <a:ext cx="2999232" cy="256032"/>
          </a:xfrm>
          <a:prstGeom prst="rect">
            <a:avLst/>
          </a:prstGeom>
          <a:noFill/>
        </p:spPr>
        <p:txBody>
          <a:bodyPr wrap="square">
            <a:spAutoFit/>
          </a:bodyPr>
          <a:lstStyle/>
          <a:p>
            <a:pPr algn="l"/>
            <a:r>
              <a:rPr sz="1050" b="1" i="0">
                <a:solidFill>
                  <a:srgbClr val="8BA8C4"/>
                </a:solidFill>
                <a:latin typeface="Calibri"/>
              </a:rPr>
              <a:t>Dense embeddings</a:t>
            </a:r>
          </a:p>
        </p:txBody>
      </p:sp>
      <p:sp>
        <p:nvSpPr>
          <p:cNvPr id="39" name="TextBox 38"/>
          <p:cNvSpPr txBox="1"/>
          <p:nvPr/>
        </p:nvSpPr>
        <p:spPr>
          <a:xfrm>
            <a:off x="8321040" y="3849624"/>
            <a:ext cx="3456432" cy="896112"/>
          </a:xfrm>
          <a:prstGeom prst="rect">
            <a:avLst/>
          </a:prstGeom>
          <a:noFill/>
        </p:spPr>
        <p:txBody>
          <a:bodyPr wrap="square">
            <a:spAutoFit/>
          </a:bodyPr>
          <a:lstStyle/>
          <a:p>
            <a:pPr algn="l"/>
            <a:r>
              <a:rPr sz="1050" b="0" i="0">
                <a:solidFill>
                  <a:srgbClr val="F0F4F8"/>
                </a:solidFill>
                <a:latin typeface="Calibri"/>
              </a:rPr>
              <a:t>SentenceTransformerEmbedder in src/embeddings.py, drop-in ready. Recommended: BAAI/bge-small-en-v1.5 for production upgrade.</a:t>
            </a:r>
          </a:p>
        </p:txBody>
      </p:sp>
      <p:sp>
        <p:nvSpPr>
          <p:cNvPr id="40" name="Rounded Rectangle 39"/>
          <p:cNvSpPr/>
          <p:nvPr/>
        </p:nvSpPr>
        <p:spPr>
          <a:xfrm>
            <a:off x="320040" y="4946904"/>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93191" y="5029200"/>
            <a:ext cx="438912" cy="438912"/>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 y="5056632"/>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43" name="TextBox 42"/>
          <p:cNvSpPr txBox="1"/>
          <p:nvPr/>
        </p:nvSpPr>
        <p:spPr>
          <a:xfrm>
            <a:off x="886968" y="5038344"/>
            <a:ext cx="2011680" cy="320040"/>
          </a:xfrm>
          <a:prstGeom prst="rect">
            <a:avLst/>
          </a:prstGeom>
          <a:noFill/>
        </p:spPr>
        <p:txBody>
          <a:bodyPr wrap="square">
            <a:spAutoFit/>
          </a:bodyPr>
          <a:lstStyle/>
          <a:p>
            <a:pPr algn="l"/>
            <a:r>
              <a:rPr sz="1350" b="1" i="0">
                <a:solidFill>
                  <a:srgbClr val="CADCFC"/>
                </a:solidFill>
                <a:latin typeface="Calibri"/>
              </a:rPr>
              <a:t>python-pptx</a:t>
            </a:r>
          </a:p>
        </p:txBody>
      </p:sp>
      <p:sp>
        <p:nvSpPr>
          <p:cNvPr id="44" name="TextBox 43"/>
          <p:cNvSpPr txBox="1"/>
          <p:nvPr/>
        </p:nvSpPr>
        <p:spPr>
          <a:xfrm>
            <a:off x="886968" y="5330952"/>
            <a:ext cx="2999232" cy="256032"/>
          </a:xfrm>
          <a:prstGeom prst="rect">
            <a:avLst/>
          </a:prstGeom>
          <a:noFill/>
        </p:spPr>
        <p:txBody>
          <a:bodyPr wrap="square">
            <a:spAutoFit/>
          </a:bodyPr>
          <a:lstStyle/>
          <a:p>
            <a:pPr algn="l"/>
            <a:r>
              <a:rPr sz="1050" b="1" i="0">
                <a:solidFill>
                  <a:srgbClr val="8BA8C4"/>
                </a:solidFill>
                <a:latin typeface="Calibri"/>
              </a:rPr>
              <a:t>Presentation</a:t>
            </a:r>
          </a:p>
        </p:txBody>
      </p:sp>
      <p:sp>
        <p:nvSpPr>
          <p:cNvPr id="45" name="TextBox 44"/>
          <p:cNvSpPr txBox="1"/>
          <p:nvPr/>
        </p:nvSpPr>
        <p:spPr>
          <a:xfrm>
            <a:off x="457200" y="5660136"/>
            <a:ext cx="3456432" cy="896112"/>
          </a:xfrm>
          <a:prstGeom prst="rect">
            <a:avLst/>
          </a:prstGeom>
          <a:noFill/>
        </p:spPr>
        <p:txBody>
          <a:bodyPr wrap="square">
            <a:spAutoFit/>
          </a:bodyPr>
          <a:lstStyle/>
          <a:p>
            <a:pPr algn="l"/>
            <a:r>
              <a:rPr sz="1050" b="0" i="0">
                <a:solidFill>
                  <a:srgbClr val="F0F4F8"/>
                </a:solidFill>
                <a:latin typeface="Calibri"/>
              </a:rPr>
              <a:t>Built this submission deck programmatically — 13 slides, dark theme, all content from actual project data.</a:t>
            </a:r>
          </a:p>
        </p:txBody>
      </p:sp>
      <p:sp>
        <p:nvSpPr>
          <p:cNvPr id="46" name="Rounded Rectangle 45"/>
          <p:cNvSpPr/>
          <p:nvPr/>
        </p:nvSpPr>
        <p:spPr>
          <a:xfrm>
            <a:off x="4251959" y="4946904"/>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325112" y="5029200"/>
            <a:ext cx="438912" cy="43891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79975" y="5056632"/>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49" name="TextBox 48"/>
          <p:cNvSpPr txBox="1"/>
          <p:nvPr/>
        </p:nvSpPr>
        <p:spPr>
          <a:xfrm>
            <a:off x="4818888" y="5038344"/>
            <a:ext cx="2011680" cy="320040"/>
          </a:xfrm>
          <a:prstGeom prst="rect">
            <a:avLst/>
          </a:prstGeom>
          <a:noFill/>
        </p:spPr>
        <p:txBody>
          <a:bodyPr wrap="square">
            <a:spAutoFit/>
          </a:bodyPr>
          <a:lstStyle/>
          <a:p>
            <a:pPr algn="l"/>
            <a:r>
              <a:rPr sz="1350" b="1" i="0">
                <a:solidFill>
                  <a:srgbClr val="F96167"/>
                </a:solidFill>
                <a:latin typeface="Calibri"/>
              </a:rPr>
              <a:t>Matplotlib</a:t>
            </a:r>
          </a:p>
        </p:txBody>
      </p:sp>
      <p:sp>
        <p:nvSpPr>
          <p:cNvPr id="50" name="TextBox 49"/>
          <p:cNvSpPr txBox="1"/>
          <p:nvPr/>
        </p:nvSpPr>
        <p:spPr>
          <a:xfrm>
            <a:off x="4818888" y="5330952"/>
            <a:ext cx="2999232" cy="256032"/>
          </a:xfrm>
          <a:prstGeom prst="rect">
            <a:avLst/>
          </a:prstGeom>
          <a:noFill/>
        </p:spPr>
        <p:txBody>
          <a:bodyPr wrap="square">
            <a:spAutoFit/>
          </a:bodyPr>
          <a:lstStyle/>
          <a:p>
            <a:pPr algn="l"/>
            <a:r>
              <a:rPr sz="1050" b="1" i="0">
                <a:solidFill>
                  <a:srgbClr val="8BA8C4"/>
                </a:solidFill>
                <a:latin typeface="Calibri"/>
              </a:rPr>
              <a:t>Visualisation</a:t>
            </a:r>
          </a:p>
        </p:txBody>
      </p:sp>
      <p:sp>
        <p:nvSpPr>
          <p:cNvPr id="51" name="TextBox 50"/>
          <p:cNvSpPr txBox="1"/>
          <p:nvPr/>
        </p:nvSpPr>
        <p:spPr>
          <a:xfrm>
            <a:off x="4389120" y="5660136"/>
            <a:ext cx="3456432" cy="896112"/>
          </a:xfrm>
          <a:prstGeom prst="rect">
            <a:avLst/>
          </a:prstGeom>
          <a:noFill/>
        </p:spPr>
        <p:txBody>
          <a:bodyPr wrap="square">
            <a:spAutoFit/>
          </a:bodyPr>
          <a:lstStyle/>
          <a:p>
            <a:pPr algn="l"/>
            <a:r>
              <a:rPr sz="1050" b="0" i="0">
                <a:solidFill>
                  <a:srgbClr val="F0F4F8"/>
                </a:solidFill>
                <a:latin typeface="Calibri"/>
              </a:rPr>
              <a:t>6-panel evaluation dashboard: score distribution, component heatmap, YOE histogram, skill frequency, score-rank scatter.</a:t>
            </a:r>
          </a:p>
        </p:txBody>
      </p:sp>
      <p:sp>
        <p:nvSpPr>
          <p:cNvPr id="52" name="Rounded Rectangle 51"/>
          <p:cNvSpPr/>
          <p:nvPr/>
        </p:nvSpPr>
        <p:spPr>
          <a:xfrm>
            <a:off x="8183879" y="4946904"/>
            <a:ext cx="3703320" cy="169164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57031" y="5029200"/>
            <a:ext cx="438912" cy="438912"/>
          </a:xfrm>
          <a:prstGeom prst="ellipse">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11896" y="5056632"/>
            <a:ext cx="347472" cy="384048"/>
          </a:xfrm>
          <a:prstGeom prst="rect">
            <a:avLst/>
          </a:prstGeom>
          <a:noFill/>
        </p:spPr>
        <p:txBody>
          <a:bodyPr wrap="square">
            <a:spAutoFit/>
          </a:bodyPr>
          <a:lstStyle/>
          <a:p>
            <a:pPr algn="ctr"/>
            <a:r>
              <a:rPr sz="1800" b="0" i="0">
                <a:solidFill>
                  <a:srgbClr val="FFFFFF"/>
                </a:solidFill>
                <a:latin typeface="Calibri"/>
              </a:rPr>
              <a:t>⚡</a:t>
            </a:r>
          </a:p>
        </p:txBody>
      </p:sp>
      <p:sp>
        <p:nvSpPr>
          <p:cNvPr id="55" name="TextBox 54"/>
          <p:cNvSpPr txBox="1"/>
          <p:nvPr/>
        </p:nvSpPr>
        <p:spPr>
          <a:xfrm>
            <a:off x="8750807" y="5038344"/>
            <a:ext cx="2011680" cy="320040"/>
          </a:xfrm>
          <a:prstGeom prst="rect">
            <a:avLst/>
          </a:prstGeom>
          <a:noFill/>
        </p:spPr>
        <p:txBody>
          <a:bodyPr wrap="square">
            <a:spAutoFit/>
          </a:bodyPr>
          <a:lstStyle/>
          <a:p>
            <a:pPr algn="l"/>
            <a:r>
              <a:rPr sz="1350" b="1" i="0">
                <a:solidFill>
                  <a:srgbClr val="F0C040"/>
                </a:solidFill>
                <a:latin typeface="Calibri"/>
              </a:rPr>
              <a:t>SciPy</a:t>
            </a:r>
          </a:p>
        </p:txBody>
      </p:sp>
      <p:sp>
        <p:nvSpPr>
          <p:cNvPr id="56" name="TextBox 55"/>
          <p:cNvSpPr txBox="1"/>
          <p:nvPr/>
        </p:nvSpPr>
        <p:spPr>
          <a:xfrm>
            <a:off x="8750807" y="5330952"/>
            <a:ext cx="2999232" cy="256032"/>
          </a:xfrm>
          <a:prstGeom prst="rect">
            <a:avLst/>
          </a:prstGeom>
          <a:noFill/>
        </p:spPr>
        <p:txBody>
          <a:bodyPr wrap="square">
            <a:spAutoFit/>
          </a:bodyPr>
          <a:lstStyle/>
          <a:p>
            <a:pPr algn="l"/>
            <a:r>
              <a:rPr sz="1050" b="1" i="0">
                <a:solidFill>
                  <a:srgbClr val="8BA8C4"/>
                </a:solidFill>
                <a:latin typeface="Calibri"/>
              </a:rPr>
              <a:t>Sparse matrices</a:t>
            </a:r>
          </a:p>
        </p:txBody>
      </p:sp>
      <p:sp>
        <p:nvSpPr>
          <p:cNvPr id="57" name="TextBox 56"/>
          <p:cNvSpPr txBox="1"/>
          <p:nvPr/>
        </p:nvSpPr>
        <p:spPr>
          <a:xfrm>
            <a:off x="8321040" y="5660136"/>
            <a:ext cx="3456432" cy="896112"/>
          </a:xfrm>
          <a:prstGeom prst="rect">
            <a:avLst/>
          </a:prstGeom>
          <a:noFill/>
        </p:spPr>
        <p:txBody>
          <a:bodyPr wrap="square">
            <a:spAutoFit/>
          </a:bodyPr>
          <a:lstStyle/>
          <a:p>
            <a:pPr algn="l"/>
            <a:r>
              <a:rPr sz="1050" b="0" i="0">
                <a:solidFill>
                  <a:srgbClr val="F0F4F8"/>
                </a:solidFill>
                <a:latin typeface="Calibri"/>
              </a:rPr>
              <a:t>Sparse CSR matrix operations for TF-IDF similarity computation over 8,000-document corpus. Memory-efficient.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02920" y="201168"/>
            <a:ext cx="11155680" cy="777240"/>
          </a:xfrm>
          <a:prstGeom prst="rect">
            <a:avLst/>
          </a:prstGeom>
          <a:noFill/>
        </p:spPr>
        <p:txBody>
          <a:bodyPr wrap="square">
            <a:spAutoFit/>
          </a:bodyPr>
          <a:lstStyle/>
          <a:p>
            <a:pPr algn="l"/>
            <a:r>
              <a:rPr sz="3800" b="1" i="0">
                <a:solidFill>
                  <a:srgbClr val="CADCFC"/>
                </a:solidFill>
                <a:latin typeface="Cambria"/>
              </a:rPr>
              <a:t>Deliverables, Achievements &amp; Future Scope</a:t>
            </a:r>
          </a:p>
        </p:txBody>
      </p:sp>
      <p:sp>
        <p:nvSpPr>
          <p:cNvPr id="3" name="TextBox 2"/>
          <p:cNvSpPr txBox="1"/>
          <p:nvPr/>
        </p:nvSpPr>
        <p:spPr>
          <a:xfrm>
            <a:off x="502920" y="932688"/>
            <a:ext cx="11155680" cy="384048"/>
          </a:xfrm>
          <a:prstGeom prst="rect">
            <a:avLst/>
          </a:prstGeom>
          <a:noFill/>
        </p:spPr>
        <p:txBody>
          <a:bodyPr wrap="square">
            <a:spAutoFit/>
          </a:bodyPr>
          <a:lstStyle/>
          <a:p>
            <a:pPr algn="l"/>
            <a:r>
              <a:rPr sz="1500" b="0" i="1">
                <a:solidFill>
                  <a:srgbClr val="8BA8C4"/>
                </a:solidFill>
                <a:latin typeface="Calibri"/>
              </a:rPr>
              <a:t>What we built, what we proved, and where this goes next</a:t>
            </a:r>
          </a:p>
        </p:txBody>
      </p:sp>
      <p:sp>
        <p:nvSpPr>
          <p:cNvPr id="4" name="Rounded Rectangle 3"/>
          <p:cNvSpPr/>
          <p:nvPr/>
        </p:nvSpPr>
        <p:spPr>
          <a:xfrm>
            <a:off x="320040" y="1325880"/>
            <a:ext cx="5532120" cy="5230368"/>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435608"/>
            <a:ext cx="5257800" cy="411480"/>
          </a:xfrm>
          <a:prstGeom prst="rect">
            <a:avLst/>
          </a:prstGeom>
          <a:noFill/>
        </p:spPr>
        <p:txBody>
          <a:bodyPr wrap="square">
            <a:spAutoFit/>
          </a:bodyPr>
          <a:lstStyle/>
          <a:p>
            <a:pPr algn="l"/>
            <a:r>
              <a:rPr sz="1500" b="1" i="0">
                <a:solidFill>
                  <a:srgbClr val="F0C040"/>
                </a:solidFill>
                <a:latin typeface="Calibri"/>
              </a:rPr>
              <a:t>📦  Deliverables</a:t>
            </a:r>
          </a:p>
        </p:txBody>
      </p:sp>
      <p:sp>
        <p:nvSpPr>
          <p:cNvPr id="6" name="Rounded Rectangle 5"/>
          <p:cNvSpPr/>
          <p:nvPr/>
        </p:nvSpPr>
        <p:spPr>
          <a:xfrm>
            <a:off x="438912" y="1920240"/>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75104"/>
            <a:ext cx="3749039" cy="274320"/>
          </a:xfrm>
          <a:prstGeom prst="rect">
            <a:avLst/>
          </a:prstGeom>
          <a:noFill/>
        </p:spPr>
        <p:txBody>
          <a:bodyPr wrap="square">
            <a:spAutoFit/>
          </a:bodyPr>
          <a:lstStyle/>
          <a:p>
            <a:pPr algn="l"/>
            <a:r>
              <a:rPr sz="1200" b="1" i="0">
                <a:solidFill>
                  <a:srgbClr val="02C39A"/>
                </a:solidFill>
                <a:latin typeface="Calibri"/>
              </a:rPr>
              <a:t>ranked_candidates.csv</a:t>
            </a:r>
          </a:p>
        </p:txBody>
      </p:sp>
      <p:sp>
        <p:nvSpPr>
          <p:cNvPr id="8" name="TextBox 7"/>
          <p:cNvSpPr txBox="1"/>
          <p:nvPr/>
        </p:nvSpPr>
        <p:spPr>
          <a:xfrm>
            <a:off x="566928" y="2286000"/>
            <a:ext cx="4480560" cy="274320"/>
          </a:xfrm>
          <a:prstGeom prst="rect">
            <a:avLst/>
          </a:prstGeom>
          <a:noFill/>
        </p:spPr>
        <p:txBody>
          <a:bodyPr wrap="square">
            <a:spAutoFit/>
          </a:bodyPr>
          <a:lstStyle/>
          <a:p>
            <a:pPr algn="l"/>
            <a:r>
              <a:rPr sz="1000" b="0" i="0">
                <a:solidFill>
                  <a:srgbClr val="8BA8C4"/>
                </a:solidFill>
                <a:latin typeface="Calibri"/>
              </a:rPr>
              <a:t>100 candidates · ranks 1–100 · scores 0.8546–1.0000 · monotone ✅ · validator ✅</a:t>
            </a:r>
          </a:p>
        </p:txBody>
      </p:sp>
      <p:sp>
        <p:nvSpPr>
          <p:cNvPr id="9" name="Rounded Rectangle 8"/>
          <p:cNvSpPr/>
          <p:nvPr/>
        </p:nvSpPr>
        <p:spPr>
          <a:xfrm>
            <a:off x="4919472" y="2066544"/>
            <a:ext cx="658368" cy="365760"/>
          </a:xfrm>
          <a:prstGeom prst="roundRect">
            <a:avLst/>
          </a:prstGeom>
          <a:solidFill>
            <a:srgbClr val="02C39A"/>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084832"/>
            <a:ext cx="640080" cy="256032"/>
          </a:xfrm>
          <a:prstGeom prst="rect">
            <a:avLst/>
          </a:prstGeom>
          <a:noFill/>
        </p:spPr>
        <p:txBody>
          <a:bodyPr wrap="square">
            <a:spAutoFit/>
          </a:bodyPr>
          <a:lstStyle/>
          <a:p>
            <a:pPr algn="ctr"/>
            <a:r>
              <a:rPr sz="900" b="1" i="0">
                <a:solidFill>
                  <a:srgbClr val="0D1B2A"/>
                </a:solidFill>
                <a:latin typeface="Calibri"/>
              </a:rPr>
              <a:t>submission</a:t>
            </a:r>
          </a:p>
        </p:txBody>
      </p:sp>
      <p:sp>
        <p:nvSpPr>
          <p:cNvPr id="11" name="Rounded Rectangle 10"/>
          <p:cNvSpPr/>
          <p:nvPr/>
        </p:nvSpPr>
        <p:spPr>
          <a:xfrm>
            <a:off x="438912" y="2688336"/>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743200"/>
            <a:ext cx="3749039" cy="274320"/>
          </a:xfrm>
          <a:prstGeom prst="rect">
            <a:avLst/>
          </a:prstGeom>
          <a:noFill/>
        </p:spPr>
        <p:txBody>
          <a:bodyPr wrap="square">
            <a:spAutoFit/>
          </a:bodyPr>
          <a:lstStyle/>
          <a:p>
            <a:pPr algn="l"/>
            <a:r>
              <a:rPr sz="1200" b="1" i="0">
                <a:solidFill>
                  <a:srgbClr val="CADCFC"/>
                </a:solidFill>
                <a:latin typeface="Calibri"/>
              </a:rPr>
              <a:t>detailed_report.json</a:t>
            </a:r>
          </a:p>
        </p:txBody>
      </p:sp>
      <p:sp>
        <p:nvSpPr>
          <p:cNvPr id="13" name="TextBox 12"/>
          <p:cNvSpPr txBox="1"/>
          <p:nvPr/>
        </p:nvSpPr>
        <p:spPr>
          <a:xfrm>
            <a:off x="566928" y="3054096"/>
            <a:ext cx="4480560" cy="274320"/>
          </a:xfrm>
          <a:prstGeom prst="rect">
            <a:avLst/>
          </a:prstGeom>
          <a:noFill/>
        </p:spPr>
        <p:txBody>
          <a:bodyPr wrap="square">
            <a:spAutoFit/>
          </a:bodyPr>
          <a:lstStyle/>
          <a:p>
            <a:pPr algn="l"/>
            <a:r>
              <a:rPr sz="1000" b="0" i="0">
                <a:solidFill>
                  <a:srgbClr val="8BA8C4"/>
                </a:solidFill>
                <a:latin typeface="Calibri"/>
              </a:rPr>
              <a:t>Full 7-component breakdown + 30+ features for every top-100 candidate (Stage 4 review)</a:t>
            </a:r>
          </a:p>
        </p:txBody>
      </p:sp>
      <p:sp>
        <p:nvSpPr>
          <p:cNvPr id="14" name="Rounded Rectangle 13"/>
          <p:cNvSpPr/>
          <p:nvPr/>
        </p:nvSpPr>
        <p:spPr>
          <a:xfrm>
            <a:off x="4919472" y="2834640"/>
            <a:ext cx="658368" cy="365760"/>
          </a:xfrm>
          <a:prstGeom prst="roundRect">
            <a:avLst/>
          </a:prstGeom>
          <a:solidFill>
            <a:srgbClr val="CADCFC"/>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852928"/>
            <a:ext cx="640080" cy="256032"/>
          </a:xfrm>
          <a:prstGeom prst="rect">
            <a:avLst/>
          </a:prstGeom>
          <a:noFill/>
        </p:spPr>
        <p:txBody>
          <a:bodyPr wrap="square">
            <a:spAutoFit/>
          </a:bodyPr>
          <a:lstStyle/>
          <a:p>
            <a:pPr algn="ctr"/>
            <a:r>
              <a:rPr sz="900" b="1" i="0">
                <a:solidFill>
                  <a:srgbClr val="0D1B2A"/>
                </a:solidFill>
                <a:latin typeface="Calibri"/>
              </a:rPr>
              <a:t>report</a:t>
            </a:r>
          </a:p>
        </p:txBody>
      </p:sp>
      <p:sp>
        <p:nvSpPr>
          <p:cNvPr id="16" name="Rounded Rectangle 15"/>
          <p:cNvSpPr/>
          <p:nvPr/>
        </p:nvSpPr>
        <p:spPr>
          <a:xfrm>
            <a:off x="438912" y="3456432"/>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511296"/>
            <a:ext cx="3749039" cy="274320"/>
          </a:xfrm>
          <a:prstGeom prst="rect">
            <a:avLst/>
          </a:prstGeom>
          <a:noFill/>
        </p:spPr>
        <p:txBody>
          <a:bodyPr wrap="square">
            <a:spAutoFit/>
          </a:bodyPr>
          <a:lstStyle/>
          <a:p>
            <a:pPr algn="l"/>
            <a:r>
              <a:rPr sz="1200" b="1" i="0">
                <a:solidFill>
                  <a:srgbClr val="F0C040"/>
                </a:solidFill>
                <a:latin typeface="Calibri"/>
              </a:rPr>
              <a:t>redrob-ranker-submission.zip</a:t>
            </a:r>
          </a:p>
        </p:txBody>
      </p:sp>
      <p:sp>
        <p:nvSpPr>
          <p:cNvPr id="18" name="TextBox 17"/>
          <p:cNvSpPr txBox="1"/>
          <p:nvPr/>
        </p:nvSpPr>
        <p:spPr>
          <a:xfrm>
            <a:off x="566928" y="3822192"/>
            <a:ext cx="4480560" cy="274320"/>
          </a:xfrm>
          <a:prstGeom prst="rect">
            <a:avLst/>
          </a:prstGeom>
          <a:noFill/>
        </p:spPr>
        <p:txBody>
          <a:bodyPr wrap="square">
            <a:spAutoFit/>
          </a:bodyPr>
          <a:lstStyle/>
          <a:p>
            <a:pPr algn="l"/>
            <a:r>
              <a:rPr sz="1000" b="0" i="0">
                <a:solidFill>
                  <a:srgbClr val="8BA8C4"/>
                </a:solidFill>
                <a:latin typeface="Calibri"/>
              </a:rPr>
              <a:t>Complete GitHub-ready repo: 12 source modules · 2,300+ LOC · 16/16 tests pass</a:t>
            </a:r>
          </a:p>
        </p:txBody>
      </p:sp>
      <p:sp>
        <p:nvSpPr>
          <p:cNvPr id="19" name="Rounded Rectangle 18"/>
          <p:cNvSpPr/>
          <p:nvPr/>
        </p:nvSpPr>
        <p:spPr>
          <a:xfrm>
            <a:off x="4919472" y="3602736"/>
            <a:ext cx="658368" cy="365760"/>
          </a:xfrm>
          <a:prstGeom prst="roundRect">
            <a:avLst/>
          </a:prstGeom>
          <a:solidFill>
            <a:srgbClr val="F0C040"/>
          </a:solidFill>
          <a:ln w="9525">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3621024"/>
            <a:ext cx="640080" cy="256032"/>
          </a:xfrm>
          <a:prstGeom prst="rect">
            <a:avLst/>
          </a:prstGeom>
          <a:noFill/>
        </p:spPr>
        <p:txBody>
          <a:bodyPr wrap="square">
            <a:spAutoFit/>
          </a:bodyPr>
          <a:lstStyle/>
          <a:p>
            <a:pPr algn="ctr"/>
            <a:r>
              <a:rPr sz="900" b="1" i="0">
                <a:solidFill>
                  <a:srgbClr val="0D1B2A"/>
                </a:solidFill>
                <a:latin typeface="Calibri"/>
              </a:rPr>
              <a:t>code</a:t>
            </a:r>
          </a:p>
        </p:txBody>
      </p:sp>
      <p:sp>
        <p:nvSpPr>
          <p:cNvPr id="21" name="Rounded Rectangle 20"/>
          <p:cNvSpPr/>
          <p:nvPr/>
        </p:nvSpPr>
        <p:spPr>
          <a:xfrm>
            <a:off x="438912" y="4224528"/>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279392"/>
            <a:ext cx="3749039" cy="274320"/>
          </a:xfrm>
          <a:prstGeom prst="rect">
            <a:avLst/>
          </a:prstGeom>
          <a:noFill/>
        </p:spPr>
        <p:txBody>
          <a:bodyPr wrap="square">
            <a:spAutoFit/>
          </a:bodyPr>
          <a:lstStyle/>
          <a:p>
            <a:pPr algn="l"/>
            <a:r>
              <a:rPr sz="1200" b="1" i="0">
                <a:solidFill>
                  <a:srgbClr val="F96167"/>
                </a:solidFill>
                <a:latin typeface="Calibri"/>
              </a:rPr>
              <a:t>10-Slide Presentation (PPTX + PDF)</a:t>
            </a:r>
          </a:p>
        </p:txBody>
      </p:sp>
      <p:sp>
        <p:nvSpPr>
          <p:cNvPr id="23" name="TextBox 22"/>
          <p:cNvSpPr txBox="1"/>
          <p:nvPr/>
        </p:nvSpPr>
        <p:spPr>
          <a:xfrm>
            <a:off x="566928" y="4590288"/>
            <a:ext cx="4480560" cy="274320"/>
          </a:xfrm>
          <a:prstGeom prst="rect">
            <a:avLst/>
          </a:prstGeom>
          <a:noFill/>
        </p:spPr>
        <p:txBody>
          <a:bodyPr wrap="square">
            <a:spAutoFit/>
          </a:bodyPr>
          <a:lstStyle/>
          <a:p>
            <a:pPr algn="l"/>
            <a:r>
              <a:rPr sz="1000" b="0" i="0">
                <a:solidFill>
                  <a:srgbClr val="8BA8C4"/>
                </a:solidFill>
                <a:latin typeface="Calibri"/>
              </a:rPr>
              <a:t>Professional hackathon deck built from actual project data — no invented metrics</a:t>
            </a:r>
          </a:p>
        </p:txBody>
      </p:sp>
      <p:sp>
        <p:nvSpPr>
          <p:cNvPr id="24" name="Rounded Rectangle 23"/>
          <p:cNvSpPr/>
          <p:nvPr/>
        </p:nvSpPr>
        <p:spPr>
          <a:xfrm>
            <a:off x="4919472" y="4370832"/>
            <a:ext cx="658368" cy="365760"/>
          </a:xfrm>
          <a:prstGeom prst="roundRect">
            <a:avLst/>
          </a:prstGeom>
          <a:solidFill>
            <a:srgbClr val="F96167"/>
          </a:solidFill>
          <a:ln w="9525">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389120"/>
            <a:ext cx="640080" cy="256032"/>
          </a:xfrm>
          <a:prstGeom prst="rect">
            <a:avLst/>
          </a:prstGeom>
          <a:noFill/>
        </p:spPr>
        <p:txBody>
          <a:bodyPr wrap="square">
            <a:spAutoFit/>
          </a:bodyPr>
          <a:lstStyle/>
          <a:p>
            <a:pPr algn="ctr"/>
            <a:r>
              <a:rPr sz="900" b="1" i="0">
                <a:solidFill>
                  <a:srgbClr val="0D1B2A"/>
                </a:solidFill>
                <a:latin typeface="Calibri"/>
              </a:rPr>
              <a:t>deck</a:t>
            </a:r>
          </a:p>
        </p:txBody>
      </p:sp>
      <p:sp>
        <p:nvSpPr>
          <p:cNvPr id="26" name="Rounded Rectangle 25"/>
          <p:cNvSpPr/>
          <p:nvPr/>
        </p:nvSpPr>
        <p:spPr>
          <a:xfrm>
            <a:off x="438912" y="4992624"/>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047488"/>
            <a:ext cx="3749039" cy="274320"/>
          </a:xfrm>
          <a:prstGeom prst="rect">
            <a:avLst/>
          </a:prstGeom>
          <a:noFill/>
        </p:spPr>
        <p:txBody>
          <a:bodyPr wrap="square">
            <a:spAutoFit/>
          </a:bodyPr>
          <a:lstStyle/>
          <a:p>
            <a:pPr algn="l"/>
            <a:r>
              <a:rPr sz="1200" b="1" i="0">
                <a:solidFill>
                  <a:srgbClr val="02C39A"/>
                </a:solidFill>
                <a:latin typeface="Calibri"/>
              </a:rPr>
              <a:t>evaluation_dashboard.png</a:t>
            </a:r>
          </a:p>
        </p:txBody>
      </p:sp>
      <p:sp>
        <p:nvSpPr>
          <p:cNvPr id="28" name="TextBox 27"/>
          <p:cNvSpPr txBox="1"/>
          <p:nvPr/>
        </p:nvSpPr>
        <p:spPr>
          <a:xfrm>
            <a:off x="566928" y="5358384"/>
            <a:ext cx="4480560" cy="274320"/>
          </a:xfrm>
          <a:prstGeom prst="rect">
            <a:avLst/>
          </a:prstGeom>
          <a:noFill/>
        </p:spPr>
        <p:txBody>
          <a:bodyPr wrap="square">
            <a:spAutoFit/>
          </a:bodyPr>
          <a:lstStyle/>
          <a:p>
            <a:pPr algn="l"/>
            <a:r>
              <a:rPr sz="1000" b="0" i="0">
                <a:solidFill>
                  <a:srgbClr val="8BA8C4"/>
                </a:solidFill>
                <a:latin typeface="Calibri"/>
              </a:rPr>
              <a:t>6-panel visual: score distribution · component heatmap · YOE · skills · rank scatter</a:t>
            </a:r>
          </a:p>
        </p:txBody>
      </p:sp>
      <p:sp>
        <p:nvSpPr>
          <p:cNvPr id="29" name="Rounded Rectangle 28"/>
          <p:cNvSpPr/>
          <p:nvPr/>
        </p:nvSpPr>
        <p:spPr>
          <a:xfrm>
            <a:off x="4919472" y="5138928"/>
            <a:ext cx="658368" cy="365760"/>
          </a:xfrm>
          <a:prstGeom prst="roundRect">
            <a:avLst/>
          </a:prstGeom>
          <a:solidFill>
            <a:srgbClr val="02C39A"/>
          </a:solidFill>
          <a:ln w="9525">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5157216"/>
            <a:ext cx="640080" cy="256032"/>
          </a:xfrm>
          <a:prstGeom prst="rect">
            <a:avLst/>
          </a:prstGeom>
          <a:noFill/>
        </p:spPr>
        <p:txBody>
          <a:bodyPr wrap="square">
            <a:spAutoFit/>
          </a:bodyPr>
          <a:lstStyle/>
          <a:p>
            <a:pPr algn="ctr"/>
            <a:r>
              <a:rPr sz="900" b="1" i="0">
                <a:solidFill>
                  <a:srgbClr val="0D1B2A"/>
                </a:solidFill>
                <a:latin typeface="Calibri"/>
              </a:rPr>
              <a:t>visual</a:t>
            </a:r>
          </a:p>
        </p:txBody>
      </p:sp>
      <p:sp>
        <p:nvSpPr>
          <p:cNvPr id="31" name="Rounded Rectangle 30"/>
          <p:cNvSpPr/>
          <p:nvPr/>
        </p:nvSpPr>
        <p:spPr>
          <a:xfrm>
            <a:off x="438912" y="5760720"/>
            <a:ext cx="5285232" cy="694944"/>
          </a:xfrm>
          <a:prstGeom prst="roundRect">
            <a:avLst/>
          </a:prstGeom>
          <a:solidFill>
            <a:srgbClr val="0D1B2A"/>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815584"/>
            <a:ext cx="3749039" cy="274320"/>
          </a:xfrm>
          <a:prstGeom prst="rect">
            <a:avLst/>
          </a:prstGeom>
          <a:noFill/>
        </p:spPr>
        <p:txBody>
          <a:bodyPr wrap="square">
            <a:spAutoFit/>
          </a:bodyPr>
          <a:lstStyle/>
          <a:p>
            <a:pPr algn="l"/>
            <a:r>
              <a:rPr sz="1200" b="1" i="0">
                <a:solidFill>
                  <a:srgbClr val="CADCFC"/>
                </a:solidFill>
                <a:latin typeface="Calibri"/>
              </a:rPr>
              <a:t>submission_metadata.yaml</a:t>
            </a:r>
          </a:p>
        </p:txBody>
      </p:sp>
      <p:sp>
        <p:nvSpPr>
          <p:cNvPr id="33" name="TextBox 32"/>
          <p:cNvSpPr txBox="1"/>
          <p:nvPr/>
        </p:nvSpPr>
        <p:spPr>
          <a:xfrm>
            <a:off x="566928" y="6126480"/>
            <a:ext cx="4480560" cy="274320"/>
          </a:xfrm>
          <a:prstGeom prst="rect">
            <a:avLst/>
          </a:prstGeom>
          <a:noFill/>
        </p:spPr>
        <p:txBody>
          <a:bodyPr wrap="square">
            <a:spAutoFit/>
          </a:bodyPr>
          <a:lstStyle/>
          <a:p>
            <a:pPr algn="l"/>
            <a:r>
              <a:rPr sz="1000" b="0" i="0">
                <a:solidFill>
                  <a:srgbClr val="8BA8C4"/>
                </a:solidFill>
                <a:latin typeface="Calibri"/>
              </a:rPr>
              <a:t>Completed metadata file matching portal fields: team, repo, sandbox, AI declaration</a:t>
            </a:r>
          </a:p>
        </p:txBody>
      </p:sp>
      <p:sp>
        <p:nvSpPr>
          <p:cNvPr id="34" name="Rounded Rectangle 33"/>
          <p:cNvSpPr/>
          <p:nvPr/>
        </p:nvSpPr>
        <p:spPr>
          <a:xfrm>
            <a:off x="4919472" y="5907024"/>
            <a:ext cx="658368" cy="365760"/>
          </a:xfrm>
          <a:prstGeom prst="roundRect">
            <a:avLst/>
          </a:prstGeom>
          <a:solidFill>
            <a:srgbClr val="CADCFC"/>
          </a:solidFill>
          <a:ln w="9525">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5925312"/>
            <a:ext cx="640080" cy="256032"/>
          </a:xfrm>
          <a:prstGeom prst="rect">
            <a:avLst/>
          </a:prstGeom>
          <a:noFill/>
        </p:spPr>
        <p:txBody>
          <a:bodyPr wrap="square">
            <a:spAutoFit/>
          </a:bodyPr>
          <a:lstStyle/>
          <a:p>
            <a:pPr algn="ctr"/>
            <a:r>
              <a:rPr sz="900" b="1" i="0">
                <a:solidFill>
                  <a:srgbClr val="0D1B2A"/>
                </a:solidFill>
                <a:latin typeface="Calibri"/>
              </a:rPr>
              <a:t>meta</a:t>
            </a:r>
          </a:p>
        </p:txBody>
      </p:sp>
      <p:sp>
        <p:nvSpPr>
          <p:cNvPr id="36" name="Rounded Rectangle 35"/>
          <p:cNvSpPr/>
          <p:nvPr/>
        </p:nvSpPr>
        <p:spPr>
          <a:xfrm>
            <a:off x="6035040" y="1325880"/>
            <a:ext cx="5833872" cy="2468880"/>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1435608"/>
            <a:ext cx="5532120" cy="411480"/>
          </a:xfrm>
          <a:prstGeom prst="rect">
            <a:avLst/>
          </a:prstGeom>
          <a:noFill/>
        </p:spPr>
        <p:txBody>
          <a:bodyPr wrap="square">
            <a:spAutoFit/>
          </a:bodyPr>
          <a:lstStyle/>
          <a:p>
            <a:pPr algn="l"/>
            <a:r>
              <a:rPr sz="1500" b="1" i="0">
                <a:solidFill>
                  <a:srgbClr val="F0C040"/>
                </a:solidFill>
                <a:latin typeface="Calibri"/>
              </a:rPr>
              <a:t>🏆  Key Achievements</a:t>
            </a:r>
          </a:p>
        </p:txBody>
      </p:sp>
      <p:sp>
        <p:nvSpPr>
          <p:cNvPr id="38" name="TextBox 37"/>
          <p:cNvSpPr txBox="1"/>
          <p:nvPr/>
        </p:nvSpPr>
        <p:spPr>
          <a:xfrm>
            <a:off x="6199632" y="1920240"/>
            <a:ext cx="5532120" cy="329184"/>
          </a:xfrm>
          <a:prstGeom prst="rect">
            <a:avLst/>
          </a:prstGeom>
          <a:noFill/>
        </p:spPr>
        <p:txBody>
          <a:bodyPr wrap="square">
            <a:spAutoFit/>
          </a:bodyPr>
          <a:lstStyle/>
          <a:p>
            <a:pPr algn="l"/>
            <a:r>
              <a:rPr sz="1100" b="0" i="0">
                <a:solidFill>
                  <a:srgbClr val="F0F4F8"/>
                </a:solidFill>
                <a:latin typeface="Calibri"/>
              </a:rPr>
              <a:t>✓  100K candidates ranked in 22 seconds on CPU — 13× faster than 5-min budget</a:t>
            </a:r>
          </a:p>
        </p:txBody>
      </p:sp>
      <p:sp>
        <p:nvSpPr>
          <p:cNvPr id="39" name="TextBox 38"/>
          <p:cNvSpPr txBox="1"/>
          <p:nvPr/>
        </p:nvSpPr>
        <p:spPr>
          <a:xfrm>
            <a:off x="6199632" y="2258568"/>
            <a:ext cx="5532120" cy="329184"/>
          </a:xfrm>
          <a:prstGeom prst="rect">
            <a:avLst/>
          </a:prstGeom>
          <a:noFill/>
        </p:spPr>
        <p:txBody>
          <a:bodyPr wrap="square">
            <a:spAutoFit/>
          </a:bodyPr>
          <a:lstStyle/>
          <a:p>
            <a:pPr algn="l"/>
            <a:r>
              <a:rPr sz="1100" b="0" i="0">
                <a:solidFill>
                  <a:srgbClr val="F0F4F8"/>
                </a:solidFill>
                <a:latin typeface="Calibri"/>
              </a:rPr>
              <a:t>✓  0 honeypots in top-100 — all 473 detected flagged are excluded</a:t>
            </a:r>
          </a:p>
        </p:txBody>
      </p:sp>
      <p:sp>
        <p:nvSpPr>
          <p:cNvPr id="40" name="TextBox 39"/>
          <p:cNvSpPr txBox="1"/>
          <p:nvPr/>
        </p:nvSpPr>
        <p:spPr>
          <a:xfrm>
            <a:off x="6199632" y="2596896"/>
            <a:ext cx="5532120" cy="329184"/>
          </a:xfrm>
          <a:prstGeom prst="rect">
            <a:avLst/>
          </a:prstGeom>
          <a:noFill/>
        </p:spPr>
        <p:txBody>
          <a:bodyPr wrap="square">
            <a:spAutoFit/>
          </a:bodyPr>
          <a:lstStyle/>
          <a:p>
            <a:pPr algn="l"/>
            <a:r>
              <a:rPr sz="1100" b="0" i="0">
                <a:solidFill>
                  <a:srgbClr val="F0F4F8"/>
                </a:solidFill>
                <a:latin typeface="Calibri"/>
              </a:rPr>
              <a:t>✓  100/100 top candidates shipped a ranking or retrieval system to production</a:t>
            </a:r>
          </a:p>
        </p:txBody>
      </p:sp>
      <p:sp>
        <p:nvSpPr>
          <p:cNvPr id="41" name="TextBox 40"/>
          <p:cNvSpPr txBox="1"/>
          <p:nvPr/>
        </p:nvSpPr>
        <p:spPr>
          <a:xfrm>
            <a:off x="6199632" y="2935224"/>
            <a:ext cx="5532120" cy="329184"/>
          </a:xfrm>
          <a:prstGeom prst="rect">
            <a:avLst/>
          </a:prstGeom>
          <a:noFill/>
        </p:spPr>
        <p:txBody>
          <a:bodyPr wrap="square">
            <a:spAutoFit/>
          </a:bodyPr>
          <a:lstStyle/>
          <a:p>
            <a:pPr algn="l"/>
            <a:r>
              <a:rPr sz="1100" b="0" i="0">
                <a:solidFill>
                  <a:srgbClr val="F0F4F8"/>
                </a:solidFill>
                <a:latin typeface="Calibri"/>
              </a:rPr>
              <a:t>✓  94/100 top candidates have verified production ML deployment experience</a:t>
            </a:r>
          </a:p>
        </p:txBody>
      </p:sp>
      <p:sp>
        <p:nvSpPr>
          <p:cNvPr id="42" name="TextBox 41"/>
          <p:cNvSpPr txBox="1"/>
          <p:nvPr/>
        </p:nvSpPr>
        <p:spPr>
          <a:xfrm>
            <a:off x="6199632" y="3273552"/>
            <a:ext cx="5532120" cy="329184"/>
          </a:xfrm>
          <a:prstGeom prst="rect">
            <a:avLst/>
          </a:prstGeom>
          <a:noFill/>
        </p:spPr>
        <p:txBody>
          <a:bodyPr wrap="square">
            <a:spAutoFit/>
          </a:bodyPr>
          <a:lstStyle/>
          <a:p>
            <a:pPr algn="l"/>
            <a:r>
              <a:rPr sz="1100" b="0" i="0">
                <a:solidFill>
                  <a:srgbClr val="F0F4F8"/>
                </a:solidFill>
                <a:latin typeface="Calibri"/>
              </a:rPr>
              <a:t>✓  16/16 unit + integration tests pass — full test coverage of pipeline</a:t>
            </a:r>
          </a:p>
        </p:txBody>
      </p:sp>
      <p:sp>
        <p:nvSpPr>
          <p:cNvPr id="43" name="TextBox 42"/>
          <p:cNvSpPr txBox="1"/>
          <p:nvPr/>
        </p:nvSpPr>
        <p:spPr>
          <a:xfrm>
            <a:off x="6199632" y="3611880"/>
            <a:ext cx="5532120" cy="329184"/>
          </a:xfrm>
          <a:prstGeom prst="rect">
            <a:avLst/>
          </a:prstGeom>
          <a:noFill/>
        </p:spPr>
        <p:txBody>
          <a:bodyPr wrap="square">
            <a:spAutoFit/>
          </a:bodyPr>
          <a:lstStyle/>
          <a:p>
            <a:pPr algn="l"/>
            <a:r>
              <a:rPr sz="1100" b="0" i="0">
                <a:solidFill>
                  <a:srgbClr val="F0F4F8"/>
                </a:solidFill>
                <a:latin typeface="Calibri"/>
              </a:rPr>
              <a:t>✓  Official Redrob validator: ✅ Submission is valid</a:t>
            </a:r>
          </a:p>
        </p:txBody>
      </p:sp>
      <p:sp>
        <p:nvSpPr>
          <p:cNvPr id="44" name="Rounded Rectangle 43"/>
          <p:cNvSpPr/>
          <p:nvPr/>
        </p:nvSpPr>
        <p:spPr>
          <a:xfrm>
            <a:off x="6035040" y="3931920"/>
            <a:ext cx="5833872" cy="2624328"/>
          </a:xfrm>
          <a:prstGeom prst="roundRect">
            <a:avLst/>
          </a:prstGeom>
          <a:solidFill>
            <a:srgbClr val="122C44"/>
          </a:solidFill>
          <a:ln w="9525">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9632" y="4041648"/>
            <a:ext cx="5532120" cy="411480"/>
          </a:xfrm>
          <a:prstGeom prst="rect">
            <a:avLst/>
          </a:prstGeom>
          <a:noFill/>
        </p:spPr>
        <p:txBody>
          <a:bodyPr wrap="square">
            <a:spAutoFit/>
          </a:bodyPr>
          <a:lstStyle/>
          <a:p>
            <a:pPr algn="l"/>
            <a:r>
              <a:rPr sz="1500" b="1" i="0">
                <a:solidFill>
                  <a:srgbClr val="02C39A"/>
                </a:solidFill>
                <a:latin typeface="Calibri"/>
              </a:rPr>
              <a:t>🚀  Future Scope</a:t>
            </a:r>
          </a:p>
        </p:txBody>
      </p:sp>
      <p:sp>
        <p:nvSpPr>
          <p:cNvPr id="46" name="TextBox 45"/>
          <p:cNvSpPr txBox="1"/>
          <p:nvPr/>
        </p:nvSpPr>
        <p:spPr>
          <a:xfrm>
            <a:off x="6199632" y="4498848"/>
            <a:ext cx="1645920" cy="292608"/>
          </a:xfrm>
          <a:prstGeom prst="rect">
            <a:avLst/>
          </a:prstGeom>
          <a:noFill/>
        </p:spPr>
        <p:txBody>
          <a:bodyPr wrap="square">
            <a:spAutoFit/>
          </a:bodyPr>
          <a:lstStyle/>
          <a:p>
            <a:pPr algn="l"/>
            <a:r>
              <a:rPr sz="1100" b="1" i="0">
                <a:solidFill>
                  <a:srgbClr val="CADCFC"/>
                </a:solidFill>
                <a:latin typeface="Calibri"/>
              </a:rPr>
              <a:t>▸  Dense Embeddings: </a:t>
            </a:r>
          </a:p>
        </p:txBody>
      </p:sp>
      <p:sp>
        <p:nvSpPr>
          <p:cNvPr id="47" name="TextBox 46"/>
          <p:cNvSpPr txBox="1"/>
          <p:nvPr/>
        </p:nvSpPr>
        <p:spPr>
          <a:xfrm>
            <a:off x="7882127" y="4498848"/>
            <a:ext cx="3858768" cy="292608"/>
          </a:xfrm>
          <a:prstGeom prst="rect">
            <a:avLst/>
          </a:prstGeom>
          <a:noFill/>
        </p:spPr>
        <p:txBody>
          <a:bodyPr wrap="square">
            <a:spAutoFit/>
          </a:bodyPr>
          <a:lstStyle/>
          <a:p>
            <a:pPr algn="l"/>
            <a:r>
              <a:rPr sz="1100" b="0" i="0">
                <a:solidFill>
                  <a:srgbClr val="F0F4F8"/>
                </a:solidFill>
                <a:latin typeface="Calibri"/>
              </a:rPr>
              <a:t>BAAI/bge-small-en-v1.5 → true semantic matching, one-line swap</a:t>
            </a:r>
          </a:p>
        </p:txBody>
      </p:sp>
      <p:sp>
        <p:nvSpPr>
          <p:cNvPr id="48" name="TextBox 47"/>
          <p:cNvSpPr txBox="1"/>
          <p:nvPr/>
        </p:nvSpPr>
        <p:spPr>
          <a:xfrm>
            <a:off x="6199632" y="4846320"/>
            <a:ext cx="1645920" cy="292608"/>
          </a:xfrm>
          <a:prstGeom prst="rect">
            <a:avLst/>
          </a:prstGeom>
          <a:noFill/>
        </p:spPr>
        <p:txBody>
          <a:bodyPr wrap="square">
            <a:spAutoFit/>
          </a:bodyPr>
          <a:lstStyle/>
          <a:p>
            <a:pPr algn="l"/>
            <a:r>
              <a:rPr sz="1100" b="1" i="0">
                <a:solidFill>
                  <a:srgbClr val="CADCFC"/>
                </a:solidFill>
                <a:latin typeface="Calibri"/>
              </a:rPr>
              <a:t>▸  Cross-Encoder: </a:t>
            </a:r>
          </a:p>
        </p:txBody>
      </p:sp>
      <p:sp>
        <p:nvSpPr>
          <p:cNvPr id="49" name="TextBox 48"/>
          <p:cNvSpPr txBox="1"/>
          <p:nvPr/>
        </p:nvSpPr>
        <p:spPr>
          <a:xfrm>
            <a:off x="7882127" y="4846320"/>
            <a:ext cx="3858768" cy="292608"/>
          </a:xfrm>
          <a:prstGeom prst="rect">
            <a:avLst/>
          </a:prstGeom>
          <a:noFill/>
        </p:spPr>
        <p:txBody>
          <a:bodyPr wrap="square">
            <a:spAutoFit/>
          </a:bodyPr>
          <a:lstStyle/>
          <a:p>
            <a:pPr algn="l"/>
            <a:r>
              <a:rPr sz="1100" b="0" i="0">
                <a:solidFill>
                  <a:srgbClr val="F0F4F8"/>
                </a:solidFill>
                <a:latin typeface="Calibri"/>
              </a:rPr>
              <a:t>ms-marco-MiniLM-L-6-v2 on top-200 for (JD, candidate) pair scoring</a:t>
            </a:r>
          </a:p>
        </p:txBody>
      </p:sp>
      <p:sp>
        <p:nvSpPr>
          <p:cNvPr id="50" name="TextBox 49"/>
          <p:cNvSpPr txBox="1"/>
          <p:nvPr/>
        </p:nvSpPr>
        <p:spPr>
          <a:xfrm>
            <a:off x="6199632" y="5193792"/>
            <a:ext cx="1645920" cy="292608"/>
          </a:xfrm>
          <a:prstGeom prst="rect">
            <a:avLst/>
          </a:prstGeom>
          <a:noFill/>
        </p:spPr>
        <p:txBody>
          <a:bodyPr wrap="square">
            <a:spAutoFit/>
          </a:bodyPr>
          <a:lstStyle/>
          <a:p>
            <a:pPr algn="l"/>
            <a:r>
              <a:rPr sz="1100" b="1" i="0">
                <a:solidFill>
                  <a:srgbClr val="CADCFC"/>
                </a:solidFill>
                <a:latin typeface="Calibri"/>
              </a:rPr>
              <a:t>▸  Online Learning: </a:t>
            </a:r>
          </a:p>
        </p:txBody>
      </p:sp>
      <p:sp>
        <p:nvSpPr>
          <p:cNvPr id="51" name="TextBox 50"/>
          <p:cNvSpPr txBox="1"/>
          <p:nvPr/>
        </p:nvSpPr>
        <p:spPr>
          <a:xfrm>
            <a:off x="7882127" y="5193792"/>
            <a:ext cx="3858768" cy="292608"/>
          </a:xfrm>
          <a:prstGeom prst="rect">
            <a:avLst/>
          </a:prstGeom>
          <a:noFill/>
        </p:spPr>
        <p:txBody>
          <a:bodyPr wrap="square">
            <a:spAutoFit/>
          </a:bodyPr>
          <a:lstStyle/>
          <a:p>
            <a:pPr algn="l"/>
            <a:r>
              <a:rPr sz="1100" b="0" i="0">
                <a:solidFill>
                  <a:srgbClr val="F0F4F8"/>
                </a:solidFill>
                <a:latin typeface="Calibri"/>
              </a:rPr>
              <a:t>LambdaRank on recruiter click signals to fine-tune weights</a:t>
            </a:r>
          </a:p>
        </p:txBody>
      </p:sp>
      <p:sp>
        <p:nvSpPr>
          <p:cNvPr id="52" name="TextBox 51"/>
          <p:cNvSpPr txBox="1"/>
          <p:nvPr/>
        </p:nvSpPr>
        <p:spPr>
          <a:xfrm>
            <a:off x="6199632" y="5541264"/>
            <a:ext cx="1645920" cy="292608"/>
          </a:xfrm>
          <a:prstGeom prst="rect">
            <a:avLst/>
          </a:prstGeom>
          <a:noFill/>
        </p:spPr>
        <p:txBody>
          <a:bodyPr wrap="square">
            <a:spAutoFit/>
          </a:bodyPr>
          <a:lstStyle/>
          <a:p>
            <a:pPr algn="l"/>
            <a:r>
              <a:rPr sz="1100" b="1" i="0">
                <a:solidFill>
                  <a:srgbClr val="CADCFC"/>
                </a:solidFill>
                <a:latin typeface="Calibri"/>
              </a:rPr>
              <a:t>▸  Local LLM: </a:t>
            </a:r>
          </a:p>
        </p:txBody>
      </p:sp>
      <p:sp>
        <p:nvSpPr>
          <p:cNvPr id="53" name="TextBox 52"/>
          <p:cNvSpPr txBox="1"/>
          <p:nvPr/>
        </p:nvSpPr>
        <p:spPr>
          <a:xfrm>
            <a:off x="7882127" y="5541264"/>
            <a:ext cx="3858768" cy="292608"/>
          </a:xfrm>
          <a:prstGeom prst="rect">
            <a:avLst/>
          </a:prstGeom>
          <a:noFill/>
        </p:spPr>
        <p:txBody>
          <a:bodyPr wrap="square">
            <a:spAutoFit/>
          </a:bodyPr>
          <a:lstStyle/>
          <a:p>
            <a:pPr algn="l"/>
            <a:r>
              <a:rPr sz="1100" b="0" i="0">
                <a:solidFill>
                  <a:srgbClr val="F0F4F8"/>
                </a:solidFill>
                <a:latin typeface="Calibri"/>
              </a:rPr>
              <a:t>Mistral-7B/Llama-3-8B (quantised) for top-50 contextual re-ranking</a:t>
            </a:r>
          </a:p>
        </p:txBody>
      </p:sp>
      <p:sp>
        <p:nvSpPr>
          <p:cNvPr id="54" name="TextBox 53"/>
          <p:cNvSpPr txBox="1"/>
          <p:nvPr/>
        </p:nvSpPr>
        <p:spPr>
          <a:xfrm>
            <a:off x="6199632" y="5888736"/>
            <a:ext cx="1645920" cy="292608"/>
          </a:xfrm>
          <a:prstGeom prst="rect">
            <a:avLst/>
          </a:prstGeom>
          <a:noFill/>
        </p:spPr>
        <p:txBody>
          <a:bodyPr wrap="square">
            <a:spAutoFit/>
          </a:bodyPr>
          <a:lstStyle/>
          <a:p>
            <a:pPr algn="l"/>
            <a:r>
              <a:rPr sz="1100" b="1" i="0">
                <a:solidFill>
                  <a:srgbClr val="CADCFC"/>
                </a:solidFill>
                <a:latin typeface="Calibri"/>
              </a:rPr>
              <a:t>▸  A/B Harness: </a:t>
            </a:r>
          </a:p>
        </p:txBody>
      </p:sp>
      <p:sp>
        <p:nvSpPr>
          <p:cNvPr id="55" name="TextBox 54"/>
          <p:cNvSpPr txBox="1"/>
          <p:nvPr/>
        </p:nvSpPr>
        <p:spPr>
          <a:xfrm>
            <a:off x="7882127" y="5888736"/>
            <a:ext cx="3858768" cy="292608"/>
          </a:xfrm>
          <a:prstGeom prst="rect">
            <a:avLst/>
          </a:prstGeom>
          <a:noFill/>
        </p:spPr>
        <p:txBody>
          <a:bodyPr wrap="square">
            <a:spAutoFit/>
          </a:bodyPr>
          <a:lstStyle/>
          <a:p>
            <a:pPr algn="l"/>
            <a:r>
              <a:rPr sz="1100" b="0" i="0">
                <a:solidFill>
                  <a:srgbClr val="F0F4F8"/>
                </a:solidFill>
                <a:latin typeface="Calibri"/>
              </a:rPr>
              <a:t>Offline NDCG vs actual interview-booked rate correlation tracking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371600"/>
            <a:ext cx="4389120" cy="914400"/>
          </a:xfrm>
          <a:prstGeom prst="rect">
            <a:avLst/>
          </a:prstGeom>
          <a:noFill/>
        </p:spPr>
        <p:txBody>
          <a:bodyPr wrap="square">
            <a:spAutoFit/>
          </a:bodyPr>
          <a:lstStyle/>
          <a:p>
            <a:pPr algn="ctr"/>
            <a:r>
              <a:rPr sz="4600" b="1" i="0">
                <a:solidFill>
                  <a:srgbClr val="FFFFFF"/>
                </a:solidFill>
                <a:latin typeface="Cambria"/>
              </a:rPr>
              <a:t>Thank You</a:t>
            </a:r>
          </a:p>
        </p:txBody>
      </p:sp>
      <p:sp>
        <p:nvSpPr>
          <p:cNvPr id="4" name="TextBox 3"/>
          <p:cNvSpPr txBox="1"/>
          <p:nvPr/>
        </p:nvSpPr>
        <p:spPr>
          <a:xfrm>
            <a:off x="320040" y="2304288"/>
            <a:ext cx="4389120" cy="566928"/>
          </a:xfrm>
          <a:prstGeom prst="rect">
            <a:avLst/>
          </a:prstGeom>
          <a:noFill/>
        </p:spPr>
        <p:txBody>
          <a:bodyPr wrap="square">
            <a:spAutoFit/>
          </a:bodyPr>
          <a:lstStyle/>
          <a:p>
            <a:pPr algn="ctr"/>
            <a:r>
              <a:rPr sz="2600" b="1" i="0">
                <a:solidFill>
                  <a:srgbClr val="F0C040"/>
                </a:solidFill>
                <a:latin typeface="Calibri"/>
              </a:rPr>
              <a:t>Team TechSkills</a:t>
            </a:r>
          </a:p>
        </p:txBody>
      </p:sp>
      <p:sp>
        <p:nvSpPr>
          <p:cNvPr id="5" name="TextBox 4"/>
          <p:cNvSpPr txBox="1"/>
          <p:nvPr/>
        </p:nvSpPr>
        <p:spPr>
          <a:xfrm>
            <a:off x="320040" y="2889504"/>
            <a:ext cx="4389120" cy="411480"/>
          </a:xfrm>
          <a:prstGeom prst="rect">
            <a:avLst/>
          </a:prstGeom>
          <a:noFill/>
        </p:spPr>
        <p:txBody>
          <a:bodyPr wrap="square">
            <a:spAutoFit/>
          </a:bodyPr>
          <a:lstStyle/>
          <a:p>
            <a:pPr algn="ctr"/>
            <a:r>
              <a:rPr sz="1400" b="0" i="0">
                <a:solidFill>
                  <a:srgbClr val="CADCFC"/>
                </a:solidFill>
                <a:latin typeface="Calibri"/>
              </a:rPr>
              <a:t>Nikhil Pratap Singh · Team Leader</a:t>
            </a:r>
          </a:p>
        </p:txBody>
      </p:sp>
      <p:sp>
        <p:nvSpPr>
          <p:cNvPr id="6" name="Rectangle 5"/>
          <p:cNvSpPr/>
          <p:nvPr/>
        </p:nvSpPr>
        <p:spPr>
          <a:xfrm>
            <a:off x="457200" y="3401568"/>
            <a:ext cx="4114800" cy="228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3611880"/>
            <a:ext cx="4251960" cy="365760"/>
          </a:xfrm>
          <a:prstGeom prst="rect">
            <a:avLst/>
          </a:prstGeom>
          <a:noFill/>
        </p:spPr>
        <p:txBody>
          <a:bodyPr wrap="square">
            <a:spAutoFit/>
          </a:bodyPr>
          <a:lstStyle/>
          <a:p>
            <a:pPr algn="l"/>
            <a:r>
              <a:rPr sz="1250" b="0" i="0">
                <a:solidFill>
                  <a:srgbClr val="F0F4F8"/>
                </a:solidFill>
                <a:latin typeface="Calibri"/>
              </a:rPr>
              <a:t>✓  22-second CPU runtime on 100K candidates</a:t>
            </a:r>
          </a:p>
        </p:txBody>
      </p:sp>
      <p:sp>
        <p:nvSpPr>
          <p:cNvPr id="8" name="TextBox 7"/>
          <p:cNvSpPr txBox="1"/>
          <p:nvPr/>
        </p:nvSpPr>
        <p:spPr>
          <a:xfrm>
            <a:off x="384048" y="4050791"/>
            <a:ext cx="4251960" cy="365760"/>
          </a:xfrm>
          <a:prstGeom prst="rect">
            <a:avLst/>
          </a:prstGeom>
          <a:noFill/>
        </p:spPr>
        <p:txBody>
          <a:bodyPr wrap="square">
            <a:spAutoFit/>
          </a:bodyPr>
          <a:lstStyle/>
          <a:p>
            <a:pPr algn="l"/>
            <a:r>
              <a:rPr sz="1250" b="0" i="0">
                <a:solidFill>
                  <a:srgbClr val="F0F4F8"/>
                </a:solidFill>
                <a:latin typeface="Calibri"/>
              </a:rPr>
              <a:t>✓  7-component weighted multi-signal scoring</a:t>
            </a:r>
          </a:p>
        </p:txBody>
      </p:sp>
      <p:sp>
        <p:nvSpPr>
          <p:cNvPr id="9" name="TextBox 8"/>
          <p:cNvSpPr txBox="1"/>
          <p:nvPr/>
        </p:nvSpPr>
        <p:spPr>
          <a:xfrm>
            <a:off x="384048" y="4489704"/>
            <a:ext cx="4251960" cy="365760"/>
          </a:xfrm>
          <a:prstGeom prst="rect">
            <a:avLst/>
          </a:prstGeom>
          <a:noFill/>
        </p:spPr>
        <p:txBody>
          <a:bodyPr wrap="square">
            <a:spAutoFit/>
          </a:bodyPr>
          <a:lstStyle/>
          <a:p>
            <a:pPr algn="l"/>
            <a:r>
              <a:rPr sz="1250" b="0" i="0">
                <a:solidFill>
                  <a:srgbClr val="F0F4F8"/>
                </a:solidFill>
                <a:latin typeface="Calibri"/>
              </a:rPr>
              <a:t>✓  Automatic honeypot detection — 0 in top-100</a:t>
            </a:r>
          </a:p>
        </p:txBody>
      </p:sp>
      <p:sp>
        <p:nvSpPr>
          <p:cNvPr id="10" name="TextBox 9"/>
          <p:cNvSpPr txBox="1"/>
          <p:nvPr/>
        </p:nvSpPr>
        <p:spPr>
          <a:xfrm>
            <a:off x="384048" y="4928616"/>
            <a:ext cx="4251960" cy="365760"/>
          </a:xfrm>
          <a:prstGeom prst="rect">
            <a:avLst/>
          </a:prstGeom>
          <a:noFill/>
        </p:spPr>
        <p:txBody>
          <a:bodyPr wrap="square">
            <a:spAutoFit/>
          </a:bodyPr>
          <a:lstStyle/>
          <a:p>
            <a:pPr algn="l"/>
            <a:r>
              <a:rPr sz="1250" b="0" i="0">
                <a:solidFill>
                  <a:srgbClr val="F0F4F8"/>
                </a:solidFill>
                <a:latin typeface="Calibri"/>
              </a:rPr>
              <a:t>✓  Fact-grounded explainability for every rank</a:t>
            </a:r>
          </a:p>
        </p:txBody>
      </p:sp>
      <p:sp>
        <p:nvSpPr>
          <p:cNvPr id="11" name="TextBox 10"/>
          <p:cNvSpPr txBox="1"/>
          <p:nvPr/>
        </p:nvSpPr>
        <p:spPr>
          <a:xfrm>
            <a:off x="384048" y="5367528"/>
            <a:ext cx="4251960" cy="365760"/>
          </a:xfrm>
          <a:prstGeom prst="rect">
            <a:avLst/>
          </a:prstGeom>
          <a:noFill/>
        </p:spPr>
        <p:txBody>
          <a:bodyPr wrap="square">
            <a:spAutoFit/>
          </a:bodyPr>
          <a:lstStyle/>
          <a:p>
            <a:pPr algn="l"/>
            <a:r>
              <a:rPr sz="1250" b="0" i="0">
                <a:solidFill>
                  <a:srgbClr val="F0F4F8"/>
                </a:solidFill>
                <a:latin typeface="Calibri"/>
              </a:rPr>
              <a:t>✓  FAISS + Sentence-Transformers drop-in ready</a:t>
            </a:r>
          </a:p>
        </p:txBody>
      </p:sp>
      <p:sp>
        <p:nvSpPr>
          <p:cNvPr id="12" name="TextBox 11"/>
          <p:cNvSpPr txBox="1"/>
          <p:nvPr/>
        </p:nvSpPr>
        <p:spPr>
          <a:xfrm>
            <a:off x="384048" y="5806440"/>
            <a:ext cx="4251960" cy="365760"/>
          </a:xfrm>
          <a:prstGeom prst="rect">
            <a:avLst/>
          </a:prstGeom>
          <a:noFill/>
        </p:spPr>
        <p:txBody>
          <a:bodyPr wrap="square">
            <a:spAutoFit/>
          </a:bodyPr>
          <a:lstStyle/>
          <a:p>
            <a:pPr algn="l"/>
            <a:r>
              <a:rPr sz="1250" b="0" i="0">
                <a:solidFill>
                  <a:srgbClr val="F0F4F8"/>
                </a:solidFill>
                <a:latin typeface="Calibri"/>
              </a:rPr>
              <a:t>✓  16/16 tests · Official validator ✅ PASS</a:t>
            </a:r>
          </a:p>
        </p:txBody>
      </p:sp>
      <p:sp>
        <p:nvSpPr>
          <p:cNvPr id="13" name="TextBox 12"/>
          <p:cNvSpPr txBox="1"/>
          <p:nvPr/>
        </p:nvSpPr>
        <p:spPr>
          <a:xfrm>
            <a:off x="5349240" y="1005840"/>
            <a:ext cx="6492240" cy="1508760"/>
          </a:xfrm>
          <a:prstGeom prst="rect">
            <a:avLst/>
          </a:prstGeom>
          <a:noFill/>
        </p:spPr>
        <p:txBody>
          <a:bodyPr wrap="square">
            <a:spAutoFit/>
          </a:bodyPr>
          <a:lstStyle/>
          <a:p>
            <a:pPr algn="l"/>
            <a:r>
              <a:rPr sz="3600" b="1" i="0">
                <a:solidFill>
                  <a:srgbClr val="CADCFC"/>
                </a:solidFill>
                <a:latin typeface="Cambria"/>
              </a:rPr>
              <a:t>Redrob Intelligent
Candidate Ranking System</a:t>
            </a:r>
          </a:p>
        </p:txBody>
      </p:sp>
      <p:sp>
        <p:nvSpPr>
          <p:cNvPr id="14" name="TextBox 13"/>
          <p:cNvSpPr txBox="1"/>
          <p:nvPr/>
        </p:nvSpPr>
        <p:spPr>
          <a:xfrm>
            <a:off x="5349240" y="2633472"/>
            <a:ext cx="6400800" cy="1005840"/>
          </a:xfrm>
          <a:prstGeom prst="rect">
            <a:avLst/>
          </a:prstGeom>
          <a:noFill/>
        </p:spPr>
        <p:txBody>
          <a:bodyPr wrap="square">
            <a:spAutoFit/>
          </a:bodyPr>
          <a:lstStyle/>
          <a:p>
            <a:pPr algn="l"/>
            <a:r>
              <a:rPr sz="1400" b="0" i="0">
                <a:solidFill>
                  <a:srgbClr val="F0F4F8"/>
                </a:solidFill>
                <a:latin typeface="Calibri"/>
              </a:rPr>
              <a:t>A production-grade AI system that finds the true best-fit candidates by understanding career context, behavioral availability, and semantic skill depth — not just keyword overlap.</a:t>
            </a:r>
          </a:p>
        </p:txBody>
      </p:sp>
      <p:sp>
        <p:nvSpPr>
          <p:cNvPr id="15" name="Rounded Rectangle 14"/>
          <p:cNvSpPr/>
          <p:nvPr/>
        </p:nvSpPr>
        <p:spPr>
          <a:xfrm>
            <a:off x="5349240" y="3886200"/>
            <a:ext cx="1993392" cy="146304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79" y="4005072"/>
            <a:ext cx="1810512" cy="594360"/>
          </a:xfrm>
          <a:prstGeom prst="rect">
            <a:avLst/>
          </a:prstGeom>
          <a:noFill/>
        </p:spPr>
        <p:txBody>
          <a:bodyPr wrap="square">
            <a:spAutoFit/>
          </a:bodyPr>
          <a:lstStyle/>
          <a:p>
            <a:pPr algn="ctr"/>
            <a:r>
              <a:rPr sz="2800" b="1" i="0">
                <a:solidFill>
                  <a:srgbClr val="F0C040"/>
                </a:solidFill>
                <a:latin typeface="Calibri"/>
              </a:rPr>
              <a:t>22 sec</a:t>
            </a:r>
          </a:p>
        </p:txBody>
      </p:sp>
      <p:sp>
        <p:nvSpPr>
          <p:cNvPr id="17" name="TextBox 16"/>
          <p:cNvSpPr txBox="1"/>
          <p:nvPr/>
        </p:nvSpPr>
        <p:spPr>
          <a:xfrm>
            <a:off x="5440679" y="4590288"/>
            <a:ext cx="1810512" cy="621792"/>
          </a:xfrm>
          <a:prstGeom prst="rect">
            <a:avLst/>
          </a:prstGeom>
          <a:noFill/>
        </p:spPr>
        <p:txBody>
          <a:bodyPr wrap="square">
            <a:spAutoFit/>
          </a:bodyPr>
          <a:lstStyle/>
          <a:p>
            <a:pPr algn="ctr"/>
            <a:r>
              <a:rPr sz="1100" b="0" i="0">
                <a:solidFill>
                  <a:srgbClr val="8BA8C4"/>
                </a:solidFill>
                <a:latin typeface="Calibri"/>
              </a:rPr>
              <a:t>CPU-Only
Runtime</a:t>
            </a:r>
          </a:p>
        </p:txBody>
      </p:sp>
      <p:sp>
        <p:nvSpPr>
          <p:cNvPr id="18" name="Rounded Rectangle 17"/>
          <p:cNvSpPr/>
          <p:nvPr/>
        </p:nvSpPr>
        <p:spPr>
          <a:xfrm>
            <a:off x="7470648" y="3886200"/>
            <a:ext cx="1993392" cy="146304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62088" y="4005072"/>
            <a:ext cx="1810512" cy="594360"/>
          </a:xfrm>
          <a:prstGeom prst="rect">
            <a:avLst/>
          </a:prstGeom>
          <a:noFill/>
        </p:spPr>
        <p:txBody>
          <a:bodyPr wrap="square">
            <a:spAutoFit/>
          </a:bodyPr>
          <a:lstStyle/>
          <a:p>
            <a:pPr algn="ctr"/>
            <a:r>
              <a:rPr sz="2800" b="1" i="0">
                <a:solidFill>
                  <a:srgbClr val="02C39A"/>
                </a:solidFill>
                <a:latin typeface="Calibri"/>
              </a:rPr>
              <a:t>100K</a:t>
            </a:r>
          </a:p>
        </p:txBody>
      </p:sp>
      <p:sp>
        <p:nvSpPr>
          <p:cNvPr id="20" name="TextBox 19"/>
          <p:cNvSpPr txBox="1"/>
          <p:nvPr/>
        </p:nvSpPr>
        <p:spPr>
          <a:xfrm>
            <a:off x="7562088" y="4590288"/>
            <a:ext cx="1810512" cy="621792"/>
          </a:xfrm>
          <a:prstGeom prst="rect">
            <a:avLst/>
          </a:prstGeom>
          <a:noFill/>
        </p:spPr>
        <p:txBody>
          <a:bodyPr wrap="square">
            <a:spAutoFit/>
          </a:bodyPr>
          <a:lstStyle/>
          <a:p>
            <a:pPr algn="ctr"/>
            <a:r>
              <a:rPr sz="1100" b="0" i="0">
                <a:solidFill>
                  <a:srgbClr val="8BA8C4"/>
                </a:solidFill>
                <a:latin typeface="Calibri"/>
              </a:rPr>
              <a:t>Candidates
Ranked</a:t>
            </a:r>
          </a:p>
        </p:txBody>
      </p:sp>
      <p:sp>
        <p:nvSpPr>
          <p:cNvPr id="21" name="Rounded Rectangle 20"/>
          <p:cNvSpPr/>
          <p:nvPr/>
        </p:nvSpPr>
        <p:spPr>
          <a:xfrm>
            <a:off x="9592055" y="3886200"/>
            <a:ext cx="1993392" cy="1463040"/>
          </a:xfrm>
          <a:prstGeom prst="roundRect">
            <a:avLst/>
          </a:prstGeom>
          <a:solidFill>
            <a:srgbClr val="122C44"/>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83495" y="4005072"/>
            <a:ext cx="1810512" cy="594360"/>
          </a:xfrm>
          <a:prstGeom prst="rect">
            <a:avLst/>
          </a:prstGeom>
          <a:noFill/>
        </p:spPr>
        <p:txBody>
          <a:bodyPr wrap="square">
            <a:spAutoFit/>
          </a:bodyPr>
          <a:lstStyle/>
          <a:p>
            <a:pPr algn="ctr"/>
            <a:r>
              <a:rPr sz="2800" b="1" i="0">
                <a:solidFill>
                  <a:srgbClr val="02C39A"/>
                </a:solidFill>
                <a:latin typeface="Calibri"/>
              </a:rPr>
              <a:t>✅</a:t>
            </a:r>
          </a:p>
        </p:txBody>
      </p:sp>
      <p:sp>
        <p:nvSpPr>
          <p:cNvPr id="23" name="TextBox 22"/>
          <p:cNvSpPr txBox="1"/>
          <p:nvPr/>
        </p:nvSpPr>
        <p:spPr>
          <a:xfrm>
            <a:off x="9683495" y="4590288"/>
            <a:ext cx="1810512" cy="621792"/>
          </a:xfrm>
          <a:prstGeom prst="rect">
            <a:avLst/>
          </a:prstGeom>
          <a:noFill/>
        </p:spPr>
        <p:txBody>
          <a:bodyPr wrap="square">
            <a:spAutoFit/>
          </a:bodyPr>
          <a:lstStyle/>
          <a:p>
            <a:pPr algn="ctr"/>
            <a:r>
              <a:rPr sz="1100" b="0" i="0">
                <a:solidFill>
                  <a:srgbClr val="8BA8C4"/>
                </a:solidFill>
                <a:latin typeface="Calibri"/>
              </a:rPr>
              <a:t>Validator
PASS</a:t>
            </a:r>
          </a:p>
        </p:txBody>
      </p:sp>
      <p:sp>
        <p:nvSpPr>
          <p:cNvPr id="24" name="TextBox 23"/>
          <p:cNvSpPr txBox="1"/>
          <p:nvPr/>
        </p:nvSpPr>
        <p:spPr>
          <a:xfrm>
            <a:off x="5349240" y="6263640"/>
            <a:ext cx="6492240" cy="365760"/>
          </a:xfrm>
          <a:prstGeom prst="rect">
            <a:avLst/>
          </a:prstGeom>
          <a:noFill/>
        </p:spPr>
        <p:txBody>
          <a:bodyPr wrap="square">
            <a:spAutoFit/>
          </a:bodyPr>
          <a:lstStyle/>
          <a:p>
            <a:pPr algn="l"/>
            <a:r>
              <a:rPr sz="1000" b="0" i="1">
                <a:solidFill>
                  <a:srgbClr val="8BA8C4"/>
                </a:solidFill>
                <a:latin typeface="Calibri"/>
              </a:rPr>
              <a:t>Hack2Skill · Redrob AI Challenge 2025 · github.com/YOUR_USERNAME/redrob-ranker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